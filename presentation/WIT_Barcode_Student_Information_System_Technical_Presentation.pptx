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33.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defTabSz="457200">
              <a:tabLst>
                <a:tab pos="0" algn="l"/>
              </a:tabLst>
            </a:pPr>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PH" sz="2000" b="0" u="none" strike="noStrike">
                <a:solidFill>
                  <a:srgbClr val="000000"/>
                </a:solidFill>
                <a:effectLst/>
                <a:uFillTx/>
                <a:latin typeface="Arial"/>
              </a:rPr>
              <a:t>Click to edit the notes format</a:t>
            </a:r>
            <a:endParaRPr lang="en-PH"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PH" sz="1400" b="0" u="none" strike="noStrike">
                <a:solidFill>
                  <a:srgbClr val="000000"/>
                </a:solidFill>
                <a:effectLst/>
                <a:uFillTx/>
                <a:latin typeface="Times New Roman"/>
              </a:rPr>
              <a:t>&lt;header&gt;</a:t>
            </a:r>
            <a:endParaRPr lang="en-PH"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PH" sz="1400" b="0" u="none" strike="noStrike">
                <a:solidFill>
                  <a:srgbClr val="000000"/>
                </a:solidFill>
                <a:effectLst/>
                <a:uFillTx/>
                <a:latin typeface="Times New Roman"/>
              </a:defRPr>
            </a:lvl1pPr>
          </a:lstStyle>
          <a:p>
            <a:pPr indent="0" algn="r">
              <a:buNone/>
            </a:pPr>
            <a:r>
              <a:rPr lang="en-PH" sz="1400" b="0" u="none" strike="noStrike">
                <a:solidFill>
                  <a:srgbClr val="000000"/>
                </a:solidFill>
                <a:effectLst/>
                <a:uFillTx/>
                <a:latin typeface="Times New Roman"/>
              </a:rPr>
              <a:t>&lt;date/time&gt;</a:t>
            </a:r>
            <a:endParaRPr lang="en-PH"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PH" sz="1400" b="0" u="none" strike="noStrike">
                <a:solidFill>
                  <a:srgbClr val="000000"/>
                </a:solidFill>
                <a:effectLst/>
                <a:uFillTx/>
                <a:latin typeface="Times New Roman"/>
              </a:defRPr>
            </a:lvl1pPr>
          </a:lstStyle>
          <a:p>
            <a:pPr indent="0" algn="l">
              <a:buNone/>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PH" sz="1400" b="0" u="none" strike="noStrike">
                <a:solidFill>
                  <a:srgbClr val="000000"/>
                </a:solidFill>
                <a:effectLst/>
                <a:uFillTx/>
                <a:latin typeface="Times New Roman"/>
              </a:defRPr>
            </a:lvl1pPr>
          </a:lstStyle>
          <a:p>
            <a:pPr indent="0" algn="r">
              <a:buNone/>
            </a:pPr>
            <a:fld id="{43C722B3-6B11-42A6-9657-FDB363890392}" type="slidenum">
              <a:rPr lang="en-PH" sz="1400" b="0" u="none" strike="noStrike">
                <a:solidFill>
                  <a:srgbClr val="000000"/>
                </a:solidFill>
                <a:effectLst/>
                <a:uFillTx/>
                <a:latin typeface="Times New Roman"/>
              </a:rPr>
              <a:t>&lt;number&gt;</a:t>
            </a:fld>
            <a:endParaRPr lang="en-PH"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1143000" y="685800"/>
            <a:ext cx="4571280" cy="3428280"/>
          </a:xfrm>
          <a:prstGeom prst="rect">
            <a:avLst/>
          </a:prstGeom>
          <a:ln w="0">
            <a:noFill/>
          </a:ln>
        </p:spPr>
      </p:sp>
      <p:sp>
        <p:nvSpPr>
          <p:cNvPr id="724"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Opening frame: the deck is a technical account of the system in this repository, not a product brochure. The ID cards on the right are 300 DPI renders produced by the application's own IdCardService from a real student record. The four version chips are the runtimes that were actually verified on this machine.</a:t>
            </a:r>
            <a:endParaRPr lang="en-PH" sz="2000" b="0" u="none" strike="noStrike">
              <a:solidFill>
                <a:srgbClr val="000000"/>
              </a:solidFill>
              <a:effectLst/>
              <a:uFillTx/>
              <a:latin typeface="Arial"/>
            </a:endParaRPr>
          </a:p>
        </p:txBody>
      </p:sp>
      <p:sp>
        <p:nvSpPr>
          <p:cNvPr id="725" name="PlaceHolder 3"/>
          <p:cNvSpPr>
            <a:spLocks noGrp="1"/>
          </p:cNvSpPr>
          <p:nvPr>
            <p:ph type="sldNum" idx="37"/>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366138F-0BFD-40E1-878A-5FFEBB789CB8}"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1143000" y="685800"/>
            <a:ext cx="4571280" cy="3428280"/>
          </a:xfrm>
          <a:prstGeom prst="rect">
            <a:avLst/>
          </a:prstGeom>
          <a:ln w="0">
            <a:noFill/>
          </a:ln>
        </p:spPr>
      </p:sp>
      <p:sp>
        <p:nvSpPr>
          <p:cNvPr id="727"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deck moves from why the system exists, through how it is built and what it does, to the data and model evidence, and ends with an unvarnished test and limitations slide. The page ranges are the actual slide numbers in this file.</a:t>
            </a:r>
            <a:endParaRPr lang="en-PH" sz="2000" b="0" u="none" strike="noStrike">
              <a:solidFill>
                <a:srgbClr val="000000"/>
              </a:solidFill>
              <a:effectLst/>
              <a:uFillTx/>
              <a:latin typeface="Arial"/>
            </a:endParaRPr>
          </a:p>
        </p:txBody>
      </p:sp>
      <p:sp>
        <p:nvSpPr>
          <p:cNvPr id="728" name="PlaceHolder 3"/>
          <p:cNvSpPr>
            <a:spLocks noGrp="1"/>
          </p:cNvSpPr>
          <p:nvPr>
            <p:ph type="sldNum" idx="38"/>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121EAA50-7F12-46F8-ACAF-B88DDB3F9850}"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1143000" y="685800"/>
            <a:ext cx="4571280" cy="3428280"/>
          </a:xfrm>
          <a:prstGeom prst="rect">
            <a:avLst/>
          </a:prstGeom>
          <a:ln w="0">
            <a:noFill/>
          </a:ln>
        </p:spPr>
      </p:sp>
      <p:sp>
        <p:nvSpPr>
          <p:cNvPr id="730"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This is the claim the rest of the deck supports: a real, working local system, not a mock-up. The four KPIs are measured. The red panel is deliberately on the summary slide so the audience does not have to wait until the end to hear the limitations.</a:t>
            </a:r>
            <a:endParaRPr lang="en-PH" sz="2000" b="0" u="none" strike="noStrike">
              <a:solidFill>
                <a:srgbClr val="000000"/>
              </a:solidFill>
              <a:effectLst/>
              <a:uFillTx/>
              <a:latin typeface="Arial"/>
            </a:endParaRPr>
          </a:p>
        </p:txBody>
      </p:sp>
      <p:sp>
        <p:nvSpPr>
          <p:cNvPr id="731" name="PlaceHolder 3"/>
          <p:cNvSpPr>
            <a:spLocks noGrp="1"/>
          </p:cNvSpPr>
          <p:nvPr>
            <p:ph type="sldNum" idx="39"/>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A1AED30-DA5D-4407-BA31-9402F8F1B99E}"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1143000" y="685800"/>
            <a:ext cx="4571280" cy="3428280"/>
          </a:xfrm>
          <a:prstGeom prst="rect">
            <a:avLst/>
          </a:prstGeom>
          <a:ln w="0">
            <a:noFill/>
          </a:ln>
        </p:spPr>
      </p:sp>
      <p:sp>
        <p:nvSpPr>
          <p:cNvPr id="733"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problem statement is operational rather than theoretical. Each block ends with the concrete design response that appears later in the deck. The row counts at the bottom come from the live database after the screenshot scan was removed.</a:t>
            </a:r>
            <a:endParaRPr lang="en-PH" sz="2000" b="0" u="none" strike="noStrike">
              <a:solidFill>
                <a:srgbClr val="000000"/>
              </a:solidFill>
              <a:effectLst/>
              <a:uFillTx/>
              <a:latin typeface="Arial"/>
            </a:endParaRPr>
          </a:p>
        </p:txBody>
      </p:sp>
      <p:sp>
        <p:nvSpPr>
          <p:cNvPr id="734" name="PlaceHolder 3"/>
          <p:cNvSpPr>
            <a:spLocks noGrp="1"/>
          </p:cNvSpPr>
          <p:nvPr>
            <p:ph type="sldNum" idx="40"/>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15B3FB0-9334-42FF-A87E-680796A7C1BA}"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1143000" y="685800"/>
            <a:ext cx="4571280" cy="3428280"/>
          </a:xfrm>
          <a:prstGeom prst="rect">
            <a:avLst/>
          </a:prstGeom>
          <a:ln w="0">
            <a:noFill/>
          </a:ln>
        </p:spPr>
      </p:sp>
      <p:sp>
        <p:nvSpPr>
          <p:cNvPr id="736"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status column is intentionally blunt. The two 'Not met' rows and the 'Partial' row are developed on slides 34 and 35. Everything marked Met has a screenshot, a database query or a source file behind it.</a:t>
            </a:r>
            <a:endParaRPr lang="en-PH" sz="2000" b="0" u="none" strike="noStrike">
              <a:solidFill>
                <a:srgbClr val="000000"/>
              </a:solidFill>
              <a:effectLst/>
              <a:uFillTx/>
              <a:latin typeface="Arial"/>
            </a:endParaRPr>
          </a:p>
        </p:txBody>
      </p:sp>
      <p:sp>
        <p:nvSpPr>
          <p:cNvPr id="737" name="PlaceHolder 3"/>
          <p:cNvSpPr>
            <a:spLocks noGrp="1"/>
          </p:cNvSpPr>
          <p:nvPr>
            <p:ph type="sldNum" idx="41"/>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10C648B-18F8-4DC4-A494-7F4C34B27F97}"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1143000" y="685800"/>
            <a:ext cx="4571280" cy="3428280"/>
          </a:xfrm>
          <a:prstGeom prst="rect">
            <a:avLst/>
          </a:prstGeom>
          <a:ln w="0">
            <a:noFill/>
          </a:ln>
        </p:spPr>
      </p:sp>
      <p:sp>
        <p:nvSpPr>
          <p:cNvPr id="739"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module-status chart counts 13 modules: 8 implemented, 3 partial, 2 stubs or unrouted. The partial column names the specific defect rather than saying 'needs work'.</a:t>
            </a:r>
            <a:endParaRPr lang="en-PH" sz="2000" b="0" u="none" strike="noStrike">
              <a:solidFill>
                <a:srgbClr val="000000"/>
              </a:solidFill>
              <a:effectLst/>
              <a:uFillTx/>
              <a:latin typeface="Arial"/>
            </a:endParaRPr>
          </a:p>
        </p:txBody>
      </p:sp>
      <p:sp>
        <p:nvSpPr>
          <p:cNvPr id="740" name="PlaceHolder 3"/>
          <p:cNvSpPr>
            <a:spLocks noGrp="1"/>
          </p:cNvSpPr>
          <p:nvPr>
            <p:ph type="sldNum" idx="42"/>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4CE8A63A-1461-48E8-A435-AA11FF5C08AF}"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1143000" y="685800"/>
            <a:ext cx="4571280" cy="3428280"/>
          </a:xfrm>
          <a:prstGeom prst="rect">
            <a:avLst/>
          </a:prstGeom>
          <a:ln w="0">
            <a:noFill/>
          </a:ln>
        </p:spPr>
      </p:sp>
      <p:sp>
        <p:nvSpPr>
          <p:cNvPr id="742"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This boundary explains several later limitations: there is no session, no role check and no remote audit surface because there is no server. It also explains the deployment story: copy the repository, a Python environment and a MySQL instance onto one machine.</a:t>
            </a:r>
            <a:endParaRPr lang="en-PH" sz="2000" b="0" u="none" strike="noStrike">
              <a:solidFill>
                <a:srgbClr val="000000"/>
              </a:solidFill>
              <a:effectLst/>
              <a:uFillTx/>
              <a:latin typeface="Arial"/>
            </a:endParaRPr>
          </a:p>
        </p:txBody>
      </p:sp>
      <p:sp>
        <p:nvSpPr>
          <p:cNvPr id="743" name="PlaceHolder 3"/>
          <p:cNvSpPr>
            <a:spLocks noGrp="1"/>
          </p:cNvSpPr>
          <p:nvPr>
            <p:ph type="sldNum" idx="43"/>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30DB61B-E6A4-468D-9496-E78F2122050C}"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1143000" y="685800"/>
            <a:ext cx="4571280" cy="3428280"/>
          </a:xfrm>
          <a:prstGeom prst="rect">
            <a:avLst/>
          </a:prstGeom>
          <a:ln w="0">
            <a:noFill/>
          </a:ln>
        </p:spPr>
      </p:sp>
      <p:sp>
        <p:nvSpPr>
          <p:cNvPr id="745"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unusual item is Python 3.14.4, which is newer than most Qt tutorials assume; the environment still imports and runs cleanly. MySQL 8.4.11 is the live server. The vision stack is the heaviest dependency and is the reason the deck reports measured latency rather than a guess.</a:t>
            </a:r>
            <a:endParaRPr lang="en-PH" sz="2000" b="0" u="none" strike="noStrike">
              <a:solidFill>
                <a:srgbClr val="000000"/>
              </a:solidFill>
              <a:effectLst/>
              <a:uFillTx/>
              <a:latin typeface="Arial"/>
            </a:endParaRPr>
          </a:p>
        </p:txBody>
      </p:sp>
      <p:sp>
        <p:nvSpPr>
          <p:cNvPr id="746" name="PlaceHolder 3"/>
          <p:cNvSpPr>
            <a:spLocks noGrp="1"/>
          </p:cNvSpPr>
          <p:nvPr>
            <p:ph type="sldNum" idx="44"/>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CD1A7B9-6C37-4E4B-9833-D15D47BF17C0}"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1143000" y="685800"/>
            <a:ext cx="4571280" cy="3428280"/>
          </a:xfrm>
          <a:prstGeom prst="rect">
            <a:avLst/>
          </a:prstGeom>
          <a:ln w="0">
            <a:noFill/>
          </a:ln>
        </p:spPr>
      </p:sp>
      <p:sp>
        <p:nvSpPr>
          <p:cNvPr id="748"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important architectural claim is that there is no hidden service layer. The UI calls services directly; services use repositories and the connection pool. That makes the system easy to run but means the UI thread discipline and error handling live in the page code, which is where two of the three known defects are found.</a:t>
            </a:r>
            <a:endParaRPr lang="en-PH" sz="2000" b="0" u="none" strike="noStrike">
              <a:solidFill>
                <a:srgbClr val="000000"/>
              </a:solidFill>
              <a:effectLst/>
              <a:uFillTx/>
              <a:latin typeface="Arial"/>
            </a:endParaRPr>
          </a:p>
        </p:txBody>
      </p:sp>
      <p:sp>
        <p:nvSpPr>
          <p:cNvPr id="749" name="PlaceHolder 3"/>
          <p:cNvSpPr>
            <a:spLocks noGrp="1"/>
          </p:cNvSpPr>
          <p:nvPr>
            <p:ph type="sldNum" idx="45"/>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B863890-7AB7-4F79-B21B-6CE96D0DC385}"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1143000" y="685800"/>
            <a:ext cx="4571280" cy="3428280"/>
          </a:xfrm>
          <a:prstGeom prst="rect">
            <a:avLst/>
          </a:prstGeom>
          <a:ln w="0">
            <a:noFill/>
          </a:ln>
        </p:spPr>
      </p:sp>
      <p:sp>
        <p:nvSpPr>
          <p:cNvPr id="751"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This table is the ground truth for module claims. 'Working' means the primary workflow was exercised for the screenshots. 'Partial' means part of the screen functions and part does not. 'Unrouted' is not the same as missing: the generator page is 1,402 lines of implemented UI that a user cannot reach.</a:t>
            </a:r>
            <a:endParaRPr lang="en-PH" sz="2000" b="0" u="none" strike="noStrike">
              <a:solidFill>
                <a:srgbClr val="000000"/>
              </a:solidFill>
              <a:effectLst/>
              <a:uFillTx/>
              <a:latin typeface="Arial"/>
            </a:endParaRPr>
          </a:p>
        </p:txBody>
      </p:sp>
      <p:sp>
        <p:nvSpPr>
          <p:cNvPr id="752" name="PlaceHolder 3"/>
          <p:cNvSpPr>
            <a:spLocks noGrp="1"/>
          </p:cNvSpPr>
          <p:nvPr>
            <p:ph type="sldNum" idx="46"/>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E812E1F-043E-46C7-9930-6FD6DDDF8CE5}"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1143000" y="685800"/>
            <a:ext cx="4571280" cy="3428280"/>
          </a:xfrm>
          <a:prstGeom prst="rect">
            <a:avLst/>
          </a:prstGeom>
          <a:ln w="0">
            <a:noFill/>
          </a:ln>
        </p:spPr>
      </p:sp>
      <p:sp>
        <p:nvSpPr>
          <p:cNvPr id="754"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dashboard is the first thing a user sees, and it is also one of the two visible defects. The KPI strip itself is correct and reads the same student rows the Students page uses. The crop is honest: the deck does not hide the failure, it isolates the working part and shows the failure later.</a:t>
            </a:r>
            <a:endParaRPr lang="en-PH" sz="2000" b="0" u="none" strike="noStrike">
              <a:solidFill>
                <a:srgbClr val="000000"/>
              </a:solidFill>
              <a:effectLst/>
              <a:uFillTx/>
              <a:latin typeface="Arial"/>
            </a:endParaRPr>
          </a:p>
        </p:txBody>
      </p:sp>
      <p:sp>
        <p:nvSpPr>
          <p:cNvPr id="755" name="PlaceHolder 3"/>
          <p:cNvSpPr>
            <a:spLocks noGrp="1"/>
          </p:cNvSpPr>
          <p:nvPr>
            <p:ph type="sldNum" idx="47"/>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C7AB4F4-3872-4481-8673-F85A9A352DCC}"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1143000" y="685800"/>
            <a:ext cx="4571280" cy="3428280"/>
          </a:xfrm>
          <a:prstGeom prst="rect">
            <a:avLst/>
          </a:prstGeom>
          <a:ln w="0">
            <a:noFill/>
          </a:ln>
        </p:spPr>
      </p:sp>
      <p:sp>
        <p:nvSpPr>
          <p:cNvPr id="757"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Student records are the join point for every other module: enrollment, assessment, barcode and ID card all reference students.id. The directory search is also used by the scan result dialog, so a failure here would propagate widely.</a:t>
            </a:r>
            <a:endParaRPr lang="en-PH" sz="2000" b="0" u="none" strike="noStrike">
              <a:solidFill>
                <a:srgbClr val="000000"/>
              </a:solidFill>
              <a:effectLst/>
              <a:uFillTx/>
              <a:latin typeface="Arial"/>
            </a:endParaRPr>
          </a:p>
        </p:txBody>
      </p:sp>
      <p:sp>
        <p:nvSpPr>
          <p:cNvPr id="758" name="PlaceHolder 3"/>
          <p:cNvSpPr>
            <a:spLocks noGrp="1"/>
          </p:cNvSpPr>
          <p:nvPr>
            <p:ph type="sldNum" idx="48"/>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6ACD6BE-0BC2-4CC8-9FA7-283E3F4975FB}"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1143000" y="685800"/>
            <a:ext cx="4571280" cy="3428280"/>
          </a:xfrm>
          <a:prstGeom prst="rect">
            <a:avLst/>
          </a:prstGeom>
          <a:ln w="0">
            <a:noFill/>
          </a:ln>
        </p:spPr>
      </p:sp>
      <p:sp>
        <p:nvSpPr>
          <p:cNvPr id="760"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barcode images shown are the project's own generated assets. The filename mismatch is a trap: barcode_1.png belongs to student 2 and barcode_2.png to student 1. Nothing in the application keys on filename; it keys on the decoded payload. The README/code mismatch is a documentation defect, not a runtime one.</a:t>
            </a:r>
            <a:endParaRPr lang="en-PH" sz="2000" b="0" u="none" strike="noStrike">
              <a:solidFill>
                <a:srgbClr val="000000"/>
              </a:solidFill>
              <a:effectLst/>
              <a:uFillTx/>
              <a:latin typeface="Arial"/>
            </a:endParaRPr>
          </a:p>
        </p:txBody>
      </p:sp>
      <p:sp>
        <p:nvSpPr>
          <p:cNvPr id="761" name="PlaceHolder 3"/>
          <p:cNvSpPr>
            <a:spLocks noGrp="1"/>
          </p:cNvSpPr>
          <p:nvPr>
            <p:ph type="sldNum" idx="49"/>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9D29EDDE-0C99-4FF2-A47C-3E798E214F6B}"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1143000" y="685800"/>
            <a:ext cx="4571280" cy="3428280"/>
          </a:xfrm>
          <a:prstGeom prst="rect">
            <a:avLst/>
          </a:prstGeom>
          <a:ln w="0">
            <a:noFill/>
          </a:ln>
        </p:spPr>
      </p:sp>
      <p:sp>
        <p:nvSpPr>
          <p:cNvPr id="763"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scanner is the centre of the project. The idle frame shows the operator affordances: camera selection, model status, and a history table. The verified frame is the proof that detection, decoding and database lookup agree on the same person. The database was restored after capture, so the deck's scan counts are the pre-capture counts.</a:t>
            </a:r>
            <a:endParaRPr lang="en-PH" sz="2000" b="0" u="none" strike="noStrike">
              <a:solidFill>
                <a:srgbClr val="000000"/>
              </a:solidFill>
              <a:effectLst/>
              <a:uFillTx/>
              <a:latin typeface="Arial"/>
            </a:endParaRPr>
          </a:p>
        </p:txBody>
      </p:sp>
      <p:sp>
        <p:nvSpPr>
          <p:cNvPr id="764" name="PlaceHolder 3"/>
          <p:cNvSpPr>
            <a:spLocks noGrp="1"/>
          </p:cNvSpPr>
          <p:nvPr>
            <p:ph type="sldNum" idx="50"/>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5C47995D-620B-4239-9D9B-FAAD7A017BB6}"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1143000" y="685800"/>
            <a:ext cx="4571280" cy="3428280"/>
          </a:xfrm>
          <a:prstGeom prst="rect">
            <a:avLst/>
          </a:prstGeom>
          <a:ln w="0">
            <a:noFill/>
          </a:ln>
        </p:spPr>
      </p:sp>
      <p:sp>
        <p:nvSpPr>
          <p:cNvPr id="766"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separation is the most important design decision in the scanner. It is what allows the UI to say 'barcode found but not decodable' instead of 'unknown student', and what makes the pipeline testable without a camera.</a:t>
            </a:r>
            <a:endParaRPr lang="en-PH" sz="2000" b="0" u="none" strike="noStrike">
              <a:solidFill>
                <a:srgbClr val="000000"/>
              </a:solidFill>
              <a:effectLst/>
              <a:uFillTx/>
              <a:latin typeface="Arial"/>
            </a:endParaRPr>
          </a:p>
        </p:txBody>
      </p:sp>
      <p:sp>
        <p:nvSpPr>
          <p:cNvPr id="767" name="PlaceHolder 3"/>
          <p:cNvSpPr>
            <a:spLocks noGrp="1"/>
          </p:cNvSpPr>
          <p:nvPr>
            <p:ph type="sldNum" idx="51"/>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12E4D23-50A4-4B1B-83C2-ABC834BC4DF8}"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1143000" y="685800"/>
            <a:ext cx="4571280" cy="3428280"/>
          </a:xfrm>
          <a:prstGeom prst="rect">
            <a:avLst/>
          </a:prstGeom>
          <a:ln w="0">
            <a:noFill/>
          </a:ln>
        </p:spPr>
      </p:sp>
      <p:sp>
        <p:nvSpPr>
          <p:cNvPr id="769"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YOLOv8n was chosen for latency and size, not because it is the most accurate option. The one-class problem is easy enough that a nano model reaches a high validation mAP. The 0.75 confidence threshold is a runtime choice recorded in .env after measurement; the code default is 0.5.</a:t>
            </a:r>
            <a:endParaRPr lang="en-PH" sz="2000" b="0" u="none" strike="noStrike">
              <a:solidFill>
                <a:srgbClr val="000000"/>
              </a:solidFill>
              <a:effectLst/>
              <a:uFillTx/>
              <a:latin typeface="Arial"/>
            </a:endParaRPr>
          </a:p>
        </p:txBody>
      </p:sp>
      <p:sp>
        <p:nvSpPr>
          <p:cNvPr id="770" name="PlaceHolder 3"/>
          <p:cNvSpPr>
            <a:spLocks noGrp="1"/>
          </p:cNvSpPr>
          <p:nvPr>
            <p:ph type="sldNum" idx="52"/>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E9E29E4-B462-4BE9-BBD3-6DCBDBA8C4E7}"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1143000" y="685800"/>
            <a:ext cx="4571280" cy="3428280"/>
          </a:xfrm>
          <a:prstGeom prst="rect">
            <a:avLst/>
          </a:prstGeom>
          <a:ln w="0">
            <a:noFill/>
          </a:ln>
        </p:spPr>
      </p:sp>
      <p:sp>
        <p:nvSpPr>
          <p:cNvPr id="772"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This is not a synthetic demo: the three coordinates and confidences were printed by the active model on the three card assets. The tall image on the left is the model's own annotated output. Notice that detection succeeds even on the smallest card, which is the case that used to fail before the decoder was given upscaling attempts.</a:t>
            </a:r>
            <a:endParaRPr lang="en-PH" sz="2000" b="0" u="none" strike="noStrike">
              <a:solidFill>
                <a:srgbClr val="000000"/>
              </a:solidFill>
              <a:effectLst/>
              <a:uFillTx/>
              <a:latin typeface="Arial"/>
            </a:endParaRPr>
          </a:p>
        </p:txBody>
      </p:sp>
      <p:sp>
        <p:nvSpPr>
          <p:cNvPr id="773" name="PlaceHolder 3"/>
          <p:cNvSpPr>
            <a:spLocks noGrp="1"/>
          </p:cNvSpPr>
          <p:nvPr>
            <p:ph type="sldNum" idx="53"/>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EA84AD3-30E4-44AA-A7B8-B28BBA981852}"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1143000" y="685800"/>
            <a:ext cx="4571280" cy="3428280"/>
          </a:xfrm>
          <a:prstGeom prst="rect">
            <a:avLst/>
          </a:prstGeom>
          <a:ln w="0">
            <a:noFill/>
          </a:ln>
        </p:spPr>
      </p:sp>
      <p:sp>
        <p:nvSpPr>
          <p:cNvPr id="775"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decoder is deliberately bounded: six attempts per crop, not an unbounded search over every filter combination. That keeps a frame from stalling on a hopeless crop. The ambiguity rule is a safety property: if two different payloads are read from the same crop, the system refuses to choose.</a:t>
            </a:r>
            <a:endParaRPr lang="en-PH" sz="2000" b="0" u="none" strike="noStrike">
              <a:solidFill>
                <a:srgbClr val="000000"/>
              </a:solidFill>
              <a:effectLst/>
              <a:uFillTx/>
              <a:latin typeface="Arial"/>
            </a:endParaRPr>
          </a:p>
        </p:txBody>
      </p:sp>
      <p:sp>
        <p:nvSpPr>
          <p:cNvPr id="776" name="PlaceHolder 3"/>
          <p:cNvSpPr>
            <a:spLocks noGrp="1"/>
          </p:cNvSpPr>
          <p:nvPr>
            <p:ph type="sldNum" idx="54"/>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B94984A0-FD6A-442C-8467-EF3BF7781EEC}"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1143000" y="685800"/>
            <a:ext cx="4571280" cy="3428280"/>
          </a:xfrm>
          <a:prstGeom prst="rect">
            <a:avLst/>
          </a:prstGeom>
          <a:ln w="0">
            <a:noFill/>
          </a:ln>
        </p:spPr>
      </p:sp>
      <p:sp>
        <p:nvSpPr>
          <p:cNvPr id="778"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unknown state is important because it proves the system does not treat a decode as identity. The 42/24 split in the original evidence became 41/24 after the screenshot row was removed. The modal on the right is the structured result view; it is a separate dialog from the student panel.</a:t>
            </a:r>
            <a:endParaRPr lang="en-PH" sz="2000" b="0" u="none" strike="noStrike">
              <a:solidFill>
                <a:srgbClr val="000000"/>
              </a:solidFill>
              <a:effectLst/>
              <a:uFillTx/>
              <a:latin typeface="Arial"/>
            </a:endParaRPr>
          </a:p>
        </p:txBody>
      </p:sp>
      <p:sp>
        <p:nvSpPr>
          <p:cNvPr id="779" name="PlaceHolder 3"/>
          <p:cNvSpPr>
            <a:spLocks noGrp="1"/>
          </p:cNvSpPr>
          <p:nvPr>
            <p:ph type="sldNum" idx="55"/>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BA44B8E7-C3DB-4E6B-9E6C-7D13CE36B36C}"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1143000" y="685800"/>
            <a:ext cx="4571280" cy="3428280"/>
          </a:xfrm>
          <a:prstGeom prst="rect">
            <a:avLst/>
          </a:prstGeom>
          <a:ln w="0">
            <a:noFill/>
          </a:ln>
        </p:spPr>
      </p:sp>
      <p:sp>
        <p:nvSpPr>
          <p:cNvPr id="781"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flowchart is the best single answer to 'what happens when it goes wrong'. Camera missing, box outside the gate, decode failure, unknown payload, two cards in frame, duplicate frame and database outage each have a distinct path and message.</a:t>
            </a:r>
            <a:endParaRPr lang="en-PH" sz="2000" b="0" u="none" strike="noStrike">
              <a:solidFill>
                <a:srgbClr val="000000"/>
              </a:solidFill>
              <a:effectLst/>
              <a:uFillTx/>
              <a:latin typeface="Arial"/>
            </a:endParaRPr>
          </a:p>
        </p:txBody>
      </p:sp>
      <p:sp>
        <p:nvSpPr>
          <p:cNvPr id="782" name="PlaceHolder 3"/>
          <p:cNvSpPr>
            <a:spLocks noGrp="1"/>
          </p:cNvSpPr>
          <p:nvPr>
            <p:ph type="sldNum" idx="56"/>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E4C42AD-1826-432F-B844-10979FF7260E}"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1143000" y="685800"/>
            <a:ext cx="4571280" cy="3428280"/>
          </a:xfrm>
          <a:prstGeom prst="rect">
            <a:avLst/>
          </a:prstGeom>
          <a:ln w="0">
            <a:noFill/>
          </a:ln>
        </p:spPr>
      </p:sp>
      <p:sp>
        <p:nvSpPr>
          <p:cNvPr id="784"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Enrollment is where the barcode identity becomes an academic record. The page reads enrollments by student and renders one tab per enrollment. The counts on the right come from the live tables: three enrollments, twenty-one subject lines.</a:t>
            </a:r>
            <a:endParaRPr lang="en-PH" sz="2000" b="0" u="none" strike="noStrike">
              <a:solidFill>
                <a:srgbClr val="000000"/>
              </a:solidFill>
              <a:effectLst/>
              <a:uFillTx/>
              <a:latin typeface="Arial"/>
            </a:endParaRPr>
          </a:p>
        </p:txBody>
      </p:sp>
      <p:sp>
        <p:nvSpPr>
          <p:cNvPr id="785" name="PlaceHolder 3"/>
          <p:cNvSpPr>
            <a:spLocks noGrp="1"/>
          </p:cNvSpPr>
          <p:nvPr>
            <p:ph type="sldNum" idx="57"/>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1475858-72DC-491C-9518-D0E94667A9F6}"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1143000" y="685800"/>
            <a:ext cx="4571280" cy="3428280"/>
          </a:xfrm>
          <a:prstGeom prst="rect">
            <a:avLst/>
          </a:prstGeom>
          <a:ln w="0">
            <a:noFill/>
          </a:ln>
        </p:spPr>
      </p:sp>
      <p:sp>
        <p:nvSpPr>
          <p:cNvPr id="787"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financial module is complete enough to create an assessment, show line items and schedules, and record a payment. What the demo data does not contain is an actual payment, so the paid and balance columns are honest zeros on the outstanding side. That is a data limitation, not a code claim.</a:t>
            </a:r>
            <a:endParaRPr lang="en-PH" sz="2000" b="0" u="none" strike="noStrike">
              <a:solidFill>
                <a:srgbClr val="000000"/>
              </a:solidFill>
              <a:effectLst/>
              <a:uFillTx/>
              <a:latin typeface="Arial"/>
            </a:endParaRPr>
          </a:p>
        </p:txBody>
      </p:sp>
      <p:sp>
        <p:nvSpPr>
          <p:cNvPr id="788" name="PlaceHolder 3"/>
          <p:cNvSpPr>
            <a:spLocks noGrp="1"/>
          </p:cNvSpPr>
          <p:nvPr>
            <p:ph type="sldNum" idx="58"/>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9DB38872-3223-4CFE-9B04-37B0FB421256}"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1143000" y="685800"/>
            <a:ext cx="4571280" cy="3428280"/>
          </a:xfrm>
          <a:prstGeom prst="rect">
            <a:avLst/>
          </a:prstGeom>
          <a:ln w="0">
            <a:noFill/>
          </a:ln>
        </p:spPr>
      </p:sp>
      <p:sp>
        <p:nvSpPr>
          <p:cNvPr id="790"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COM is a good example of the project's 'one source of truth' goal: the page and the PDF share the same service calls. The saved artifact in reports/ proves the PDF path runs. The on-screen preview is the clearest evidence that the layout is generated, not pasted from a template.</a:t>
            </a:r>
            <a:endParaRPr lang="en-PH" sz="2000" b="0" u="none" strike="noStrike">
              <a:solidFill>
                <a:srgbClr val="000000"/>
              </a:solidFill>
              <a:effectLst/>
              <a:uFillTx/>
              <a:latin typeface="Arial"/>
            </a:endParaRPr>
          </a:p>
        </p:txBody>
      </p:sp>
      <p:sp>
        <p:nvSpPr>
          <p:cNvPr id="791" name="PlaceHolder 3"/>
          <p:cNvSpPr>
            <a:spLocks noGrp="1"/>
          </p:cNvSpPr>
          <p:nvPr>
            <p:ph type="sldNum" idx="59"/>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0EB00F2-31D0-46EC-B271-455DAE4BB12F}"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1143000" y="685800"/>
            <a:ext cx="4571280" cy="3428280"/>
          </a:xfrm>
          <a:prstGeom prst="rect">
            <a:avLst/>
          </a:prstGeom>
          <a:ln w="0">
            <a:noFill/>
          </a:ln>
        </p:spPr>
      </p:sp>
      <p:sp>
        <p:nvSpPr>
          <p:cNvPr id="793"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reports page is a thin UI over ReportService. The important engineering detail is that a build runs off the GUI thread and that a failure is reported plainly. The catalogue is also the best evidence that the document layer is not a mock-up.</a:t>
            </a:r>
            <a:endParaRPr lang="en-PH" sz="2000" b="0" u="none" strike="noStrike">
              <a:solidFill>
                <a:srgbClr val="000000"/>
              </a:solidFill>
              <a:effectLst/>
              <a:uFillTx/>
              <a:latin typeface="Arial"/>
            </a:endParaRPr>
          </a:p>
        </p:txBody>
      </p:sp>
      <p:sp>
        <p:nvSpPr>
          <p:cNvPr id="794" name="PlaceHolder 3"/>
          <p:cNvSpPr>
            <a:spLocks noGrp="1"/>
          </p:cNvSpPr>
          <p:nvPr>
            <p:ph type="sldNum" idx="60"/>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5677B87B-0D6A-4CDA-8036-29FCD5C0910E}"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1143000" y="685800"/>
            <a:ext cx="4571280" cy="3428280"/>
          </a:xfrm>
          <a:prstGeom prst="rect">
            <a:avLst/>
          </a:prstGeom>
          <a:ln w="0">
            <a:noFill/>
          </a:ln>
        </p:spPr>
      </p:sp>
      <p:sp>
        <p:nvSpPr>
          <p:cNvPr id="796"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schema is substantial for a desktop project, but the live data is a demonstration set. Reporting both is important: 19 tables and 33 FKs describe capability; 3 students and 65 scans describe the actual evidence base. The 188-row total counts all 19 tables, including 42 reference/settings rows that are not student records. Empty registry tables are why the Training Center shows zeros.</a:t>
            </a:r>
            <a:endParaRPr lang="en-PH" sz="2000" b="0" u="none" strike="noStrike">
              <a:solidFill>
                <a:srgbClr val="000000"/>
              </a:solidFill>
              <a:effectLst/>
              <a:uFillTx/>
              <a:latin typeface="Arial"/>
            </a:endParaRPr>
          </a:p>
        </p:txBody>
      </p:sp>
      <p:sp>
        <p:nvSpPr>
          <p:cNvPr id="797" name="PlaceHolder 3"/>
          <p:cNvSpPr>
            <a:spLocks noGrp="1"/>
          </p:cNvSpPr>
          <p:nvPr>
            <p:ph type="sldNum" idx="61"/>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413883B1-B448-416B-8A84-FE23BDBBF514}"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1143000" y="685800"/>
            <a:ext cx="4571280" cy="3428280"/>
          </a:xfrm>
          <a:prstGeom prst="rect">
            <a:avLst/>
          </a:prstGeom>
          <a:ln w="0">
            <a:noFill/>
          </a:ln>
        </p:spPr>
      </p:sp>
      <p:sp>
        <p:nvSpPr>
          <p:cNvPr id="799"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ERD is dense on purpose: it is the reference diagram, not a teaching slide. The two junction tables are enrollment_subjects and assessment_items. The users table is the intended audit anchor, but there are no user rows yet, which is why created_by / updated_by are unused in the demo data.</a:t>
            </a:r>
            <a:endParaRPr lang="en-PH" sz="2000" b="0" u="none" strike="noStrike">
              <a:solidFill>
                <a:srgbClr val="000000"/>
              </a:solidFill>
              <a:effectLst/>
              <a:uFillTx/>
              <a:latin typeface="Arial"/>
            </a:endParaRPr>
          </a:p>
        </p:txBody>
      </p:sp>
      <p:sp>
        <p:nvSpPr>
          <p:cNvPr id="800" name="PlaceHolder 3"/>
          <p:cNvSpPr>
            <a:spLocks noGrp="1"/>
          </p:cNvSpPr>
          <p:nvPr>
            <p:ph type="sldNum" idx="62"/>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993FD853-AD7C-411D-AC55-A7362E0F8DF2}"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1143000" y="685800"/>
            <a:ext cx="4571280" cy="3428280"/>
          </a:xfrm>
          <a:prstGeom prst="rect">
            <a:avLst/>
          </a:prstGeom>
          <a:ln w="0">
            <a:noFill/>
          </a:ln>
        </p:spPr>
      </p:sp>
      <p:sp>
        <p:nvSpPr>
          <p:cNvPr id="802"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This diagram connects the UI screens to the tables: student management to D1, enrollment to D2, scanning to D3, and assessment/documents to D4. The camera and model store are inputs to the scan process, and the generated outputs are files, not database rows.</a:t>
            </a:r>
            <a:endParaRPr lang="en-PH" sz="2000" b="0" u="none" strike="noStrike">
              <a:solidFill>
                <a:srgbClr val="000000"/>
              </a:solidFill>
              <a:effectLst/>
              <a:uFillTx/>
              <a:latin typeface="Arial"/>
            </a:endParaRPr>
          </a:p>
        </p:txBody>
      </p:sp>
      <p:sp>
        <p:nvSpPr>
          <p:cNvPr id="803" name="PlaceHolder 3"/>
          <p:cNvSpPr>
            <a:spLocks noGrp="1"/>
          </p:cNvSpPr>
          <p:nvPr>
            <p:ph type="sldNum" idx="63"/>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1A5E76AB-AA86-4F2F-A816-B945E6D43E52}"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1143000" y="685800"/>
            <a:ext cx="4571280" cy="3428280"/>
          </a:xfrm>
          <a:prstGeom prst="rect">
            <a:avLst/>
          </a:prstGeom>
          <a:ln w="0">
            <a:noFill/>
          </a:ln>
        </p:spPr>
      </p:sp>
      <p:sp>
        <p:nvSpPr>
          <p:cNvPr id="805"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eight variants are generations of the same problem, not eight independent datasets. The count that matters for the active model is barcode_distance: 828 images, 812 boxes and 16 negatives, all at one resolution. The larger distance_all pool adds a held-out test split that the active training did not use.</a:t>
            </a:r>
            <a:endParaRPr lang="en-PH" sz="2000" b="0" u="none" strike="noStrike">
              <a:solidFill>
                <a:srgbClr val="000000"/>
              </a:solidFill>
              <a:effectLst/>
              <a:uFillTx/>
              <a:latin typeface="Arial"/>
            </a:endParaRPr>
          </a:p>
        </p:txBody>
      </p:sp>
      <p:sp>
        <p:nvSpPr>
          <p:cNvPr id="806" name="PlaceHolder 3"/>
          <p:cNvSpPr>
            <a:spLocks noGrp="1"/>
          </p:cNvSpPr>
          <p:nvPr>
            <p:ph type="sldNum" idx="64"/>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6C2975D-F9C2-4D64-B12F-1EAF74C228EA}"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sldImg"/>
          </p:nvPr>
        </p:nvSpPr>
        <p:spPr>
          <a:xfrm>
            <a:off x="1143000" y="685800"/>
            <a:ext cx="4571280" cy="3428280"/>
          </a:xfrm>
          <a:prstGeom prst="rect">
            <a:avLst/>
          </a:prstGeom>
          <a:ln w="0">
            <a:noFill/>
          </a:ln>
        </p:spPr>
      </p:sp>
      <p:sp>
        <p:nvSpPr>
          <p:cNvPr id="808"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clean-label result is genuine: every image has a label file and every box is well formed. The red panel is the part a model card would normally omit. A validation-only selection is not a held-out test, and the distance dataset is built from many near-identical frames, so its image count overstates independent evidence.</a:t>
            </a:r>
            <a:endParaRPr lang="en-PH" sz="2000" b="0" u="none" strike="noStrike">
              <a:solidFill>
                <a:srgbClr val="000000"/>
              </a:solidFill>
              <a:effectLst/>
              <a:uFillTx/>
              <a:latin typeface="Arial"/>
            </a:endParaRPr>
          </a:p>
        </p:txBody>
      </p:sp>
      <p:sp>
        <p:nvSpPr>
          <p:cNvPr id="809" name="PlaceHolder 3"/>
          <p:cNvSpPr>
            <a:spLocks noGrp="1"/>
          </p:cNvSpPr>
          <p:nvPr>
            <p:ph type="sldNum" idx="65"/>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C6F0C03-FAEB-42F7-9326-30BF0D338700}"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sldImg"/>
          </p:nvPr>
        </p:nvSpPr>
        <p:spPr>
          <a:xfrm>
            <a:off x="1143000" y="685800"/>
            <a:ext cx="4571280" cy="3428280"/>
          </a:xfrm>
          <a:prstGeom prst="rect">
            <a:avLst/>
          </a:prstGeom>
          <a:ln w="0">
            <a:noFill/>
          </a:ln>
        </p:spPr>
      </p:sp>
      <p:sp>
        <p:nvSpPr>
          <p:cNvPr id="811"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pipeline diagram shows the real build sequence: source cards and frames, annotation, augmentation, dataset variants, training, validation and promotion to active/best.pt. The active run's train_args are stored inside the checkpoint, which is how the 100-epoch request and 64-epoch outcome were verified.</a:t>
            </a:r>
            <a:endParaRPr lang="en-PH" sz="2000" b="0" u="none" strike="noStrike">
              <a:solidFill>
                <a:srgbClr val="000000"/>
              </a:solidFill>
              <a:effectLst/>
              <a:uFillTx/>
              <a:latin typeface="Arial"/>
            </a:endParaRPr>
          </a:p>
        </p:txBody>
      </p:sp>
      <p:sp>
        <p:nvSpPr>
          <p:cNvPr id="812" name="PlaceHolder 3"/>
          <p:cNvSpPr>
            <a:spLocks noGrp="1"/>
          </p:cNvSpPr>
          <p:nvPr>
            <p:ph type="sldNum" idx="66"/>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43993DC-ABD3-4890-8FB7-B55CC8B77CC9}"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Img"/>
          </p:nvPr>
        </p:nvSpPr>
        <p:spPr>
          <a:xfrm>
            <a:off x="1143000" y="685800"/>
            <a:ext cx="4571280" cy="3428280"/>
          </a:xfrm>
          <a:prstGeom prst="rect">
            <a:avLst/>
          </a:prstGeom>
          <a:ln w="0">
            <a:noFill/>
          </a:ln>
        </p:spPr>
      </p:sp>
      <p:sp>
        <p:nvSpPr>
          <p:cNvPr id="814"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active model's scores are high because the task is narrow: one class, a printed symbol, and a validation set drawn from the same generation process as training. The deck does not claim that 0.995 mAP generalises to every camera, distance or lighting condition. That is what the distance variants were meant to probe.</a:t>
            </a:r>
            <a:endParaRPr lang="en-PH" sz="2000" b="0" u="none" strike="noStrike">
              <a:solidFill>
                <a:srgbClr val="000000"/>
              </a:solidFill>
              <a:effectLst/>
              <a:uFillTx/>
              <a:latin typeface="Arial"/>
            </a:endParaRPr>
          </a:p>
        </p:txBody>
      </p:sp>
      <p:sp>
        <p:nvSpPr>
          <p:cNvPr id="815" name="PlaceHolder 3"/>
          <p:cNvSpPr>
            <a:spLocks noGrp="1"/>
          </p:cNvSpPr>
          <p:nvPr>
            <p:ph type="sldNum" idx="67"/>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966FC12-5FDD-4F7B-A84E-D9364BB88369}"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sldImg"/>
          </p:nvPr>
        </p:nvSpPr>
        <p:spPr>
          <a:xfrm>
            <a:off x="1143000" y="685800"/>
            <a:ext cx="4571280" cy="3428280"/>
          </a:xfrm>
          <a:prstGeom prst="rect">
            <a:avLst/>
          </a:prstGeom>
          <a:ln w="0">
            <a:noFill/>
          </a:ln>
        </p:spPr>
      </p:sp>
      <p:sp>
        <p:nvSpPr>
          <p:cNvPr id="817"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The model comparison is included because it shows the selection was made from evidence, and because it contains a failure (v4-tame) rather than only winners. The latency chart explains why the app requests CUDA and falls back to CPU: on CPU the pipeline is slower than the preview target, so the interface will feel choppy even though detection still works.</a:t>
            </a:r>
            <a:endParaRPr lang="en-PH" sz="2000" b="0" u="none" strike="noStrike">
              <a:solidFill>
                <a:srgbClr val="000000"/>
              </a:solidFill>
              <a:effectLst/>
              <a:uFillTx/>
              <a:latin typeface="Arial"/>
            </a:endParaRPr>
          </a:p>
        </p:txBody>
      </p:sp>
      <p:sp>
        <p:nvSpPr>
          <p:cNvPr id="818" name="PlaceHolder 3"/>
          <p:cNvSpPr>
            <a:spLocks noGrp="1"/>
          </p:cNvSpPr>
          <p:nvPr>
            <p:ph type="sldNum" idx="68"/>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7894060-0D22-4334-A1E2-61C8EB68DA42}"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1143000" y="685800"/>
            <a:ext cx="4571280" cy="3428280"/>
          </a:xfrm>
          <a:prstGeom prst="rect">
            <a:avLst/>
          </a:prstGeom>
          <a:ln w="0">
            <a:noFill/>
          </a:ln>
        </p:spPr>
      </p:sp>
      <p:sp>
        <p:nvSpPr>
          <p:cNvPr id="820"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This slide is the credibility check. The pass rate is 96.0%, but the absolute failure count matters more. The failures are not random: they cluster in the post-scan session contract, which is the same area where the scanner page has the most state. The dashboard screenshot shows both the broken table and the misleading database error label.</a:t>
            </a:r>
            <a:endParaRPr lang="en-PH" sz="2000" b="0" u="none" strike="noStrike">
              <a:solidFill>
                <a:srgbClr val="000000"/>
              </a:solidFill>
              <a:effectLst/>
              <a:uFillTx/>
              <a:latin typeface="Arial"/>
            </a:endParaRPr>
          </a:p>
        </p:txBody>
      </p:sp>
      <p:sp>
        <p:nvSpPr>
          <p:cNvPr id="821" name="PlaceHolder 3"/>
          <p:cNvSpPr>
            <a:spLocks noGrp="1"/>
          </p:cNvSpPr>
          <p:nvPr>
            <p:ph type="sldNum" idx="69"/>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9F901966-5ADC-43C6-A42D-38793D2F9020}"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1143000" y="685800"/>
            <a:ext cx="4571280" cy="3428280"/>
          </a:xfrm>
          <a:prstGeom prst="rect">
            <a:avLst/>
          </a:prstGeom>
          <a:ln w="0">
            <a:noFill/>
          </a:ln>
        </p:spPr>
      </p:sp>
      <p:sp>
        <p:nvSpPr>
          <p:cNvPr id="823"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PH" sz="2000" b="0" u="none" strike="noStrike">
                <a:solidFill>
                  <a:srgbClr val="000000"/>
                </a:solidFill>
                <a:effectLst/>
                <a:uFillTx/>
                <a:latin typeface="Arial"/>
              </a:rPr>
              <a:t>Close on the distinction between what works and what is finished. The system proves the identity-to-record path and the document layer. It does not yet prove authentication, print-scannable ID cards or generalisation beyond the collected distance set. The roadmap is ordered by risk, not by novelty.</a:t>
            </a:r>
            <a:endParaRPr lang="en-PH" sz="2000" b="0" u="none" strike="noStrike">
              <a:solidFill>
                <a:srgbClr val="000000"/>
              </a:solidFill>
              <a:effectLst/>
              <a:uFillTx/>
              <a:latin typeface="Arial"/>
            </a:endParaRPr>
          </a:p>
        </p:txBody>
      </p:sp>
      <p:sp>
        <p:nvSpPr>
          <p:cNvPr id="824" name="PlaceHolder 3"/>
          <p:cNvSpPr>
            <a:spLocks noGrp="1"/>
          </p:cNvSpPr>
          <p:nvPr>
            <p:ph type="sldNum" idx="70"/>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FE235F6E-C7A8-4203-A815-9B59F961F6FA}" type="slidenum">
              <a:rPr lang="en-US" sz="1200" b="0" u="none" strike="noStrike">
                <a:solidFill>
                  <a:srgbClr val="000000"/>
                </a:solidFill>
                <a:effectLst/>
                <a:uFillTx/>
                <a:latin typeface="Times New Roman"/>
              </a:rPr>
              <a:t>&lt;number&gt;</a:t>
            </a:fld>
            <a:endParaRPr lang="en-PH"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2D32EFBE-0363-4C64-837B-6B6FA105ACBD}"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172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the </a:t>
            </a:r>
            <a:r>
              <a:rPr lang="en-US" sz="4400" b="0" u="none" strike="noStrike">
                <a:solidFill>
                  <a:schemeClr val="dk1"/>
                </a:solidFill>
                <a:effectLst/>
                <a:uFillTx/>
                <a:latin typeface="Calibri"/>
              </a:rPr>
              <a:t>title </a:t>
            </a:r>
            <a:r>
              <a:rPr lang="en-US" sz="4400" b="0" u="none" strike="noStrike">
                <a:solidFill>
                  <a:schemeClr val="dk1"/>
                </a:solidFill>
                <a:effectLst/>
                <a:uFillTx/>
                <a:latin typeface="Calibri"/>
              </a:rPr>
              <a:t>text </a:t>
            </a:r>
            <a:r>
              <a:rPr lang="en-US" sz="4400" b="0" u="none" strike="noStrike">
                <a:solidFill>
                  <a:schemeClr val="dk1"/>
                </a:solidFill>
                <a:effectLst/>
                <a:uFillTx/>
                <a:latin typeface="Calibri"/>
              </a:rPr>
              <a:t>form</a:t>
            </a:r>
            <a:r>
              <a:rPr lang="en-US" sz="4400" b="0" u="none" strike="noStrike">
                <a:solidFill>
                  <a:schemeClr val="dk1"/>
                </a:solidFill>
                <a:effectLst/>
                <a:uFillTx/>
                <a:latin typeface="Calibri"/>
              </a:rPr>
              <a:t>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480" y="1604520"/>
            <a:ext cx="10971720" cy="39769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84FEE21-7FF2-463F-9E34-CC6731D5908C}"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4" name="PlaceHolder 2"/>
          <p:cNvSpPr>
            <a:spLocks noGrp="1"/>
          </p:cNvSpPr>
          <p:nvPr>
            <p:ph type="body"/>
          </p:nvPr>
        </p:nvSpPr>
        <p:spPr>
          <a:xfrm>
            <a:off x="1792440" y="612720"/>
            <a:ext cx="5485680" cy="411408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34B5A76-939F-4AE9-B05D-780548284A9F}"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6153ADF-156F-45A9-9654-1B563511CBE6}"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C72209C-7FAF-4EBA-826D-DC87B5DFE975}"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30CE8FD-59A8-48E0-A6E7-CD9A1DF2D0E5}"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A780783-90F8-4F55-97B6-84E6E1CFCE7C}"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3C6EB12-2F03-474E-9C12-4F001BC6BBF9}"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59224C4-C9CC-46F8-BA94-3AB06B89C0BA}"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6093E19-CCB4-4201-8176-1AC519DB6703}"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PH"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PH" sz="1400" b="0" u="none" strike="noStrike">
                <a:solidFill>
                  <a:srgbClr val="000000"/>
                </a:solidFill>
                <a:effectLst/>
                <a:uFillTx/>
                <a:latin typeface="Times New Roman"/>
              </a:defRPr>
            </a:lvl1pPr>
          </a:lstStyle>
          <a:p>
            <a:pPr indent="0" algn="ctr">
              <a:lnSpc>
                <a:spcPct val="100000"/>
              </a:lnSpc>
              <a:buNone/>
              <a:tabLst>
                <a:tab pos="0" algn="l"/>
              </a:tabLst>
            </a:pPr>
            <a:r>
              <a:rPr lang="en-PH" sz="1400" b="0" u="none" strike="noStrike">
                <a:solidFill>
                  <a:srgbClr val="000000"/>
                </a:solidFill>
                <a:effectLst/>
                <a:uFillTx/>
                <a:latin typeface="Times New Roman"/>
              </a:rPr>
              <a:t>&lt;footer&gt;</a:t>
            </a:r>
            <a:endParaRPr lang="en-PH"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CA1BF927-43BD-472A-B8F6-DE7B27A5E2DB}" type="slidenum">
              <a:rPr lang="en-US" sz="1200" b="0" u="none" strike="noStrike">
                <a:solidFill>
                  <a:schemeClr val="dk1">
                    <a:tint val="75000"/>
                  </a:schemeClr>
                </a:solidFill>
                <a:effectLst/>
                <a:uFillTx/>
                <a:latin typeface="Calibri"/>
              </a:rPr>
              <a:t>&lt;number&gt;</a:t>
            </a:fld>
            <a:endParaRPr lang="en-PH"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1.xml"/><Relationship Id="rId4"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1.xml"/><Relationship Id="rId4"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1.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67" name="Rectangle 1"/>
          <p:cNvSpPr/>
          <p:nvPr/>
        </p:nvSpPr>
        <p:spPr>
          <a:xfrm>
            <a:off x="0" y="0"/>
            <a:ext cx="109080" cy="685728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endParaRPr lang="en-US" sz="1800" b="0" u="none" strike="noStrike">
              <a:solidFill>
                <a:schemeClr val="lt1"/>
              </a:solidFill>
              <a:effectLst/>
              <a:uFillTx/>
              <a:latin typeface="Calibri"/>
            </a:endParaRPr>
          </a:p>
        </p:txBody>
      </p:sp>
      <p:sp>
        <p:nvSpPr>
          <p:cNvPr id="68" name="Rectangle 2"/>
          <p:cNvSpPr/>
          <p:nvPr/>
        </p:nvSpPr>
        <p:spPr>
          <a:xfrm>
            <a:off x="685800" y="960120"/>
            <a:ext cx="1416600" cy="49680"/>
          </a:xfrm>
          <a:prstGeom prst="rect">
            <a:avLst/>
          </a:prstGeom>
          <a:solidFill>
            <a:srgbClr val="FFD2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9" name="TextBox 3"/>
          <p:cNvSpPr/>
          <p:nvPr/>
        </p:nvSpPr>
        <p:spPr>
          <a:xfrm>
            <a:off x="685800" y="1115640"/>
            <a:ext cx="64000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FFD24D"/>
                </a:solidFill>
                <a:effectLst/>
                <a:uFillTx/>
                <a:latin typeface="Arial"/>
              </a:rPr>
              <a:t>TECHNICAL SYSTEM PRESENTATION  ·  2026</a:t>
            </a:r>
            <a:endParaRPr lang="en-PH" sz="1050" b="0" u="none" strike="noStrike">
              <a:solidFill>
                <a:srgbClr val="FFFFFF"/>
              </a:solidFill>
              <a:effectLst/>
              <a:uFillTx/>
              <a:latin typeface="Arial"/>
            </a:endParaRPr>
          </a:p>
        </p:txBody>
      </p:sp>
      <p:sp>
        <p:nvSpPr>
          <p:cNvPr id="70" name="TextBox 4"/>
          <p:cNvSpPr/>
          <p:nvPr/>
        </p:nvSpPr>
        <p:spPr>
          <a:xfrm>
            <a:off x="685800" y="1572840"/>
            <a:ext cx="6720120" cy="1965240"/>
          </a:xfrm>
          <a:prstGeom prst="rect">
            <a:avLst/>
          </a:prstGeom>
          <a:noFill/>
          <a:ln w="0">
            <a:noFill/>
          </a:ln>
        </p:spPr>
        <p:style>
          <a:lnRef idx="0"/>
          <a:fillRef idx="0"/>
          <a:effectRef idx="0"/>
          <a:fontRef idx="minor"/>
        </p:style>
        <p:txBody>
          <a:bodyPr lIns="0" tIns="0" rIns="0" bIns="0" anchor="t">
            <a:spAutoFit/>
          </a:bodyPr>
          <a:p>
            <a:pPr defTabSz="457200">
              <a:lnSpc>
                <a:spcPct val="88000"/>
              </a:lnSpc>
            </a:pPr>
            <a:r>
              <a:rPr lang="en-US" sz="3900" b="1" u="none" strike="noStrike">
                <a:solidFill>
                  <a:srgbClr val="FFFFFF"/>
                </a:solidFill>
                <a:effectLst/>
                <a:uFillTx/>
                <a:latin typeface="Arial"/>
              </a:rPr>
              <a:t>WIT Barcode</a:t>
            </a:r>
            <a:endParaRPr lang="en-PH" sz="3900" b="0" u="none" strike="noStrike">
              <a:solidFill>
                <a:srgbClr val="FFFFFF"/>
              </a:solidFill>
              <a:effectLst/>
              <a:uFillTx/>
              <a:latin typeface="Arial"/>
            </a:endParaRPr>
          </a:p>
          <a:p>
            <a:pPr defTabSz="457200">
              <a:lnSpc>
                <a:spcPct val="88000"/>
              </a:lnSpc>
            </a:pPr>
            <a:r>
              <a:rPr lang="en-US" sz="3900" b="1" u="none" strike="noStrike">
                <a:solidFill>
                  <a:srgbClr val="FFFFFF"/>
                </a:solidFill>
                <a:effectLst/>
                <a:uFillTx/>
                <a:latin typeface="Arial"/>
              </a:rPr>
              <a:t>Student Information</a:t>
            </a:r>
            <a:endParaRPr lang="en-PH" sz="3900" b="0" u="none" strike="noStrike">
              <a:solidFill>
                <a:srgbClr val="FFFFFF"/>
              </a:solidFill>
              <a:effectLst/>
              <a:uFillTx/>
              <a:latin typeface="Arial"/>
            </a:endParaRPr>
          </a:p>
          <a:p>
            <a:pPr defTabSz="457200">
              <a:lnSpc>
                <a:spcPct val="88000"/>
              </a:lnSpc>
            </a:pPr>
            <a:r>
              <a:rPr lang="en-US" sz="3900" b="1" u="none" strike="noStrike">
                <a:solidFill>
                  <a:srgbClr val="FFFFFF"/>
                </a:solidFill>
                <a:effectLst/>
                <a:uFillTx/>
                <a:latin typeface="Arial"/>
              </a:rPr>
              <a:t>System</a:t>
            </a:r>
            <a:endParaRPr lang="en-PH" sz="3900" b="0" u="none" strike="noStrike">
              <a:solidFill>
                <a:srgbClr val="FFFFFF"/>
              </a:solidFill>
              <a:effectLst/>
              <a:uFillTx/>
              <a:latin typeface="Arial"/>
            </a:endParaRPr>
          </a:p>
        </p:txBody>
      </p:sp>
      <p:sp>
        <p:nvSpPr>
          <p:cNvPr id="71" name="TextBox 5"/>
          <p:cNvSpPr/>
          <p:nvPr/>
        </p:nvSpPr>
        <p:spPr>
          <a:xfrm>
            <a:off x="685800" y="3840480"/>
            <a:ext cx="5988600" cy="105084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1320" b="0" u="none" strike="noStrike">
                <a:solidFill>
                  <a:srgbClr val="CBD5E1"/>
                </a:solidFill>
                <a:effectLst/>
                <a:uFillTx/>
                <a:latin typeface="Arial"/>
              </a:rPr>
              <a:t>Computer-vision student identification, subject enrollment, assessment and documentation — implemented as a local desktop application.</a:t>
            </a:r>
            <a:endParaRPr lang="en-PH" sz="1320" b="0" u="none" strike="noStrike">
              <a:solidFill>
                <a:srgbClr val="FFFFFF"/>
              </a:solidFill>
              <a:effectLst/>
              <a:uFillTx/>
              <a:latin typeface="Arial"/>
            </a:endParaRPr>
          </a:p>
        </p:txBody>
      </p:sp>
      <p:sp>
        <p:nvSpPr>
          <p:cNvPr id="72" name="Rectangle 6"/>
          <p:cNvSpPr/>
          <p:nvPr/>
        </p:nvSpPr>
        <p:spPr>
          <a:xfrm>
            <a:off x="685800" y="5074920"/>
            <a:ext cx="5074200" cy="10080"/>
          </a:xfrm>
          <a:prstGeom prst="rect">
            <a:avLst/>
          </a:prstGeom>
          <a:solidFill>
            <a:srgbClr val="3341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73" name="TextBox 7"/>
          <p:cNvSpPr/>
          <p:nvPr/>
        </p:nvSpPr>
        <p:spPr>
          <a:xfrm>
            <a:off x="685800" y="5230440"/>
            <a:ext cx="5668560" cy="639360"/>
          </a:xfrm>
          <a:prstGeom prst="rect">
            <a:avLst/>
          </a:prstGeom>
          <a:noFill/>
          <a:ln w="0">
            <a:noFill/>
          </a:ln>
        </p:spPr>
        <p:style>
          <a:lnRef idx="0"/>
          <a:fillRef idx="0"/>
          <a:effectRef idx="0"/>
          <a:fontRef idx="minor"/>
        </p:style>
        <p:txBody>
          <a:bodyPr lIns="0" tIns="0" rIns="0" bIns="0" anchor="t">
            <a:spAutoFit/>
          </a:bodyPr>
          <a:p>
            <a:pPr defTabSz="457200">
              <a:lnSpc>
                <a:spcPct val="122000"/>
              </a:lnSpc>
            </a:pPr>
            <a:r>
              <a:rPr lang="en-US" sz="960" b="0" u="none" strike="noStrike">
                <a:solidFill>
                  <a:srgbClr val="94A3B8"/>
                </a:solidFill>
                <a:effectLst/>
                <a:uFillTx/>
                <a:latin typeface="Arial"/>
              </a:rPr>
              <a:t>Western Institute of Technology  ·  Computer Engineering</a:t>
            </a:r>
            <a:endParaRPr lang="en-PH" sz="960" b="0" u="none" strike="noStrike">
              <a:solidFill>
                <a:srgbClr val="FFFFFF"/>
              </a:solidFill>
              <a:effectLst/>
              <a:uFillTx/>
              <a:latin typeface="Arial"/>
            </a:endParaRPr>
          </a:p>
          <a:p>
            <a:pPr defTabSz="457200">
              <a:lnSpc>
                <a:spcPct val="122000"/>
              </a:lnSpc>
            </a:pPr>
            <a:r>
              <a:rPr lang="en-US" sz="960" b="0" u="none" strike="noStrike">
                <a:solidFill>
                  <a:srgbClr val="94A3B8"/>
                </a:solidFill>
                <a:effectLst/>
                <a:uFillTx/>
                <a:latin typeface="Arial"/>
              </a:rPr>
              <a:t>Built from repository commit 521e66c  ·  20 October 2026</a:t>
            </a:r>
            <a:endParaRPr lang="en-PH" sz="960" b="0" u="none" strike="noStrike">
              <a:solidFill>
                <a:srgbClr val="FFFFFF"/>
              </a:solidFill>
              <a:effectLst/>
              <a:uFillTx/>
              <a:latin typeface="Arial"/>
            </a:endParaRPr>
          </a:p>
        </p:txBody>
      </p:sp>
      <p:sp>
        <p:nvSpPr>
          <p:cNvPr id="74" name="Rounded Rectangle 8"/>
          <p:cNvSpPr/>
          <p:nvPr/>
        </p:nvSpPr>
        <p:spPr>
          <a:xfrm>
            <a:off x="685800" y="6035040"/>
            <a:ext cx="1416600" cy="273600"/>
          </a:xfrm>
          <a:prstGeom prst="roundRect">
            <a:avLst>
              <a:gd name="adj" fmla="val 8000"/>
            </a:avLst>
          </a:prstGeom>
          <a:solidFill>
            <a:srgbClr val="1E293B"/>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 name="TextBox 9"/>
          <p:cNvSpPr/>
          <p:nvPr/>
        </p:nvSpPr>
        <p:spPr>
          <a:xfrm>
            <a:off x="731520" y="6076080"/>
            <a:ext cx="132516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20" b="1" u="none" strike="noStrike">
                <a:solidFill>
                  <a:srgbClr val="E2E8F0"/>
                </a:solidFill>
                <a:effectLst/>
                <a:uFillTx/>
                <a:latin typeface="Arial"/>
              </a:rPr>
              <a:t>PySide6 6.12</a:t>
            </a:r>
            <a:endParaRPr lang="en-PH" sz="820" b="0" u="none" strike="noStrike">
              <a:solidFill>
                <a:srgbClr val="FFFFFF"/>
              </a:solidFill>
              <a:effectLst/>
              <a:uFillTx/>
              <a:latin typeface="Arial"/>
            </a:endParaRPr>
          </a:p>
        </p:txBody>
      </p:sp>
      <p:sp>
        <p:nvSpPr>
          <p:cNvPr id="76" name="Rounded Rectangle 10"/>
          <p:cNvSpPr/>
          <p:nvPr/>
        </p:nvSpPr>
        <p:spPr>
          <a:xfrm>
            <a:off x="2304360" y="6035040"/>
            <a:ext cx="1416600" cy="273600"/>
          </a:xfrm>
          <a:prstGeom prst="roundRect">
            <a:avLst>
              <a:gd name="adj" fmla="val 8000"/>
            </a:avLst>
          </a:prstGeom>
          <a:solidFill>
            <a:srgbClr val="1E293B"/>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 name="TextBox 11"/>
          <p:cNvSpPr/>
          <p:nvPr/>
        </p:nvSpPr>
        <p:spPr>
          <a:xfrm>
            <a:off x="2350080" y="6076080"/>
            <a:ext cx="132516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20" b="1" u="none" strike="noStrike">
                <a:solidFill>
                  <a:srgbClr val="E2E8F0"/>
                </a:solidFill>
                <a:effectLst/>
                <a:uFillTx/>
                <a:latin typeface="Arial"/>
              </a:rPr>
              <a:t>MySQL 8.4</a:t>
            </a:r>
            <a:endParaRPr lang="en-PH" sz="820" b="0" u="none" strike="noStrike">
              <a:solidFill>
                <a:srgbClr val="FFFFFF"/>
              </a:solidFill>
              <a:effectLst/>
              <a:uFillTx/>
              <a:latin typeface="Arial"/>
            </a:endParaRPr>
          </a:p>
        </p:txBody>
      </p:sp>
      <p:sp>
        <p:nvSpPr>
          <p:cNvPr id="78" name="Rounded Rectangle 12"/>
          <p:cNvSpPr/>
          <p:nvPr/>
        </p:nvSpPr>
        <p:spPr>
          <a:xfrm>
            <a:off x="3712320" y="6035040"/>
            <a:ext cx="1416600" cy="273600"/>
          </a:xfrm>
          <a:prstGeom prst="roundRect">
            <a:avLst>
              <a:gd name="adj" fmla="val 8000"/>
            </a:avLst>
          </a:prstGeom>
          <a:solidFill>
            <a:srgbClr val="1E293B"/>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 name="TextBox 13"/>
          <p:cNvSpPr/>
          <p:nvPr/>
        </p:nvSpPr>
        <p:spPr>
          <a:xfrm>
            <a:off x="3758040" y="6076080"/>
            <a:ext cx="132516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20" b="1" u="none" strike="noStrike">
                <a:solidFill>
                  <a:srgbClr val="E2E8F0"/>
                </a:solidFill>
                <a:effectLst/>
                <a:uFillTx/>
                <a:latin typeface="Arial"/>
              </a:rPr>
              <a:t>YOLOv8n</a:t>
            </a:r>
            <a:endParaRPr lang="en-PH" sz="820" b="0" u="none" strike="noStrike">
              <a:solidFill>
                <a:srgbClr val="FFFFFF"/>
              </a:solidFill>
              <a:effectLst/>
              <a:uFillTx/>
              <a:latin typeface="Arial"/>
            </a:endParaRPr>
          </a:p>
        </p:txBody>
      </p:sp>
      <p:sp>
        <p:nvSpPr>
          <p:cNvPr id="80" name="Rounded Rectangle 14"/>
          <p:cNvSpPr/>
          <p:nvPr/>
        </p:nvSpPr>
        <p:spPr>
          <a:xfrm>
            <a:off x="5047560" y="6035040"/>
            <a:ext cx="1416600" cy="273600"/>
          </a:xfrm>
          <a:prstGeom prst="roundRect">
            <a:avLst>
              <a:gd name="adj" fmla="val 8000"/>
            </a:avLst>
          </a:prstGeom>
          <a:solidFill>
            <a:srgbClr val="1E293B"/>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TextBox 15"/>
          <p:cNvSpPr/>
          <p:nvPr/>
        </p:nvSpPr>
        <p:spPr>
          <a:xfrm>
            <a:off x="5093280" y="6076080"/>
            <a:ext cx="132516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20" b="1" u="none" strike="noStrike">
                <a:solidFill>
                  <a:srgbClr val="E2E8F0"/>
                </a:solidFill>
                <a:effectLst/>
                <a:uFillTx/>
                <a:latin typeface="Arial"/>
              </a:rPr>
              <a:t>CODE39</a:t>
            </a:r>
            <a:endParaRPr lang="en-PH" sz="820" b="0" u="none" strike="noStrike">
              <a:solidFill>
                <a:srgbClr val="FFFFFF"/>
              </a:solidFill>
              <a:effectLst/>
              <a:uFillTx/>
              <a:latin typeface="Arial"/>
            </a:endParaRPr>
          </a:p>
        </p:txBody>
      </p:sp>
      <p:sp>
        <p:nvSpPr>
          <p:cNvPr id="82" name="Rectangle 16"/>
          <p:cNvSpPr/>
          <p:nvPr/>
        </p:nvSpPr>
        <p:spPr>
          <a:xfrm>
            <a:off x="7699320" y="868680"/>
            <a:ext cx="3100320" cy="5250960"/>
          </a:xfrm>
          <a:prstGeom prst="rect">
            <a:avLst/>
          </a:prstGeom>
          <a:solidFill>
            <a:srgbClr val="1E293B"/>
          </a:solidFill>
          <a:ln w="1016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83" name=""/>
          <p:cNvPicPr/>
          <p:nvPr/>
        </p:nvPicPr>
        <p:blipFill>
          <a:blip r:embed="rId1"/>
          <a:stretch/>
        </p:blipFill>
        <p:spPr>
          <a:xfrm>
            <a:off x="7882200" y="1078920"/>
            <a:ext cx="2737440" cy="48607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85"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86"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NAVIGATION</a:t>
            </a:r>
            <a:endParaRPr lang="en-PH" sz="880" b="0" u="none" strike="noStrike">
              <a:solidFill>
                <a:srgbClr val="000000"/>
              </a:solidFill>
              <a:effectLst/>
              <a:uFillTx/>
              <a:latin typeface="Arial"/>
            </a:endParaRPr>
          </a:p>
        </p:txBody>
      </p:sp>
      <p:sp>
        <p:nvSpPr>
          <p:cNvPr id="87"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What this deck covers</a:t>
            </a:r>
            <a:endParaRPr lang="en-PH" sz="2450" b="0" u="none" strike="noStrike">
              <a:solidFill>
                <a:srgbClr val="000000"/>
              </a:solidFill>
              <a:effectLst/>
              <a:uFillTx/>
              <a:latin typeface="Arial"/>
            </a:endParaRPr>
          </a:p>
        </p:txBody>
      </p:sp>
      <p:sp>
        <p:nvSpPr>
          <p:cNvPr id="88"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Five sections, 35 slides. Numbers are traced to the repository, the live database, training artefacts or captured UI.</a:t>
            </a:r>
            <a:endParaRPr lang="en-PH" sz="1080" b="0" u="none" strike="noStrike">
              <a:solidFill>
                <a:srgbClr val="000000"/>
              </a:solidFill>
              <a:effectLst/>
              <a:uFillTx/>
              <a:latin typeface="Arial"/>
            </a:endParaRPr>
          </a:p>
        </p:txBody>
      </p:sp>
      <p:sp>
        <p:nvSpPr>
          <p:cNvPr id="89"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90"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91"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02 / 35</a:t>
            </a:r>
            <a:endParaRPr lang="en-PH" sz="780" b="0" u="none" strike="noStrike">
              <a:solidFill>
                <a:srgbClr val="000000"/>
              </a:solidFill>
              <a:effectLst/>
              <a:uFillTx/>
              <a:latin typeface="Arial"/>
            </a:endParaRPr>
          </a:p>
        </p:txBody>
      </p:sp>
      <p:sp>
        <p:nvSpPr>
          <p:cNvPr id="92" name="Rounded Rectangle 9"/>
          <p:cNvSpPr/>
          <p:nvPr/>
        </p:nvSpPr>
        <p:spPr>
          <a:xfrm>
            <a:off x="567000" y="1572840"/>
            <a:ext cx="11063520" cy="80388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 name="TextBox 10"/>
          <p:cNvSpPr/>
          <p:nvPr/>
        </p:nvSpPr>
        <p:spPr>
          <a:xfrm>
            <a:off x="749880" y="1774080"/>
            <a:ext cx="56628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1" u="none" strike="noStrike">
                <a:solidFill>
                  <a:srgbClr val="F97316"/>
                </a:solidFill>
                <a:effectLst/>
                <a:uFillTx/>
                <a:latin typeface="Arial"/>
              </a:rPr>
              <a:t>01</a:t>
            </a:r>
            <a:endParaRPr lang="en-PH" sz="1900" b="0" u="none" strike="noStrike">
              <a:solidFill>
                <a:srgbClr val="000000"/>
              </a:solidFill>
              <a:effectLst/>
              <a:uFillTx/>
              <a:latin typeface="Arial"/>
            </a:endParaRPr>
          </a:p>
        </p:txBody>
      </p:sp>
      <p:sp>
        <p:nvSpPr>
          <p:cNvPr id="94" name="TextBox 11"/>
          <p:cNvSpPr/>
          <p:nvPr/>
        </p:nvSpPr>
        <p:spPr>
          <a:xfrm>
            <a:off x="1444680" y="1728360"/>
            <a:ext cx="30625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20" b="1" u="none" strike="noStrike">
                <a:solidFill>
                  <a:srgbClr val="0F172A"/>
                </a:solidFill>
                <a:effectLst/>
                <a:uFillTx/>
                <a:latin typeface="Arial"/>
              </a:rPr>
              <a:t>Context &amp; objectives</a:t>
            </a:r>
            <a:endParaRPr lang="en-PH" sz="1420" b="0" u="none" strike="noStrike">
              <a:solidFill>
                <a:srgbClr val="000000"/>
              </a:solidFill>
              <a:effectLst/>
              <a:uFillTx/>
              <a:latin typeface="Arial"/>
            </a:endParaRPr>
          </a:p>
        </p:txBody>
      </p:sp>
      <p:sp>
        <p:nvSpPr>
          <p:cNvPr id="95" name="TextBox 12"/>
          <p:cNvSpPr/>
          <p:nvPr/>
        </p:nvSpPr>
        <p:spPr>
          <a:xfrm>
            <a:off x="1444680" y="2039040"/>
            <a:ext cx="30625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0" u="none" strike="noStrike">
                <a:solidFill>
                  <a:srgbClr val="475569"/>
                </a:solidFill>
                <a:effectLst/>
                <a:uFillTx/>
                <a:latin typeface="Arial"/>
              </a:rPr>
              <a:t>Problem, goals, scope and what is deliberately not delivered.</a:t>
            </a:r>
            <a:endParaRPr lang="en-PH" sz="880" b="0" u="none" strike="noStrike">
              <a:solidFill>
                <a:srgbClr val="000000"/>
              </a:solidFill>
              <a:effectLst/>
              <a:uFillTx/>
              <a:latin typeface="Arial"/>
            </a:endParaRPr>
          </a:p>
        </p:txBody>
      </p:sp>
      <p:sp>
        <p:nvSpPr>
          <p:cNvPr id="96" name="TextBox 13"/>
          <p:cNvSpPr/>
          <p:nvPr/>
        </p:nvSpPr>
        <p:spPr>
          <a:xfrm>
            <a:off x="10454400" y="1810440"/>
            <a:ext cx="959400" cy="27360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000" b="1" u="none" strike="noStrike">
                <a:solidFill>
                  <a:srgbClr val="AD4D05"/>
                </a:solidFill>
                <a:effectLst/>
                <a:uFillTx/>
                <a:latin typeface="Arial"/>
              </a:rPr>
              <a:t>3–6</a:t>
            </a:r>
            <a:endParaRPr lang="en-PH" sz="1000" b="0" u="none" strike="noStrike">
              <a:solidFill>
                <a:srgbClr val="000000"/>
              </a:solidFill>
              <a:effectLst/>
              <a:uFillTx/>
              <a:latin typeface="Arial"/>
            </a:endParaRPr>
          </a:p>
        </p:txBody>
      </p:sp>
      <p:sp>
        <p:nvSpPr>
          <p:cNvPr id="97" name="Rounded Rectangle 14"/>
          <p:cNvSpPr/>
          <p:nvPr/>
        </p:nvSpPr>
        <p:spPr>
          <a:xfrm>
            <a:off x="567000" y="2477880"/>
            <a:ext cx="11063520" cy="803880"/>
          </a:xfrm>
          <a:prstGeom prst="roundRect">
            <a:avLst>
              <a:gd name="adj" fmla="val 8000"/>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8" name="TextBox 15"/>
          <p:cNvSpPr/>
          <p:nvPr/>
        </p:nvSpPr>
        <p:spPr>
          <a:xfrm>
            <a:off x="749880" y="2679120"/>
            <a:ext cx="56628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1" u="none" strike="noStrike">
                <a:solidFill>
                  <a:srgbClr val="F97316"/>
                </a:solidFill>
                <a:effectLst/>
                <a:uFillTx/>
                <a:latin typeface="Arial"/>
              </a:rPr>
              <a:t>02</a:t>
            </a:r>
            <a:endParaRPr lang="en-PH" sz="1900" b="0" u="none" strike="noStrike">
              <a:solidFill>
                <a:srgbClr val="000000"/>
              </a:solidFill>
              <a:effectLst/>
              <a:uFillTx/>
              <a:latin typeface="Arial"/>
            </a:endParaRPr>
          </a:p>
        </p:txBody>
      </p:sp>
      <p:sp>
        <p:nvSpPr>
          <p:cNvPr id="99" name="TextBox 16"/>
          <p:cNvSpPr/>
          <p:nvPr/>
        </p:nvSpPr>
        <p:spPr>
          <a:xfrm>
            <a:off x="1444680" y="2633400"/>
            <a:ext cx="30625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20" b="1" u="none" strike="noStrike">
                <a:solidFill>
                  <a:srgbClr val="0F172A"/>
                </a:solidFill>
                <a:effectLst/>
                <a:uFillTx/>
                <a:latin typeface="Arial"/>
              </a:rPr>
              <a:t>System design</a:t>
            </a:r>
            <a:endParaRPr lang="en-PH" sz="1420" b="0" u="none" strike="noStrike">
              <a:solidFill>
                <a:srgbClr val="000000"/>
              </a:solidFill>
              <a:effectLst/>
              <a:uFillTx/>
              <a:latin typeface="Arial"/>
            </a:endParaRPr>
          </a:p>
        </p:txBody>
      </p:sp>
      <p:sp>
        <p:nvSpPr>
          <p:cNvPr id="100" name="TextBox 17"/>
          <p:cNvSpPr/>
          <p:nvPr/>
        </p:nvSpPr>
        <p:spPr>
          <a:xfrm>
            <a:off x="1444680" y="2944440"/>
            <a:ext cx="30625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0" u="none" strike="noStrike">
                <a:solidFill>
                  <a:srgbClr val="475569"/>
                </a:solidFill>
                <a:effectLst/>
                <a:uFillTx/>
                <a:latin typeface="Arial"/>
              </a:rPr>
              <a:t>Context boundary, stack, layered architecture and module map.</a:t>
            </a:r>
            <a:endParaRPr lang="en-PH" sz="880" b="0" u="none" strike="noStrike">
              <a:solidFill>
                <a:srgbClr val="000000"/>
              </a:solidFill>
              <a:effectLst/>
              <a:uFillTx/>
              <a:latin typeface="Arial"/>
            </a:endParaRPr>
          </a:p>
        </p:txBody>
      </p:sp>
      <p:sp>
        <p:nvSpPr>
          <p:cNvPr id="101" name="TextBox 18"/>
          <p:cNvSpPr/>
          <p:nvPr/>
        </p:nvSpPr>
        <p:spPr>
          <a:xfrm>
            <a:off x="10454400" y="2715840"/>
            <a:ext cx="959400" cy="27360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000" b="1" u="none" strike="noStrike">
                <a:solidFill>
                  <a:srgbClr val="AD4D05"/>
                </a:solidFill>
                <a:effectLst/>
                <a:uFillTx/>
                <a:latin typeface="Arial"/>
              </a:rPr>
              <a:t>7–10</a:t>
            </a:r>
            <a:endParaRPr lang="en-PH" sz="1000" b="0" u="none" strike="noStrike">
              <a:solidFill>
                <a:srgbClr val="000000"/>
              </a:solidFill>
              <a:effectLst/>
              <a:uFillTx/>
              <a:latin typeface="Arial"/>
            </a:endParaRPr>
          </a:p>
        </p:txBody>
      </p:sp>
      <p:sp>
        <p:nvSpPr>
          <p:cNvPr id="102" name="Rounded Rectangle 19"/>
          <p:cNvSpPr/>
          <p:nvPr/>
        </p:nvSpPr>
        <p:spPr>
          <a:xfrm>
            <a:off x="567000" y="3383280"/>
            <a:ext cx="11063520" cy="80388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 name="TextBox 20"/>
          <p:cNvSpPr/>
          <p:nvPr/>
        </p:nvSpPr>
        <p:spPr>
          <a:xfrm>
            <a:off x="749880" y="3584520"/>
            <a:ext cx="56628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1" u="none" strike="noStrike">
                <a:solidFill>
                  <a:srgbClr val="F97316"/>
                </a:solidFill>
                <a:effectLst/>
                <a:uFillTx/>
                <a:latin typeface="Arial"/>
              </a:rPr>
              <a:t>03</a:t>
            </a:r>
            <a:endParaRPr lang="en-PH" sz="1900" b="0" u="none" strike="noStrike">
              <a:solidFill>
                <a:srgbClr val="000000"/>
              </a:solidFill>
              <a:effectLst/>
              <a:uFillTx/>
              <a:latin typeface="Arial"/>
            </a:endParaRPr>
          </a:p>
        </p:txBody>
      </p:sp>
      <p:sp>
        <p:nvSpPr>
          <p:cNvPr id="104" name="TextBox 21"/>
          <p:cNvSpPr/>
          <p:nvPr/>
        </p:nvSpPr>
        <p:spPr>
          <a:xfrm>
            <a:off x="1444680" y="3538800"/>
            <a:ext cx="30625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20" b="1" u="none" strike="noStrike">
                <a:solidFill>
                  <a:srgbClr val="0F172A"/>
                </a:solidFill>
                <a:effectLst/>
                <a:uFillTx/>
                <a:latin typeface="Arial"/>
              </a:rPr>
              <a:t>Product walkthrough</a:t>
            </a:r>
            <a:endParaRPr lang="en-PH" sz="1420" b="0" u="none" strike="noStrike">
              <a:solidFill>
                <a:srgbClr val="000000"/>
              </a:solidFill>
              <a:effectLst/>
              <a:uFillTx/>
              <a:latin typeface="Arial"/>
            </a:endParaRPr>
          </a:p>
        </p:txBody>
      </p:sp>
      <p:sp>
        <p:nvSpPr>
          <p:cNvPr id="105" name="TextBox 22"/>
          <p:cNvSpPr/>
          <p:nvPr/>
        </p:nvSpPr>
        <p:spPr>
          <a:xfrm>
            <a:off x="1444680" y="3849480"/>
            <a:ext cx="30625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0" u="none" strike="noStrike">
                <a:solidFill>
                  <a:srgbClr val="475569"/>
                </a:solidFill>
                <a:effectLst/>
                <a:uFillTx/>
                <a:latin typeface="Arial"/>
              </a:rPr>
              <a:t>Every working page, the scan pipeline and the documents it produces.</a:t>
            </a:r>
            <a:endParaRPr lang="en-PH" sz="880" b="0" u="none" strike="noStrike">
              <a:solidFill>
                <a:srgbClr val="000000"/>
              </a:solidFill>
              <a:effectLst/>
              <a:uFillTx/>
              <a:latin typeface="Arial"/>
            </a:endParaRPr>
          </a:p>
        </p:txBody>
      </p:sp>
      <p:sp>
        <p:nvSpPr>
          <p:cNvPr id="106" name="TextBox 23"/>
          <p:cNvSpPr/>
          <p:nvPr/>
        </p:nvSpPr>
        <p:spPr>
          <a:xfrm>
            <a:off x="10454400" y="3620880"/>
            <a:ext cx="959400" cy="27360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000" b="1" u="none" strike="noStrike">
                <a:solidFill>
                  <a:srgbClr val="AD4D05"/>
                </a:solidFill>
                <a:effectLst/>
                <a:uFillTx/>
                <a:latin typeface="Arial"/>
              </a:rPr>
              <a:t>11–25</a:t>
            </a:r>
            <a:endParaRPr lang="en-PH" sz="1000" b="0" u="none" strike="noStrike">
              <a:solidFill>
                <a:srgbClr val="000000"/>
              </a:solidFill>
              <a:effectLst/>
              <a:uFillTx/>
              <a:latin typeface="Arial"/>
            </a:endParaRPr>
          </a:p>
        </p:txBody>
      </p:sp>
      <p:sp>
        <p:nvSpPr>
          <p:cNvPr id="107" name="Rounded Rectangle 24"/>
          <p:cNvSpPr/>
          <p:nvPr/>
        </p:nvSpPr>
        <p:spPr>
          <a:xfrm>
            <a:off x="567000" y="4288680"/>
            <a:ext cx="11063520" cy="803880"/>
          </a:xfrm>
          <a:prstGeom prst="roundRect">
            <a:avLst>
              <a:gd name="adj" fmla="val 8000"/>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8" name="TextBox 25"/>
          <p:cNvSpPr/>
          <p:nvPr/>
        </p:nvSpPr>
        <p:spPr>
          <a:xfrm>
            <a:off x="749880" y="4489560"/>
            <a:ext cx="56628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1" u="none" strike="noStrike">
                <a:solidFill>
                  <a:srgbClr val="F97316"/>
                </a:solidFill>
                <a:effectLst/>
                <a:uFillTx/>
                <a:latin typeface="Arial"/>
              </a:rPr>
              <a:t>04</a:t>
            </a:r>
            <a:endParaRPr lang="en-PH" sz="1900" b="0" u="none" strike="noStrike">
              <a:solidFill>
                <a:srgbClr val="000000"/>
              </a:solidFill>
              <a:effectLst/>
              <a:uFillTx/>
              <a:latin typeface="Arial"/>
            </a:endParaRPr>
          </a:p>
        </p:txBody>
      </p:sp>
      <p:sp>
        <p:nvSpPr>
          <p:cNvPr id="109" name="TextBox 26"/>
          <p:cNvSpPr/>
          <p:nvPr/>
        </p:nvSpPr>
        <p:spPr>
          <a:xfrm>
            <a:off x="1444680" y="4443840"/>
            <a:ext cx="30625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20" b="1" u="none" strike="noStrike">
                <a:solidFill>
                  <a:srgbClr val="0F172A"/>
                </a:solidFill>
                <a:effectLst/>
                <a:uFillTx/>
                <a:latin typeface="Arial"/>
              </a:rPr>
              <a:t>Data &amp; model</a:t>
            </a:r>
            <a:endParaRPr lang="en-PH" sz="1420" b="0" u="none" strike="noStrike">
              <a:solidFill>
                <a:srgbClr val="000000"/>
              </a:solidFill>
              <a:effectLst/>
              <a:uFillTx/>
              <a:latin typeface="Arial"/>
            </a:endParaRPr>
          </a:p>
        </p:txBody>
      </p:sp>
      <p:sp>
        <p:nvSpPr>
          <p:cNvPr id="110" name="TextBox 27"/>
          <p:cNvSpPr/>
          <p:nvPr/>
        </p:nvSpPr>
        <p:spPr>
          <a:xfrm>
            <a:off x="1444680" y="4754880"/>
            <a:ext cx="30625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0" u="none" strike="noStrike">
                <a:solidFill>
                  <a:srgbClr val="475569"/>
                </a:solidFill>
                <a:effectLst/>
                <a:uFillTx/>
                <a:latin typeface="Arial"/>
              </a:rPr>
              <a:t>Schema, ERD, data flow, 2,551-image dataset, training and inference.</a:t>
            </a:r>
            <a:endParaRPr lang="en-PH" sz="880" b="0" u="none" strike="noStrike">
              <a:solidFill>
                <a:srgbClr val="000000"/>
              </a:solidFill>
              <a:effectLst/>
              <a:uFillTx/>
              <a:latin typeface="Arial"/>
            </a:endParaRPr>
          </a:p>
        </p:txBody>
      </p:sp>
      <p:sp>
        <p:nvSpPr>
          <p:cNvPr id="111" name="TextBox 28"/>
          <p:cNvSpPr/>
          <p:nvPr/>
        </p:nvSpPr>
        <p:spPr>
          <a:xfrm>
            <a:off x="10454400" y="4526280"/>
            <a:ext cx="959400" cy="27360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000" b="1" u="none" strike="noStrike">
                <a:solidFill>
                  <a:srgbClr val="AD4D05"/>
                </a:solidFill>
                <a:effectLst/>
                <a:uFillTx/>
                <a:latin typeface="Arial"/>
              </a:rPr>
              <a:t>26–33</a:t>
            </a:r>
            <a:endParaRPr lang="en-PH" sz="1000" b="0" u="none" strike="noStrike">
              <a:solidFill>
                <a:srgbClr val="000000"/>
              </a:solidFill>
              <a:effectLst/>
              <a:uFillTx/>
              <a:latin typeface="Arial"/>
            </a:endParaRPr>
          </a:p>
        </p:txBody>
      </p:sp>
      <p:sp>
        <p:nvSpPr>
          <p:cNvPr id="112" name="Rounded Rectangle 29"/>
          <p:cNvSpPr/>
          <p:nvPr/>
        </p:nvSpPr>
        <p:spPr>
          <a:xfrm>
            <a:off x="567000" y="5193720"/>
            <a:ext cx="11063520" cy="80388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3" name="TextBox 30"/>
          <p:cNvSpPr/>
          <p:nvPr/>
        </p:nvSpPr>
        <p:spPr>
          <a:xfrm>
            <a:off x="749880" y="5394960"/>
            <a:ext cx="56628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1" u="none" strike="noStrike">
                <a:solidFill>
                  <a:srgbClr val="F97316"/>
                </a:solidFill>
                <a:effectLst/>
                <a:uFillTx/>
                <a:latin typeface="Arial"/>
              </a:rPr>
              <a:t>05</a:t>
            </a:r>
            <a:endParaRPr lang="en-PH" sz="1900" b="0" u="none" strike="noStrike">
              <a:solidFill>
                <a:srgbClr val="000000"/>
              </a:solidFill>
              <a:effectLst/>
              <a:uFillTx/>
              <a:latin typeface="Arial"/>
            </a:endParaRPr>
          </a:p>
        </p:txBody>
      </p:sp>
      <p:sp>
        <p:nvSpPr>
          <p:cNvPr id="114" name="TextBox 31"/>
          <p:cNvSpPr/>
          <p:nvPr/>
        </p:nvSpPr>
        <p:spPr>
          <a:xfrm>
            <a:off x="1444680" y="5349240"/>
            <a:ext cx="30625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20" b="1" u="none" strike="noStrike">
                <a:solidFill>
                  <a:srgbClr val="0F172A"/>
                </a:solidFill>
                <a:effectLst/>
                <a:uFillTx/>
                <a:latin typeface="Arial"/>
              </a:rPr>
              <a:t>Verification &amp; roadmap</a:t>
            </a:r>
            <a:endParaRPr lang="en-PH" sz="1420" b="0" u="none" strike="noStrike">
              <a:solidFill>
                <a:srgbClr val="000000"/>
              </a:solidFill>
              <a:effectLst/>
              <a:uFillTx/>
              <a:latin typeface="Arial"/>
            </a:endParaRPr>
          </a:p>
        </p:txBody>
      </p:sp>
      <p:sp>
        <p:nvSpPr>
          <p:cNvPr id="115" name="TextBox 32"/>
          <p:cNvSpPr/>
          <p:nvPr/>
        </p:nvSpPr>
        <p:spPr>
          <a:xfrm>
            <a:off x="1444680" y="5660280"/>
            <a:ext cx="30625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0" u="none" strike="noStrike">
                <a:solidFill>
                  <a:srgbClr val="475569"/>
                </a:solidFill>
                <a:effectLst/>
                <a:uFillTx/>
                <a:latin typeface="Arial"/>
              </a:rPr>
              <a:t>Test results, documented defects, limitations and next steps.</a:t>
            </a:r>
            <a:endParaRPr lang="en-PH" sz="880" b="0" u="none" strike="noStrike">
              <a:solidFill>
                <a:srgbClr val="000000"/>
              </a:solidFill>
              <a:effectLst/>
              <a:uFillTx/>
              <a:latin typeface="Arial"/>
            </a:endParaRPr>
          </a:p>
        </p:txBody>
      </p:sp>
      <p:sp>
        <p:nvSpPr>
          <p:cNvPr id="116" name="TextBox 33"/>
          <p:cNvSpPr/>
          <p:nvPr/>
        </p:nvSpPr>
        <p:spPr>
          <a:xfrm>
            <a:off x="10454400" y="5431680"/>
            <a:ext cx="959400" cy="27360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000" b="1" u="none" strike="noStrike">
                <a:solidFill>
                  <a:srgbClr val="AD4D05"/>
                </a:solidFill>
                <a:effectLst/>
                <a:uFillTx/>
                <a:latin typeface="Arial"/>
              </a:rPr>
              <a:t>34–35</a:t>
            </a:r>
            <a:endParaRPr lang="en-PH" sz="1000" b="0" u="none" strike="noStrike">
              <a:solidFill>
                <a:srgbClr val="000000"/>
              </a:solidFill>
              <a:effectLst/>
              <a:uFillTx/>
              <a:latin typeface="Arial"/>
            </a:endParaRPr>
          </a:p>
        </p:txBody>
      </p:sp>
      <p:sp>
        <p:nvSpPr>
          <p:cNvPr id="117" name="TextBox 34"/>
          <p:cNvSpPr/>
          <p:nvPr/>
        </p:nvSpPr>
        <p:spPr>
          <a:xfrm>
            <a:off x="567000" y="61448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0" i="1" u="none" strike="noStrike">
                <a:solidFill>
                  <a:srgbClr val="64748B"/>
                </a:solidFill>
                <a:effectLst/>
                <a:uFillTx/>
                <a:latin typeface="Arial"/>
              </a:rPr>
              <a:t>Evidence policy: no placeholder screenshots, no invented metrics, no claim that a module works when it is unrouted or crashing.</a:t>
            </a:r>
            <a:endParaRPr lang="en-PH" sz="8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119"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120"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01 · EXECUTIVE SUMMARY</a:t>
            </a:r>
            <a:endParaRPr lang="en-PH" sz="880" b="0" u="none" strike="noStrike">
              <a:solidFill>
                <a:srgbClr val="000000"/>
              </a:solidFill>
              <a:effectLst/>
              <a:uFillTx/>
              <a:latin typeface="Arial"/>
            </a:endParaRPr>
          </a:p>
        </p:txBody>
      </p:sp>
      <p:sp>
        <p:nvSpPr>
          <p:cNvPr id="121"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A working desktop SIS with a real vision pipeline</a:t>
            </a:r>
            <a:endParaRPr lang="en-PH" sz="2450" b="0" u="none" strike="noStrike">
              <a:solidFill>
                <a:srgbClr val="000000"/>
              </a:solidFill>
              <a:effectLst/>
              <a:uFillTx/>
              <a:latin typeface="Arial"/>
            </a:endParaRPr>
          </a:p>
        </p:txBody>
      </p:sp>
      <p:sp>
        <p:nvSpPr>
          <p:cNvPr id="122"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Eight operational modules, 19 database tables and a fine-tuned detector — plus a short, documented list of gaps.</a:t>
            </a:r>
            <a:endParaRPr lang="en-PH" sz="1080" b="0" u="none" strike="noStrike">
              <a:solidFill>
                <a:srgbClr val="000000"/>
              </a:solidFill>
              <a:effectLst/>
              <a:uFillTx/>
              <a:latin typeface="Arial"/>
            </a:endParaRPr>
          </a:p>
        </p:txBody>
      </p:sp>
      <p:sp>
        <p:nvSpPr>
          <p:cNvPr id="123"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24"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125"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03 / 35</a:t>
            </a:r>
            <a:endParaRPr lang="en-PH" sz="780" b="0" u="none" strike="noStrike">
              <a:solidFill>
                <a:srgbClr val="000000"/>
              </a:solidFill>
              <a:effectLst/>
              <a:uFillTx/>
              <a:latin typeface="Arial"/>
            </a:endParaRPr>
          </a:p>
        </p:txBody>
      </p:sp>
      <p:sp>
        <p:nvSpPr>
          <p:cNvPr id="126" name="Rounded Rectangle 9"/>
          <p:cNvSpPr/>
          <p:nvPr/>
        </p:nvSpPr>
        <p:spPr>
          <a:xfrm>
            <a:off x="567000" y="1481400"/>
            <a:ext cx="2669400" cy="116964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7" name="Rectangle 10"/>
          <p:cNvSpPr/>
          <p:nvPr/>
        </p:nvSpPr>
        <p:spPr>
          <a:xfrm>
            <a:off x="567000" y="1591200"/>
            <a:ext cx="54000" cy="95040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128" name="TextBox 11"/>
          <p:cNvSpPr/>
          <p:nvPr/>
        </p:nvSpPr>
        <p:spPr>
          <a:xfrm>
            <a:off x="749880" y="1645920"/>
            <a:ext cx="234936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45,978</a:t>
            </a:r>
            <a:endParaRPr lang="en-PH" sz="2500" b="0" u="none" strike="noStrike">
              <a:solidFill>
                <a:srgbClr val="000000"/>
              </a:solidFill>
              <a:effectLst/>
              <a:uFillTx/>
              <a:latin typeface="Arial"/>
            </a:endParaRPr>
          </a:p>
        </p:txBody>
      </p:sp>
      <p:sp>
        <p:nvSpPr>
          <p:cNvPr id="129" name="TextBox 12"/>
          <p:cNvSpPr/>
          <p:nvPr/>
        </p:nvSpPr>
        <p:spPr>
          <a:xfrm>
            <a:off x="749880" y="2121480"/>
            <a:ext cx="234936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PYTHON LOC</a:t>
            </a:r>
            <a:endParaRPr lang="en-PH" sz="839" b="0" u="none" strike="noStrike">
              <a:solidFill>
                <a:srgbClr val="000000"/>
              </a:solidFill>
              <a:effectLst/>
              <a:uFillTx/>
              <a:latin typeface="Arial"/>
            </a:endParaRPr>
          </a:p>
        </p:txBody>
      </p:sp>
      <p:sp>
        <p:nvSpPr>
          <p:cNvPr id="130" name="TextBox 13"/>
          <p:cNvSpPr/>
          <p:nvPr/>
        </p:nvSpPr>
        <p:spPr>
          <a:xfrm>
            <a:off x="749880" y="2377440"/>
            <a:ext cx="234936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122 first-party files, measured with wc -l</a:t>
            </a:r>
            <a:endParaRPr lang="en-PH" sz="860" b="0" u="none" strike="noStrike">
              <a:solidFill>
                <a:srgbClr val="000000"/>
              </a:solidFill>
              <a:effectLst/>
              <a:uFillTx/>
              <a:latin typeface="Arial"/>
            </a:endParaRPr>
          </a:p>
        </p:txBody>
      </p:sp>
      <p:sp>
        <p:nvSpPr>
          <p:cNvPr id="131" name="Rounded Rectangle 14"/>
          <p:cNvSpPr/>
          <p:nvPr/>
        </p:nvSpPr>
        <p:spPr>
          <a:xfrm>
            <a:off x="3364920" y="1481400"/>
            <a:ext cx="2669400" cy="116964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2" name="Rectangle 15"/>
          <p:cNvSpPr/>
          <p:nvPr/>
        </p:nvSpPr>
        <p:spPr>
          <a:xfrm>
            <a:off x="3364920" y="1591200"/>
            <a:ext cx="54000" cy="95040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133" name="TextBox 16"/>
          <p:cNvSpPr/>
          <p:nvPr/>
        </p:nvSpPr>
        <p:spPr>
          <a:xfrm>
            <a:off x="3547800" y="1645920"/>
            <a:ext cx="234936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19</a:t>
            </a:r>
            <a:endParaRPr lang="en-PH" sz="2500" b="0" u="none" strike="noStrike">
              <a:solidFill>
                <a:srgbClr val="000000"/>
              </a:solidFill>
              <a:effectLst/>
              <a:uFillTx/>
              <a:latin typeface="Arial"/>
            </a:endParaRPr>
          </a:p>
        </p:txBody>
      </p:sp>
      <p:sp>
        <p:nvSpPr>
          <p:cNvPr id="134" name="TextBox 17"/>
          <p:cNvSpPr/>
          <p:nvPr/>
        </p:nvSpPr>
        <p:spPr>
          <a:xfrm>
            <a:off x="3547800" y="2121480"/>
            <a:ext cx="234936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DATABASE TABLES</a:t>
            </a:r>
            <a:endParaRPr lang="en-PH" sz="839" b="0" u="none" strike="noStrike">
              <a:solidFill>
                <a:srgbClr val="000000"/>
              </a:solidFill>
              <a:effectLst/>
              <a:uFillTx/>
              <a:latin typeface="Arial"/>
            </a:endParaRPr>
          </a:p>
        </p:txBody>
      </p:sp>
      <p:sp>
        <p:nvSpPr>
          <p:cNvPr id="135" name="TextBox 18"/>
          <p:cNvSpPr/>
          <p:nvPr/>
        </p:nvSpPr>
        <p:spPr>
          <a:xfrm>
            <a:off x="3547800" y="2377440"/>
            <a:ext cx="234936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230 columns, 33 foreign keys, InnoDB</a:t>
            </a:r>
            <a:endParaRPr lang="en-PH" sz="860" b="0" u="none" strike="noStrike">
              <a:solidFill>
                <a:srgbClr val="000000"/>
              </a:solidFill>
              <a:effectLst/>
              <a:uFillTx/>
              <a:latin typeface="Arial"/>
            </a:endParaRPr>
          </a:p>
        </p:txBody>
      </p:sp>
      <p:sp>
        <p:nvSpPr>
          <p:cNvPr id="136" name="Rounded Rectangle 19"/>
          <p:cNvSpPr/>
          <p:nvPr/>
        </p:nvSpPr>
        <p:spPr>
          <a:xfrm>
            <a:off x="6163200" y="1481400"/>
            <a:ext cx="2669400" cy="116964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7" name="Rectangle 20"/>
          <p:cNvSpPr/>
          <p:nvPr/>
        </p:nvSpPr>
        <p:spPr>
          <a:xfrm>
            <a:off x="6163200" y="1591200"/>
            <a:ext cx="54000" cy="95040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138" name="TextBox 21"/>
          <p:cNvSpPr/>
          <p:nvPr/>
        </p:nvSpPr>
        <p:spPr>
          <a:xfrm>
            <a:off x="6346080" y="1645920"/>
            <a:ext cx="234936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2,551</a:t>
            </a:r>
            <a:endParaRPr lang="en-PH" sz="2500" b="0" u="none" strike="noStrike">
              <a:solidFill>
                <a:srgbClr val="000000"/>
              </a:solidFill>
              <a:effectLst/>
              <a:uFillTx/>
              <a:latin typeface="Arial"/>
            </a:endParaRPr>
          </a:p>
        </p:txBody>
      </p:sp>
      <p:sp>
        <p:nvSpPr>
          <p:cNvPr id="139" name="TextBox 22"/>
          <p:cNvSpPr/>
          <p:nvPr/>
        </p:nvSpPr>
        <p:spPr>
          <a:xfrm>
            <a:off x="6346080" y="2121480"/>
            <a:ext cx="234936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DATASET IMAGES</a:t>
            </a:r>
            <a:endParaRPr lang="en-PH" sz="839" b="0" u="none" strike="noStrike">
              <a:solidFill>
                <a:srgbClr val="000000"/>
              </a:solidFill>
              <a:effectLst/>
              <a:uFillTx/>
              <a:latin typeface="Arial"/>
            </a:endParaRPr>
          </a:p>
        </p:txBody>
      </p:sp>
      <p:sp>
        <p:nvSpPr>
          <p:cNvPr id="140" name="TextBox 23"/>
          <p:cNvSpPr/>
          <p:nvPr/>
        </p:nvSpPr>
        <p:spPr>
          <a:xfrm>
            <a:off x="6346080" y="2377440"/>
            <a:ext cx="234936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2,515 barcode boxes across 8 variants</a:t>
            </a:r>
            <a:endParaRPr lang="en-PH" sz="860" b="0" u="none" strike="noStrike">
              <a:solidFill>
                <a:srgbClr val="000000"/>
              </a:solidFill>
              <a:effectLst/>
              <a:uFillTx/>
              <a:latin typeface="Arial"/>
            </a:endParaRPr>
          </a:p>
        </p:txBody>
      </p:sp>
      <p:sp>
        <p:nvSpPr>
          <p:cNvPr id="141" name="Rounded Rectangle 24"/>
          <p:cNvSpPr/>
          <p:nvPr/>
        </p:nvSpPr>
        <p:spPr>
          <a:xfrm>
            <a:off x="8961120" y="1481400"/>
            <a:ext cx="2669400" cy="116964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2" name="Rectangle 25"/>
          <p:cNvSpPr/>
          <p:nvPr/>
        </p:nvSpPr>
        <p:spPr>
          <a:xfrm>
            <a:off x="8961120" y="1591200"/>
            <a:ext cx="54000" cy="95040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143" name="TextBox 26"/>
          <p:cNvSpPr/>
          <p:nvPr/>
        </p:nvSpPr>
        <p:spPr>
          <a:xfrm>
            <a:off x="9144000" y="1645920"/>
            <a:ext cx="234936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531</a:t>
            </a:r>
            <a:endParaRPr lang="en-PH" sz="2500" b="0" u="none" strike="noStrike">
              <a:solidFill>
                <a:srgbClr val="000000"/>
              </a:solidFill>
              <a:effectLst/>
              <a:uFillTx/>
              <a:latin typeface="Arial"/>
            </a:endParaRPr>
          </a:p>
        </p:txBody>
      </p:sp>
      <p:sp>
        <p:nvSpPr>
          <p:cNvPr id="144" name="TextBox 27"/>
          <p:cNvSpPr/>
          <p:nvPr/>
        </p:nvSpPr>
        <p:spPr>
          <a:xfrm>
            <a:off x="9144000" y="2121480"/>
            <a:ext cx="234936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TESTS PASSING</a:t>
            </a:r>
            <a:endParaRPr lang="en-PH" sz="839" b="0" u="none" strike="noStrike">
              <a:solidFill>
                <a:srgbClr val="000000"/>
              </a:solidFill>
              <a:effectLst/>
              <a:uFillTx/>
              <a:latin typeface="Arial"/>
            </a:endParaRPr>
          </a:p>
        </p:txBody>
      </p:sp>
      <p:sp>
        <p:nvSpPr>
          <p:cNvPr id="145" name="TextBox 28"/>
          <p:cNvSpPr/>
          <p:nvPr/>
        </p:nvSpPr>
        <p:spPr>
          <a:xfrm>
            <a:off x="9144000" y="2377440"/>
            <a:ext cx="234936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of 553 collected; 22 post-scan failures</a:t>
            </a:r>
            <a:endParaRPr lang="en-PH" sz="860" b="0" u="none" strike="noStrike">
              <a:solidFill>
                <a:srgbClr val="000000"/>
              </a:solidFill>
              <a:effectLst/>
              <a:uFillTx/>
              <a:latin typeface="Arial"/>
            </a:endParaRPr>
          </a:p>
        </p:txBody>
      </p:sp>
      <p:sp>
        <p:nvSpPr>
          <p:cNvPr id="146" name="TextBox 29"/>
          <p:cNvSpPr/>
          <p:nvPr/>
        </p:nvSpPr>
        <p:spPr>
          <a:xfrm>
            <a:off x="567000" y="290772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WHAT IS PROVEN</a:t>
            </a:r>
            <a:endParaRPr lang="en-PH" sz="820" b="0" u="none" strike="noStrike">
              <a:solidFill>
                <a:srgbClr val="000000"/>
              </a:solidFill>
              <a:effectLst/>
              <a:uFillTx/>
              <a:latin typeface="Arial"/>
            </a:endParaRPr>
          </a:p>
        </p:txBody>
      </p:sp>
      <p:sp>
        <p:nvSpPr>
          <p:cNvPr id="147" name="TextBox 30"/>
          <p:cNvSpPr/>
          <p:nvPr/>
        </p:nvSpPr>
        <p:spPr>
          <a:xfrm>
            <a:off x="567000" y="3163680"/>
            <a:ext cx="5257080" cy="223956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700"/>
              </a:spcAft>
            </a:pPr>
            <a:r>
              <a:rPr lang="en-US" sz="1020" b="1" u="none" strike="noStrike">
                <a:solidFill>
                  <a:srgbClr val="F97316"/>
                </a:solidFill>
                <a:effectLst/>
                <a:uFillTx/>
                <a:latin typeface="Arial"/>
              </a:rPr>
              <a:t>•  </a:t>
            </a:r>
            <a:r>
              <a:rPr lang="en-US" sz="1020" b="0" u="none" strike="noStrike">
                <a:solidFill>
                  <a:srgbClr val="0F172A"/>
                </a:solidFill>
                <a:effectLst/>
                <a:uFillTx/>
                <a:latin typeface="Arial"/>
              </a:rPr>
              <a:t>Identity path: </a:t>
            </a:r>
            <a:r>
              <a:rPr lang="en-US" sz="1020" b="0" u="none" strike="noStrike">
                <a:solidFill>
                  <a:srgbClr val="475569"/>
                </a:solidFill>
                <a:effectLst/>
                <a:uFillTx/>
                <a:latin typeface="Arial"/>
              </a:rPr>
              <a:t>YOLO locates a card barcode, pyzbar decodes it and an exact SQL match resolves the student.</a:t>
            </a:r>
            <a:endParaRPr lang="en-PH" sz="1020" b="0" u="none" strike="noStrike">
              <a:solidFill>
                <a:srgbClr val="000000"/>
              </a:solidFill>
              <a:effectLst/>
              <a:uFillTx/>
              <a:latin typeface="Arial"/>
            </a:endParaRPr>
          </a:p>
          <a:p>
            <a:pPr defTabSz="457200">
              <a:lnSpc>
                <a:spcPct val="105000"/>
              </a:lnSpc>
              <a:spcAft>
                <a:spcPts val="700"/>
              </a:spcAft>
            </a:pPr>
            <a:r>
              <a:rPr lang="en-US" sz="1020" b="1" u="none" strike="noStrike">
                <a:solidFill>
                  <a:srgbClr val="F97316"/>
                </a:solidFill>
                <a:effectLst/>
                <a:uFillTx/>
                <a:latin typeface="Arial"/>
              </a:rPr>
              <a:t>•  </a:t>
            </a:r>
            <a:r>
              <a:rPr lang="en-US" sz="1020" b="0" u="none" strike="noStrike">
                <a:solidFill>
                  <a:srgbClr val="0F172A"/>
                </a:solidFill>
                <a:effectLst/>
                <a:uFillTx/>
                <a:latin typeface="Arial"/>
              </a:rPr>
              <a:t>Records: </a:t>
            </a:r>
            <a:r>
              <a:rPr lang="en-US" sz="1020" b="0" u="none" strike="noStrike">
                <a:solidFill>
                  <a:srgbClr val="475569"/>
                </a:solidFill>
                <a:effectLst/>
                <a:uFillTx/>
                <a:latin typeface="Arial"/>
              </a:rPr>
              <a:t>students, enrollment, subjects, assessment items, schedules and scan history persist in MySQL.</a:t>
            </a:r>
            <a:endParaRPr lang="en-PH" sz="1020" b="0" u="none" strike="noStrike">
              <a:solidFill>
                <a:srgbClr val="000000"/>
              </a:solidFill>
              <a:effectLst/>
              <a:uFillTx/>
              <a:latin typeface="Arial"/>
            </a:endParaRPr>
          </a:p>
          <a:p>
            <a:pPr defTabSz="457200">
              <a:lnSpc>
                <a:spcPct val="105000"/>
              </a:lnSpc>
              <a:spcAft>
                <a:spcPts val="700"/>
              </a:spcAft>
            </a:pPr>
            <a:r>
              <a:rPr lang="en-US" sz="1020" b="1" u="none" strike="noStrike">
                <a:solidFill>
                  <a:srgbClr val="F97316"/>
                </a:solidFill>
                <a:effectLst/>
                <a:uFillTx/>
                <a:latin typeface="Arial"/>
              </a:rPr>
              <a:t>•  </a:t>
            </a:r>
            <a:r>
              <a:rPr lang="en-US" sz="1020" b="0" u="none" strike="noStrike">
                <a:solidFill>
                  <a:srgbClr val="0F172A"/>
                </a:solidFill>
                <a:effectLst/>
                <a:uFillTx/>
                <a:latin typeface="Arial"/>
              </a:rPr>
              <a:t>Documents: </a:t>
            </a:r>
            <a:r>
              <a:rPr lang="en-US" sz="1020" b="0" u="none" strike="noStrike">
                <a:solidFill>
                  <a:srgbClr val="475569"/>
                </a:solidFill>
                <a:effectLst/>
                <a:uFillTx/>
                <a:latin typeface="Arial"/>
              </a:rPr>
              <a:t>Certificate of Matriculation, assessment reports, barcode reports and CSV scan logs.</a:t>
            </a:r>
            <a:endParaRPr lang="en-PH" sz="1020" b="0" u="none" strike="noStrike">
              <a:solidFill>
                <a:srgbClr val="000000"/>
              </a:solidFill>
              <a:effectLst/>
              <a:uFillTx/>
              <a:latin typeface="Arial"/>
            </a:endParaRPr>
          </a:p>
          <a:p>
            <a:pPr defTabSz="457200">
              <a:lnSpc>
                <a:spcPct val="105000"/>
              </a:lnSpc>
              <a:spcAft>
                <a:spcPts val="700"/>
              </a:spcAft>
            </a:pPr>
            <a:r>
              <a:rPr lang="en-US" sz="1020" b="1" u="none" strike="noStrike">
                <a:solidFill>
                  <a:srgbClr val="F97316"/>
                </a:solidFill>
                <a:effectLst/>
                <a:uFillTx/>
                <a:latin typeface="Arial"/>
              </a:rPr>
              <a:t>•  </a:t>
            </a:r>
            <a:r>
              <a:rPr lang="en-US" sz="1020" b="0" u="none" strike="noStrike">
                <a:solidFill>
                  <a:srgbClr val="0F172A"/>
                </a:solidFill>
                <a:effectLst/>
                <a:uFillTx/>
                <a:latin typeface="Arial"/>
              </a:rPr>
              <a:t>Honesty: </a:t>
            </a:r>
            <a:r>
              <a:rPr lang="en-US" sz="1020" b="0" u="none" strike="noStrike">
                <a:solidFill>
                  <a:srgbClr val="475569"/>
                </a:solidFill>
                <a:effectLst/>
                <a:uFillTx/>
                <a:latin typeface="Arial"/>
              </a:rPr>
              <a:t>unknown, duplicate and multi-card reads are distinct states, not false successes.</a:t>
            </a:r>
            <a:endParaRPr lang="en-PH" sz="1020" b="0" u="none" strike="noStrike">
              <a:solidFill>
                <a:srgbClr val="000000"/>
              </a:solidFill>
              <a:effectLst/>
              <a:uFillTx/>
              <a:latin typeface="Arial"/>
            </a:endParaRPr>
          </a:p>
        </p:txBody>
      </p:sp>
      <p:sp>
        <p:nvSpPr>
          <p:cNvPr id="148" name="TextBox 31"/>
          <p:cNvSpPr/>
          <p:nvPr/>
        </p:nvSpPr>
        <p:spPr>
          <a:xfrm>
            <a:off x="6282000" y="290772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WHAT IS NOT</a:t>
            </a:r>
            <a:endParaRPr lang="en-PH" sz="820" b="0" u="none" strike="noStrike">
              <a:solidFill>
                <a:srgbClr val="000000"/>
              </a:solidFill>
              <a:effectLst/>
              <a:uFillTx/>
              <a:latin typeface="Arial"/>
            </a:endParaRPr>
          </a:p>
        </p:txBody>
      </p:sp>
      <p:sp>
        <p:nvSpPr>
          <p:cNvPr id="149" name="Rounded Rectangle 32"/>
          <p:cNvSpPr/>
          <p:nvPr/>
        </p:nvSpPr>
        <p:spPr>
          <a:xfrm>
            <a:off x="6282000" y="3163680"/>
            <a:ext cx="5348520" cy="2486520"/>
          </a:xfrm>
          <a:prstGeom prst="roundRect">
            <a:avLst>
              <a:gd name="adj" fmla="val 8000"/>
            </a:avLst>
          </a:prstGeom>
          <a:solidFill>
            <a:srgbClr val="FEE2E2"/>
          </a:solidFill>
          <a:ln w="10160">
            <a:solidFill>
              <a:srgbClr val="FECAC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0" name="TextBox 33"/>
          <p:cNvSpPr/>
          <p:nvPr/>
        </p:nvSpPr>
        <p:spPr>
          <a:xfrm>
            <a:off x="6464880" y="3310200"/>
            <a:ext cx="4982760" cy="223956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700"/>
              </a:spcAft>
            </a:pPr>
            <a:r>
              <a:rPr lang="en-US" sz="1000" b="1" u="none" strike="noStrike">
                <a:solidFill>
                  <a:srgbClr val="DC2626"/>
                </a:solidFill>
                <a:effectLst/>
                <a:uFillTx/>
                <a:latin typeface="Arial"/>
              </a:rPr>
              <a:t>•  </a:t>
            </a:r>
            <a:r>
              <a:rPr lang="en-US" sz="1000" b="0" u="none" strike="noStrike">
                <a:solidFill>
                  <a:srgbClr val="0F172A"/>
                </a:solidFill>
                <a:effectLst/>
                <a:uFillTx/>
                <a:latin typeface="Arial"/>
              </a:rPr>
              <a:t>No authentication: </a:t>
            </a:r>
            <a:r>
              <a:rPr lang="en-US" sz="1000" b="0" u="none" strike="noStrike">
                <a:solidFill>
                  <a:srgbClr val="475569"/>
                </a:solidFill>
                <a:effectLst/>
                <a:uFillTx/>
                <a:latin typeface="Arial"/>
              </a:rPr>
              <a:t>logout is a stub and the app opens straight into the dashboard.</a:t>
            </a:r>
            <a:endParaRPr lang="en-PH" sz="1000" b="0" u="none" strike="noStrike">
              <a:solidFill>
                <a:srgbClr val="000000"/>
              </a:solidFill>
              <a:effectLst/>
              <a:uFillTx/>
              <a:latin typeface="Arial"/>
            </a:endParaRPr>
          </a:p>
          <a:p>
            <a:pPr defTabSz="457200">
              <a:lnSpc>
                <a:spcPct val="105000"/>
              </a:lnSpc>
              <a:spcAft>
                <a:spcPts val="700"/>
              </a:spcAft>
            </a:pPr>
            <a:r>
              <a:rPr lang="en-US" sz="1000" b="1" u="none" strike="noStrike">
                <a:solidFill>
                  <a:srgbClr val="DC2626"/>
                </a:solidFill>
                <a:effectLst/>
                <a:uFillTx/>
                <a:latin typeface="Arial"/>
              </a:rPr>
              <a:t>•  </a:t>
            </a:r>
            <a:r>
              <a:rPr lang="en-US" sz="1000" b="0" u="none" strike="noStrike">
                <a:solidFill>
                  <a:srgbClr val="0F172A"/>
                </a:solidFill>
                <a:effectLst/>
                <a:uFillTx/>
                <a:latin typeface="Arial"/>
              </a:rPr>
              <a:t>Generator not routed: </a:t>
            </a:r>
            <a:r>
              <a:rPr lang="en-US" sz="1000" b="0" u="none" strike="noStrike">
                <a:solidFill>
                  <a:srgbClr val="475569"/>
                </a:solidFill>
                <a:effectLst/>
                <a:uFillTx/>
                <a:latin typeface="Arial"/>
              </a:rPr>
              <a:t>BarcodeGeneratorPage exists but no sidebar route reaches it.</a:t>
            </a:r>
            <a:endParaRPr lang="en-PH" sz="1000" b="0" u="none" strike="noStrike">
              <a:solidFill>
                <a:srgbClr val="000000"/>
              </a:solidFill>
              <a:effectLst/>
              <a:uFillTx/>
              <a:latin typeface="Arial"/>
            </a:endParaRPr>
          </a:p>
          <a:p>
            <a:pPr defTabSz="457200">
              <a:lnSpc>
                <a:spcPct val="105000"/>
              </a:lnSpc>
              <a:spcAft>
                <a:spcPts val="700"/>
              </a:spcAft>
            </a:pPr>
            <a:r>
              <a:rPr lang="en-US" sz="1000" b="1" u="none" strike="noStrike">
                <a:solidFill>
                  <a:srgbClr val="DC2626"/>
                </a:solidFill>
                <a:effectLst/>
                <a:uFillTx/>
                <a:latin typeface="Arial"/>
              </a:rPr>
              <a:t>•  </a:t>
            </a:r>
            <a:r>
              <a:rPr lang="en-US" sz="1000" b="0" u="none" strike="noStrike">
                <a:solidFill>
                  <a:srgbClr val="0F172A"/>
                </a:solidFill>
                <a:effectLst/>
                <a:uFillTx/>
                <a:latin typeface="Arial"/>
              </a:rPr>
              <a:t>Two UI defects: </a:t>
            </a:r>
            <a:r>
              <a:rPr lang="en-US" sz="1000" b="0" u="none" strike="noStrike">
                <a:solidFill>
                  <a:srgbClr val="475569"/>
                </a:solidFill>
                <a:effectLst/>
                <a:uFillTx/>
                <a:latin typeface="Arial"/>
              </a:rPr>
              <a:t>dashboard student table and ID-card preview dialog both raise exceptions.</a:t>
            </a:r>
            <a:endParaRPr lang="en-PH" sz="1000" b="0" u="none" strike="noStrike">
              <a:solidFill>
                <a:srgbClr val="000000"/>
              </a:solidFill>
              <a:effectLst/>
              <a:uFillTx/>
              <a:latin typeface="Arial"/>
            </a:endParaRPr>
          </a:p>
          <a:p>
            <a:pPr defTabSz="457200">
              <a:lnSpc>
                <a:spcPct val="105000"/>
              </a:lnSpc>
              <a:spcAft>
                <a:spcPts val="700"/>
              </a:spcAft>
            </a:pPr>
            <a:r>
              <a:rPr lang="en-US" sz="1000" b="1" u="none" strike="noStrike">
                <a:solidFill>
                  <a:srgbClr val="DC2626"/>
                </a:solidFill>
                <a:effectLst/>
                <a:uFillTx/>
                <a:latin typeface="Arial"/>
              </a:rPr>
              <a:t>•  </a:t>
            </a:r>
            <a:r>
              <a:rPr lang="en-US" sz="1000" b="0" u="none" strike="noStrike">
                <a:solidFill>
                  <a:srgbClr val="0F172A"/>
                </a:solidFill>
                <a:effectLst/>
                <a:uFillTx/>
                <a:latin typeface="Arial"/>
              </a:rPr>
              <a:t>Core dataset has no test split: </a:t>
            </a:r>
            <a:r>
              <a:rPr lang="en-US" sz="1000" b="0" u="none" strike="noStrike">
                <a:solidFill>
                  <a:srgbClr val="475569"/>
                </a:solidFill>
                <a:effectLst/>
                <a:uFillTx/>
                <a:latin typeface="Arial"/>
              </a:rPr>
              <a:t>the active model was selected on validation only.</a:t>
            </a:r>
            <a:endParaRPr lang="en-PH" sz="1000" b="0" u="none" strike="noStrike">
              <a:solidFill>
                <a:srgbClr val="000000"/>
              </a:solidFill>
              <a:effectLst/>
              <a:uFillTx/>
              <a:latin typeface="Arial"/>
            </a:endParaRPr>
          </a:p>
        </p:txBody>
      </p:sp>
      <p:sp>
        <p:nvSpPr>
          <p:cNvPr id="151" name="TextBox 34"/>
          <p:cNvSpPr/>
          <p:nvPr/>
        </p:nvSpPr>
        <p:spPr>
          <a:xfrm>
            <a:off x="567000" y="5888880"/>
            <a:ext cx="109720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20" b="1" u="none" strike="noStrike">
                <a:solidFill>
                  <a:srgbClr val="AD4D05"/>
                </a:solidFill>
                <a:effectLst/>
                <a:uFillTx/>
                <a:latin typeface="Arial"/>
              </a:rPr>
              <a:t>Bottom line: the core identification and records workflow is real and demonstrable; the hardening work is identifiable and finite.</a:t>
            </a:r>
            <a:endParaRPr lang="en-PH" sz="9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153"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154"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01 · PROBLEM</a:t>
            </a:r>
            <a:endParaRPr lang="en-PH" sz="880" b="0" u="none" strike="noStrike">
              <a:solidFill>
                <a:srgbClr val="000000"/>
              </a:solidFill>
              <a:effectLst/>
              <a:uFillTx/>
              <a:latin typeface="Arial"/>
            </a:endParaRPr>
          </a:p>
        </p:txBody>
      </p:sp>
      <p:sp>
        <p:nvSpPr>
          <p:cNvPr id="155"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Why a barcode-first student system</a:t>
            </a:r>
            <a:endParaRPr lang="en-PH" sz="2450" b="0" u="none" strike="noStrike">
              <a:solidFill>
                <a:srgbClr val="000000"/>
              </a:solidFill>
              <a:effectLst/>
              <a:uFillTx/>
              <a:latin typeface="Arial"/>
            </a:endParaRPr>
          </a:p>
        </p:txBody>
      </p:sp>
      <p:sp>
        <p:nvSpPr>
          <p:cNvPr id="156"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Three operational frictions the project targets: slow identity checks, fragmented records and document assembly by hand.</a:t>
            </a:r>
            <a:endParaRPr lang="en-PH" sz="1080" b="0" u="none" strike="noStrike">
              <a:solidFill>
                <a:srgbClr val="000000"/>
              </a:solidFill>
              <a:effectLst/>
              <a:uFillTx/>
              <a:latin typeface="Arial"/>
            </a:endParaRPr>
          </a:p>
        </p:txBody>
      </p:sp>
      <p:sp>
        <p:nvSpPr>
          <p:cNvPr id="157"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58"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159"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04 / 35</a:t>
            </a:r>
            <a:endParaRPr lang="en-PH" sz="780" b="0" u="none" strike="noStrike">
              <a:solidFill>
                <a:srgbClr val="000000"/>
              </a:solidFill>
              <a:effectLst/>
              <a:uFillTx/>
              <a:latin typeface="Arial"/>
            </a:endParaRPr>
          </a:p>
        </p:txBody>
      </p:sp>
      <p:sp>
        <p:nvSpPr>
          <p:cNvPr id="160" name="Rounded Rectangle 9"/>
          <p:cNvSpPr/>
          <p:nvPr/>
        </p:nvSpPr>
        <p:spPr>
          <a:xfrm>
            <a:off x="567000" y="1517760"/>
            <a:ext cx="3565440" cy="4132440"/>
          </a:xfrm>
          <a:prstGeom prst="roundRect">
            <a:avLst>
              <a:gd name="adj" fmla="val 8000"/>
            </a:avLst>
          </a:prstGeom>
          <a:solidFill>
            <a:srgbClr val="F8FAFC"/>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1" name="TextBox 10"/>
          <p:cNvSpPr/>
          <p:nvPr/>
        </p:nvSpPr>
        <p:spPr>
          <a:xfrm>
            <a:off x="804600" y="1682640"/>
            <a:ext cx="502200" cy="410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F97316"/>
                </a:solidFill>
                <a:effectLst/>
                <a:uFillTx/>
                <a:latin typeface="Arial"/>
              </a:rPr>
              <a:t>01</a:t>
            </a:r>
            <a:endParaRPr lang="en-PH" sz="2000" b="0" u="none" strike="noStrike">
              <a:solidFill>
                <a:srgbClr val="000000"/>
              </a:solidFill>
              <a:effectLst/>
              <a:uFillTx/>
              <a:latin typeface="Arial"/>
            </a:endParaRPr>
          </a:p>
        </p:txBody>
      </p:sp>
      <p:sp>
        <p:nvSpPr>
          <p:cNvPr id="162" name="TextBox 11"/>
          <p:cNvSpPr/>
          <p:nvPr/>
        </p:nvSpPr>
        <p:spPr>
          <a:xfrm>
            <a:off x="804600" y="2157840"/>
            <a:ext cx="3089880" cy="639360"/>
          </a:xfrm>
          <a:prstGeom prst="rect">
            <a:avLst/>
          </a:prstGeom>
          <a:noFill/>
          <a:ln w="0">
            <a:noFill/>
          </a:ln>
        </p:spPr>
        <p:style>
          <a:lnRef idx="0"/>
          <a:fillRef idx="0"/>
          <a:effectRef idx="0"/>
          <a:fontRef idx="minor"/>
        </p:style>
        <p:txBody>
          <a:bodyPr lIns="0" tIns="0" rIns="0" bIns="0" anchor="t">
            <a:spAutoFit/>
          </a:bodyPr>
          <a:p>
            <a:pPr defTabSz="457200">
              <a:lnSpc>
                <a:spcPct val="96000"/>
              </a:lnSpc>
            </a:pPr>
            <a:r>
              <a:rPr lang="en-US" sz="1450" b="1" u="none" strike="noStrike">
                <a:solidFill>
                  <a:srgbClr val="0F172A"/>
                </a:solidFill>
                <a:effectLst/>
                <a:uFillTx/>
                <a:latin typeface="Arial"/>
              </a:rPr>
              <a:t>Identity checks are manual</a:t>
            </a:r>
            <a:endParaRPr lang="en-PH" sz="1450" b="0" u="none" strike="noStrike">
              <a:solidFill>
                <a:srgbClr val="000000"/>
              </a:solidFill>
              <a:effectLst/>
              <a:uFillTx/>
              <a:latin typeface="Arial"/>
            </a:endParaRPr>
          </a:p>
        </p:txBody>
      </p:sp>
      <p:sp>
        <p:nvSpPr>
          <p:cNvPr id="163" name="TextBox 12"/>
          <p:cNvSpPr/>
          <p:nvPr/>
        </p:nvSpPr>
        <p:spPr>
          <a:xfrm>
            <a:off x="804600" y="2834640"/>
            <a:ext cx="3089880" cy="135252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1020" b="0" u="none" strike="noStrike">
                <a:solidFill>
                  <a:srgbClr val="475569"/>
                </a:solidFill>
                <a:effectLst/>
                <a:uFillTx/>
                <a:latin typeface="Arial"/>
              </a:rPr>
              <a:t>A registrar compares a printed name and reference against a card. It is slow at a counter and easy to misread when cards look alike.</a:t>
            </a:r>
            <a:endParaRPr lang="en-PH" sz="1020" b="0" u="none" strike="noStrike">
              <a:solidFill>
                <a:srgbClr val="000000"/>
              </a:solidFill>
              <a:effectLst/>
              <a:uFillTx/>
              <a:latin typeface="Arial"/>
            </a:endParaRPr>
          </a:p>
        </p:txBody>
      </p:sp>
      <p:sp>
        <p:nvSpPr>
          <p:cNvPr id="164" name="Rectangle 13"/>
          <p:cNvSpPr/>
          <p:nvPr/>
        </p:nvSpPr>
        <p:spPr>
          <a:xfrm>
            <a:off x="804600" y="4316040"/>
            <a:ext cx="307152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65" name="TextBox 14"/>
          <p:cNvSpPr/>
          <p:nvPr/>
        </p:nvSpPr>
        <p:spPr>
          <a:xfrm>
            <a:off x="804600" y="4443840"/>
            <a:ext cx="3071520" cy="95940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950" b="1" u="none" strike="noStrike">
                <a:solidFill>
                  <a:srgbClr val="AD4D05"/>
                </a:solidFill>
                <a:effectLst/>
                <a:uFillTx/>
                <a:latin typeface="Arial"/>
              </a:rPr>
              <a:t>Target: locate the symbol, decode the payload, resolve a database row.</a:t>
            </a:r>
            <a:endParaRPr lang="en-PH" sz="950" b="0" u="none" strike="noStrike">
              <a:solidFill>
                <a:srgbClr val="000000"/>
              </a:solidFill>
              <a:effectLst/>
              <a:uFillTx/>
              <a:latin typeface="Arial"/>
            </a:endParaRPr>
          </a:p>
        </p:txBody>
      </p:sp>
      <p:sp>
        <p:nvSpPr>
          <p:cNvPr id="166" name="Rounded Rectangle 15"/>
          <p:cNvSpPr/>
          <p:nvPr/>
        </p:nvSpPr>
        <p:spPr>
          <a:xfrm>
            <a:off x="4316040" y="1517760"/>
            <a:ext cx="3565440" cy="4132440"/>
          </a:xfrm>
          <a:prstGeom prst="roundRect">
            <a:avLst>
              <a:gd name="adj" fmla="val 8000"/>
            </a:avLst>
          </a:prstGeom>
          <a:solidFill>
            <a:srgbClr val="F8FAFC"/>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7" name="TextBox 16"/>
          <p:cNvSpPr/>
          <p:nvPr/>
        </p:nvSpPr>
        <p:spPr>
          <a:xfrm>
            <a:off x="4553640" y="1682640"/>
            <a:ext cx="502200" cy="410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F97316"/>
                </a:solidFill>
                <a:effectLst/>
                <a:uFillTx/>
                <a:latin typeface="Arial"/>
              </a:rPr>
              <a:t>02</a:t>
            </a:r>
            <a:endParaRPr lang="en-PH" sz="2000" b="0" u="none" strike="noStrike">
              <a:solidFill>
                <a:srgbClr val="000000"/>
              </a:solidFill>
              <a:effectLst/>
              <a:uFillTx/>
              <a:latin typeface="Arial"/>
            </a:endParaRPr>
          </a:p>
        </p:txBody>
      </p:sp>
      <p:sp>
        <p:nvSpPr>
          <p:cNvPr id="168" name="TextBox 17"/>
          <p:cNvSpPr/>
          <p:nvPr/>
        </p:nvSpPr>
        <p:spPr>
          <a:xfrm>
            <a:off x="4553640" y="2157840"/>
            <a:ext cx="3089880" cy="639360"/>
          </a:xfrm>
          <a:prstGeom prst="rect">
            <a:avLst/>
          </a:prstGeom>
          <a:noFill/>
          <a:ln w="0">
            <a:noFill/>
          </a:ln>
        </p:spPr>
        <p:style>
          <a:lnRef idx="0"/>
          <a:fillRef idx="0"/>
          <a:effectRef idx="0"/>
          <a:fontRef idx="minor"/>
        </p:style>
        <p:txBody>
          <a:bodyPr lIns="0" tIns="0" rIns="0" bIns="0" anchor="t">
            <a:spAutoFit/>
          </a:bodyPr>
          <a:p>
            <a:pPr defTabSz="457200">
              <a:lnSpc>
                <a:spcPct val="96000"/>
              </a:lnSpc>
            </a:pPr>
            <a:r>
              <a:rPr lang="en-US" sz="1450" b="1" u="none" strike="noStrike">
                <a:solidFill>
                  <a:srgbClr val="0F172A"/>
                </a:solidFill>
                <a:effectLst/>
                <a:uFillTx/>
                <a:latin typeface="Arial"/>
              </a:rPr>
              <a:t>Records live in separate places</a:t>
            </a:r>
            <a:endParaRPr lang="en-PH" sz="1450" b="0" u="none" strike="noStrike">
              <a:solidFill>
                <a:srgbClr val="000000"/>
              </a:solidFill>
              <a:effectLst/>
              <a:uFillTx/>
              <a:latin typeface="Arial"/>
            </a:endParaRPr>
          </a:p>
        </p:txBody>
      </p:sp>
      <p:sp>
        <p:nvSpPr>
          <p:cNvPr id="169" name="TextBox 18"/>
          <p:cNvSpPr/>
          <p:nvPr/>
        </p:nvSpPr>
        <p:spPr>
          <a:xfrm>
            <a:off x="4553640" y="2834640"/>
            <a:ext cx="3089880" cy="135252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1020" b="0" u="none" strike="noStrike">
                <a:solidFill>
                  <a:srgbClr val="475569"/>
                </a:solidFill>
                <a:effectLst/>
                <a:uFillTx/>
                <a:latin typeface="Arial"/>
              </a:rPr>
              <a:t>Student details, subject lines, fees, schedules and scan history are usually kept in spreadsheets or paper forms, so one fact has several versions.</a:t>
            </a:r>
            <a:endParaRPr lang="en-PH" sz="1020" b="0" u="none" strike="noStrike">
              <a:solidFill>
                <a:srgbClr val="000000"/>
              </a:solidFill>
              <a:effectLst/>
              <a:uFillTx/>
              <a:latin typeface="Arial"/>
            </a:endParaRPr>
          </a:p>
        </p:txBody>
      </p:sp>
      <p:sp>
        <p:nvSpPr>
          <p:cNvPr id="170" name="Rectangle 19"/>
          <p:cNvSpPr/>
          <p:nvPr/>
        </p:nvSpPr>
        <p:spPr>
          <a:xfrm>
            <a:off x="4553640" y="4316040"/>
            <a:ext cx="307152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71" name="TextBox 20"/>
          <p:cNvSpPr/>
          <p:nvPr/>
        </p:nvSpPr>
        <p:spPr>
          <a:xfrm>
            <a:off x="4553640" y="4443840"/>
            <a:ext cx="3071520" cy="95940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950" b="1" u="none" strike="noStrike">
                <a:solidFill>
                  <a:srgbClr val="AD4D05"/>
                </a:solidFill>
                <a:effectLst/>
                <a:uFillTx/>
                <a:latin typeface="Arial"/>
              </a:rPr>
              <a:t>Target: 19 related tables with foreign keys and uniqueness constraints.</a:t>
            </a:r>
            <a:endParaRPr lang="en-PH" sz="950" b="0" u="none" strike="noStrike">
              <a:solidFill>
                <a:srgbClr val="000000"/>
              </a:solidFill>
              <a:effectLst/>
              <a:uFillTx/>
              <a:latin typeface="Arial"/>
            </a:endParaRPr>
          </a:p>
        </p:txBody>
      </p:sp>
      <p:sp>
        <p:nvSpPr>
          <p:cNvPr id="172" name="Rounded Rectangle 21"/>
          <p:cNvSpPr/>
          <p:nvPr/>
        </p:nvSpPr>
        <p:spPr>
          <a:xfrm>
            <a:off x="8065080" y="1517760"/>
            <a:ext cx="3565440" cy="4132440"/>
          </a:xfrm>
          <a:prstGeom prst="roundRect">
            <a:avLst>
              <a:gd name="adj" fmla="val 8000"/>
            </a:avLst>
          </a:prstGeom>
          <a:solidFill>
            <a:srgbClr val="F8FAFC"/>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3" name="TextBox 22"/>
          <p:cNvSpPr/>
          <p:nvPr/>
        </p:nvSpPr>
        <p:spPr>
          <a:xfrm>
            <a:off x="8302680" y="1682640"/>
            <a:ext cx="502200" cy="410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F97316"/>
                </a:solidFill>
                <a:effectLst/>
                <a:uFillTx/>
                <a:latin typeface="Arial"/>
              </a:rPr>
              <a:t>03</a:t>
            </a:r>
            <a:endParaRPr lang="en-PH" sz="2000" b="0" u="none" strike="noStrike">
              <a:solidFill>
                <a:srgbClr val="000000"/>
              </a:solidFill>
              <a:effectLst/>
              <a:uFillTx/>
              <a:latin typeface="Arial"/>
            </a:endParaRPr>
          </a:p>
        </p:txBody>
      </p:sp>
      <p:sp>
        <p:nvSpPr>
          <p:cNvPr id="174" name="TextBox 23"/>
          <p:cNvSpPr/>
          <p:nvPr/>
        </p:nvSpPr>
        <p:spPr>
          <a:xfrm>
            <a:off x="8302680" y="2157840"/>
            <a:ext cx="3089880" cy="639360"/>
          </a:xfrm>
          <a:prstGeom prst="rect">
            <a:avLst/>
          </a:prstGeom>
          <a:noFill/>
          <a:ln w="0">
            <a:noFill/>
          </a:ln>
        </p:spPr>
        <p:style>
          <a:lnRef idx="0"/>
          <a:fillRef idx="0"/>
          <a:effectRef idx="0"/>
          <a:fontRef idx="minor"/>
        </p:style>
        <p:txBody>
          <a:bodyPr lIns="0" tIns="0" rIns="0" bIns="0" anchor="t">
            <a:spAutoFit/>
          </a:bodyPr>
          <a:p>
            <a:pPr defTabSz="457200">
              <a:lnSpc>
                <a:spcPct val="96000"/>
              </a:lnSpc>
            </a:pPr>
            <a:r>
              <a:rPr lang="en-US" sz="1450" b="1" u="none" strike="noStrike">
                <a:solidFill>
                  <a:srgbClr val="0F172A"/>
                </a:solidFill>
                <a:effectLst/>
                <a:uFillTx/>
                <a:latin typeface="Arial"/>
              </a:rPr>
              <a:t>Documents are assembled repeatedly</a:t>
            </a:r>
            <a:endParaRPr lang="en-PH" sz="1450" b="0" u="none" strike="noStrike">
              <a:solidFill>
                <a:srgbClr val="000000"/>
              </a:solidFill>
              <a:effectLst/>
              <a:uFillTx/>
              <a:latin typeface="Arial"/>
            </a:endParaRPr>
          </a:p>
        </p:txBody>
      </p:sp>
      <p:sp>
        <p:nvSpPr>
          <p:cNvPr id="175" name="TextBox 24"/>
          <p:cNvSpPr/>
          <p:nvPr/>
        </p:nvSpPr>
        <p:spPr>
          <a:xfrm>
            <a:off x="8302680" y="2834640"/>
            <a:ext cx="3089880" cy="135252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1020" b="0" u="none" strike="noStrike">
                <a:solidFill>
                  <a:srgbClr val="475569"/>
                </a:solidFill>
                <a:effectLst/>
                <a:uFillTx/>
                <a:latin typeface="Arial"/>
              </a:rPr>
              <a:t>Certificates, assessment statements and scan logs are retyped for each request, which repeats work and introduces transcription errors.</a:t>
            </a:r>
            <a:endParaRPr lang="en-PH" sz="1020" b="0" u="none" strike="noStrike">
              <a:solidFill>
                <a:srgbClr val="000000"/>
              </a:solidFill>
              <a:effectLst/>
              <a:uFillTx/>
              <a:latin typeface="Arial"/>
            </a:endParaRPr>
          </a:p>
        </p:txBody>
      </p:sp>
      <p:sp>
        <p:nvSpPr>
          <p:cNvPr id="176" name="Rectangle 25"/>
          <p:cNvSpPr/>
          <p:nvPr/>
        </p:nvSpPr>
        <p:spPr>
          <a:xfrm>
            <a:off x="8302680" y="4316040"/>
            <a:ext cx="307152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77" name="TextBox 26"/>
          <p:cNvSpPr/>
          <p:nvPr/>
        </p:nvSpPr>
        <p:spPr>
          <a:xfrm>
            <a:off x="8302680" y="4443840"/>
            <a:ext cx="3071520" cy="95940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950" b="1" u="none" strike="noStrike">
                <a:solidFill>
                  <a:srgbClr val="AD4D05"/>
                </a:solidFill>
                <a:effectLst/>
                <a:uFillTx/>
                <a:latin typeface="Arial"/>
              </a:rPr>
              <a:t>Target: generate from the same records the UI reads.</a:t>
            </a:r>
            <a:endParaRPr lang="en-PH" sz="950" b="0" u="none" strike="noStrike">
              <a:solidFill>
                <a:srgbClr val="000000"/>
              </a:solidFill>
              <a:effectLst/>
              <a:uFillTx/>
              <a:latin typeface="Arial"/>
            </a:endParaRPr>
          </a:p>
        </p:txBody>
      </p:sp>
      <p:sp>
        <p:nvSpPr>
          <p:cNvPr id="178" name="TextBox 27"/>
          <p:cNvSpPr/>
          <p:nvPr/>
        </p:nvSpPr>
        <p:spPr>
          <a:xfrm>
            <a:off x="567000" y="5925240"/>
            <a:ext cx="11017800" cy="4381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i="1" u="none" strike="noStrike">
                <a:solidFill>
                  <a:srgbClr val="64748B"/>
                </a:solidFill>
                <a:effectLst/>
                <a:uFillTx/>
                <a:latin typeface="Arial"/>
              </a:rPr>
              <a:t>The demonstration database holds 3 students, 21 subject lines, 3 assessments and 65 scan records — enough to exercise every workflow end to end.</a:t>
            </a:r>
            <a:endParaRPr lang="en-PH"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9"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180"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181"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01 · OBJECTIVES</a:t>
            </a:r>
            <a:endParaRPr lang="en-PH" sz="880" b="0" u="none" strike="noStrike">
              <a:solidFill>
                <a:srgbClr val="000000"/>
              </a:solidFill>
              <a:effectLst/>
              <a:uFillTx/>
              <a:latin typeface="Arial"/>
            </a:endParaRPr>
          </a:p>
        </p:txBody>
      </p:sp>
      <p:sp>
        <p:nvSpPr>
          <p:cNvPr id="182"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Success criteria and where they stand</a:t>
            </a:r>
            <a:endParaRPr lang="en-PH" sz="2450" b="0" u="none" strike="noStrike">
              <a:solidFill>
                <a:srgbClr val="000000"/>
              </a:solidFill>
              <a:effectLst/>
              <a:uFillTx/>
              <a:latin typeface="Arial"/>
            </a:endParaRPr>
          </a:p>
        </p:txBody>
      </p:sp>
      <p:sp>
        <p:nvSpPr>
          <p:cNvPr id="183"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Each objective is paired with the implementation that serves it and the evidence that can be inspected.</a:t>
            </a:r>
            <a:endParaRPr lang="en-PH" sz="1080" b="0" u="none" strike="noStrike">
              <a:solidFill>
                <a:srgbClr val="000000"/>
              </a:solidFill>
              <a:effectLst/>
              <a:uFillTx/>
              <a:latin typeface="Arial"/>
            </a:endParaRPr>
          </a:p>
        </p:txBody>
      </p:sp>
      <p:sp>
        <p:nvSpPr>
          <p:cNvPr id="184"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85"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186"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05 / 35</a:t>
            </a:r>
            <a:endParaRPr lang="en-PH" sz="780" b="0" u="none" strike="noStrike">
              <a:solidFill>
                <a:srgbClr val="000000"/>
              </a:solidFill>
              <a:effectLst/>
              <a:uFillTx/>
              <a:latin typeface="Arial"/>
            </a:endParaRPr>
          </a:p>
        </p:txBody>
      </p:sp>
      <p:graphicFrame>
        <p:nvGraphicFramePr>
          <p:cNvPr id="187" name="Table 9"/>
          <p:cNvGraphicFramePr/>
          <p:nvPr/>
        </p:nvGraphicFramePr>
        <p:xfrm>
          <a:off x="567000" y="1481400"/>
          <a:ext cx="11018160" cy="4114800"/>
        </p:xfrm>
        <a:graphic>
          <a:graphicData uri="http://schemas.openxmlformats.org/drawingml/2006/table">
            <a:tbl>
              <a:tblPr/>
              <a:tblGrid>
                <a:gridCol w="2423160"/>
                <a:gridCol w="3840480"/>
                <a:gridCol w="3154680"/>
                <a:gridCol w="1600200"/>
              </a:tblGrid>
              <a:tr h="457200">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Objective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Implementation</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Evidence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algn="ctr" defTabSz="457200">
                        <a:lnSpc>
                          <a:spcPct val="100000"/>
                        </a:lnSpc>
                      </a:pPr>
                      <a:r>
                        <a:rPr lang="en-US" sz="860" b="1" u="none" strike="noStrike">
                          <a:solidFill>
                            <a:srgbClr val="FFFFFF"/>
                          </a:solidFill>
                          <a:effectLst/>
                          <a:uFillTx/>
                          <a:latin typeface="Arial"/>
                        </a:rPr>
                        <a:t>Status</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457200">
                <a:tc>
                  <a:txBody>
                    <a:bodyPr lIns="63720" tIns="27360" rIns="45720" bIns="27360" anchor="ctr">
                      <a:noAutofit/>
                    </a:bodyPr>
                    <a:p>
                      <a:pPr defTabSz="457200">
                        <a:lnSpc>
                          <a:spcPct val="100000"/>
                        </a:lnSpc>
                      </a:pPr>
                      <a:r>
                        <a:rPr lang="en-US" sz="920" b="0" u="none" strike="noStrike">
                          <a:solidFill>
                            <a:srgbClr val="0F172A"/>
                          </a:solidFill>
                          <a:effectLst/>
                          <a:uFillTx/>
                          <a:latin typeface="Arial"/>
                        </a:rPr>
                        <a:t>Identify a student from a physical card</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YOLOv8n → ROI gate → pyzbar → exact SQL match</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3/3 real cards decoded; audit report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920" b="0" u="none" strike="noStrike">
                          <a:solidFill>
                            <a:srgbClr val="475569"/>
                          </a:solidFill>
                          <a:effectLst/>
                          <a:uFillTx/>
                          <a:latin typeface="Arial"/>
                        </a:rPr>
                        <a:t>Met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63720" tIns="27360" rIns="45720" bIns="27360" anchor="ctr">
                      <a:noAutofit/>
                    </a:bodyPr>
                    <a:p>
                      <a:pPr defTabSz="457200">
                        <a:lnSpc>
                          <a:spcPct val="100000"/>
                        </a:lnSpc>
                      </a:pPr>
                      <a:r>
                        <a:rPr lang="en-US" sz="920" b="0" u="none" strike="noStrike">
                          <a:solidFill>
                            <a:srgbClr val="0F172A"/>
                          </a:solidFill>
                          <a:effectLst/>
                          <a:uFillTx/>
                          <a:latin typeface="Arial"/>
                        </a:rPr>
                        <a:t>Never present a decode as a student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VERIFIED requires a matching students row</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scan_pipeline.py state machine</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920" b="0" u="none" strike="noStrike">
                          <a:solidFill>
                            <a:srgbClr val="475569"/>
                          </a:solidFill>
                          <a:effectLst/>
                          <a:uFillTx/>
                          <a:latin typeface="Arial"/>
                        </a:rPr>
                        <a:t>Met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457200">
                <a:tc>
                  <a:txBody>
                    <a:bodyPr lIns="63720" tIns="27360" rIns="45720" bIns="27360" anchor="ctr">
                      <a:noAutofit/>
                    </a:bodyPr>
                    <a:p>
                      <a:pPr defTabSz="457200">
                        <a:lnSpc>
                          <a:spcPct val="100000"/>
                        </a:lnSpc>
                      </a:pPr>
                      <a:r>
                        <a:rPr lang="en-US" sz="920" b="0" u="none" strike="noStrike">
                          <a:solidFill>
                            <a:srgbClr val="0F172A"/>
                          </a:solidFill>
                          <a:effectLst/>
                          <a:uFillTx/>
                          <a:latin typeface="Arial"/>
                        </a:rPr>
                        <a:t>One source of truth for records</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19 tables, 34 FKs, UNIQUE constraints</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SHOW CREATE TABLE; ERD</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920" b="0" u="none" strike="noStrike">
                          <a:solidFill>
                            <a:srgbClr val="475569"/>
                          </a:solidFill>
                          <a:effectLst/>
                          <a:uFillTx/>
                          <a:latin typeface="Arial"/>
                        </a:rPr>
                        <a:t>Met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63720" tIns="27360" rIns="45720" bIns="27360" anchor="ctr">
                      <a:noAutofit/>
                    </a:bodyPr>
                    <a:p>
                      <a:pPr defTabSz="457200">
                        <a:lnSpc>
                          <a:spcPct val="100000"/>
                        </a:lnSpc>
                      </a:pPr>
                      <a:r>
                        <a:rPr lang="en-US" sz="920" b="0" u="none" strike="noStrike">
                          <a:solidFill>
                            <a:srgbClr val="0F172A"/>
                          </a:solidFill>
                          <a:effectLst/>
                          <a:uFillTx/>
                          <a:latin typeface="Arial"/>
                        </a:rPr>
                        <a:t>Produce documents from live data</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ReportLab COM, assessment, barcode and CSV</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reports/ artefacts; Reports page</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920" b="0" u="none" strike="noStrike">
                          <a:solidFill>
                            <a:srgbClr val="475569"/>
                          </a:solidFill>
                          <a:effectLst/>
                          <a:uFillTx/>
                          <a:latin typeface="Arial"/>
                        </a:rPr>
                        <a:t>Met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457200">
                <a:tc>
                  <a:txBody>
                    <a:bodyPr lIns="63720" tIns="27360" rIns="45720" bIns="27360" anchor="ctr">
                      <a:noAutofit/>
                    </a:bodyPr>
                    <a:p>
                      <a:pPr defTabSz="457200">
                        <a:lnSpc>
                          <a:spcPct val="100000"/>
                        </a:lnSpc>
                      </a:pPr>
                      <a:r>
                        <a:rPr lang="en-US" sz="920" b="0" u="none" strike="noStrike">
                          <a:solidFill>
                            <a:srgbClr val="0F172A"/>
                          </a:solidFill>
                          <a:effectLst/>
                          <a:uFillTx/>
                          <a:latin typeface="Arial"/>
                        </a:rPr>
                        <a:t>Run without a server or network</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PySide6 + local MySQL + local files</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Context and deployment diagrams</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920" b="0" u="none" strike="noStrike">
                          <a:solidFill>
                            <a:srgbClr val="475569"/>
                          </a:solidFill>
                          <a:effectLst/>
                          <a:uFillTx/>
                          <a:latin typeface="Arial"/>
                        </a:rPr>
                        <a:t>Met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63720" tIns="27360" rIns="45720" bIns="27360" anchor="ctr">
                      <a:noAutofit/>
                    </a:bodyPr>
                    <a:p>
                      <a:pPr defTabSz="457200">
                        <a:lnSpc>
                          <a:spcPct val="100000"/>
                        </a:lnSpc>
                      </a:pPr>
                      <a:r>
                        <a:rPr lang="en-US" sz="920" b="0" u="none" strike="noStrike">
                          <a:solidFill>
                            <a:srgbClr val="0F172A"/>
                          </a:solidFill>
                          <a:effectLst/>
                          <a:uFillTx/>
                          <a:latin typeface="Arial"/>
                        </a:rPr>
                        <a:t>Make the pipeline testable offline</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No Qt/threads in ScanPipeline; injectable services</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553 tests collected</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920" b="0" u="none" strike="noStrike">
                          <a:solidFill>
                            <a:srgbClr val="475569"/>
                          </a:solidFill>
                          <a:effectLst/>
                          <a:uFillTx/>
                          <a:latin typeface="Arial"/>
                        </a:rPr>
                        <a:t>Partial</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457200">
                <a:tc>
                  <a:txBody>
                    <a:bodyPr lIns="63720" tIns="27360" rIns="45720" bIns="27360" anchor="ctr">
                      <a:noAutofit/>
                    </a:bodyPr>
                    <a:p>
                      <a:pPr defTabSz="457200">
                        <a:lnSpc>
                          <a:spcPct val="100000"/>
                        </a:lnSpc>
                      </a:pPr>
                      <a:r>
                        <a:rPr lang="en-US" sz="920" b="0" u="none" strike="noStrike">
                          <a:solidFill>
                            <a:srgbClr val="0F172A"/>
                          </a:solidFill>
                          <a:effectLst/>
                          <a:uFillTx/>
                          <a:latin typeface="Arial"/>
                        </a:rPr>
                        <a:t>Protect access with authentication</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users table exists; no login flow</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Logout stub in main_window.py</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920" b="0" u="none" strike="noStrike">
                          <a:solidFill>
                            <a:srgbClr val="475569"/>
                          </a:solidFill>
                          <a:effectLst/>
                          <a:uFillTx/>
                          <a:latin typeface="Arial"/>
                        </a:rPr>
                        <a:t>Not met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63720" tIns="27360" rIns="45720" bIns="27360" anchor="ctr">
                      <a:noAutofit/>
                    </a:bodyPr>
                    <a:p>
                      <a:pPr defTabSz="457200">
                        <a:lnSpc>
                          <a:spcPct val="100000"/>
                        </a:lnSpc>
                      </a:pPr>
                      <a:r>
                        <a:rPr lang="en-US" sz="920" b="0" u="none" strike="noStrike">
                          <a:solidFill>
                            <a:srgbClr val="0F172A"/>
                          </a:solidFill>
                          <a:effectLst/>
                          <a:uFillTx/>
                          <a:latin typeface="Arial"/>
                        </a:rPr>
                        <a:t>Route every built screen</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Barcode generator page built but unrouted</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20" b="0" u="none" strike="noStrike">
                          <a:solidFill>
                            <a:srgbClr val="475569"/>
                          </a:solidFill>
                          <a:effectLst/>
                          <a:uFillTx/>
                          <a:latin typeface="Arial"/>
                        </a:rPr>
                        <a:t>No route in PAGE_CLASSES</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920" b="0" u="none" strike="noStrike">
                          <a:solidFill>
                            <a:srgbClr val="475569"/>
                          </a:solidFill>
                          <a:effectLst/>
                          <a:uFillTx/>
                          <a:latin typeface="Arial"/>
                        </a:rPr>
                        <a:t>Not met</a:t>
                      </a:r>
                      <a:endParaRPr lang="en-PH" sz="92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bl>
          </a:graphicData>
        </a:graphic>
      </p:graphicFrame>
      <p:sp>
        <p:nvSpPr>
          <p:cNvPr id="188" name="TextBox 10"/>
          <p:cNvSpPr/>
          <p:nvPr/>
        </p:nvSpPr>
        <p:spPr>
          <a:xfrm>
            <a:off x="567000" y="6071760"/>
            <a:ext cx="109720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0" i="1" u="none" strike="noStrike">
                <a:solidFill>
                  <a:srgbClr val="64748B"/>
                </a:solidFill>
                <a:effectLst/>
                <a:uFillTx/>
                <a:latin typeface="Arial"/>
              </a:rPr>
              <a:t>“Met” means observed in the running application or measured from the live database — not inferred from a README.</a:t>
            </a:r>
            <a:endParaRPr lang="en-PH" sz="8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9"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190"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191"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01 · SCOPE</a:t>
            </a:r>
            <a:endParaRPr lang="en-PH" sz="880" b="0" u="none" strike="noStrike">
              <a:solidFill>
                <a:srgbClr val="000000"/>
              </a:solidFill>
              <a:effectLst/>
              <a:uFillTx/>
              <a:latin typeface="Arial"/>
            </a:endParaRPr>
          </a:p>
        </p:txBody>
      </p:sp>
      <p:sp>
        <p:nvSpPr>
          <p:cNvPr id="192"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Delivered versus partial — at a glance</a:t>
            </a:r>
            <a:endParaRPr lang="en-PH" sz="2450" b="0" u="none" strike="noStrike">
              <a:solidFill>
                <a:srgbClr val="000000"/>
              </a:solidFill>
              <a:effectLst/>
              <a:uFillTx/>
              <a:latin typeface="Arial"/>
            </a:endParaRPr>
          </a:p>
        </p:txBody>
      </p:sp>
      <p:sp>
        <p:nvSpPr>
          <p:cNvPr id="193"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Module status was checked against source imports and routes, then confirmed in the running application.</a:t>
            </a:r>
            <a:endParaRPr lang="en-PH" sz="1080" b="0" u="none" strike="noStrike">
              <a:solidFill>
                <a:srgbClr val="000000"/>
              </a:solidFill>
              <a:effectLst/>
              <a:uFillTx/>
              <a:latin typeface="Arial"/>
            </a:endParaRPr>
          </a:p>
        </p:txBody>
      </p:sp>
      <p:sp>
        <p:nvSpPr>
          <p:cNvPr id="194"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95"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196"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06 / 35</a:t>
            </a:r>
            <a:endParaRPr lang="en-PH" sz="780" b="0" u="none" strike="noStrike">
              <a:solidFill>
                <a:srgbClr val="000000"/>
              </a:solidFill>
              <a:effectLst/>
              <a:uFillTx/>
              <a:latin typeface="Arial"/>
            </a:endParaRPr>
          </a:p>
        </p:txBody>
      </p:sp>
      <p:sp>
        <p:nvSpPr>
          <p:cNvPr id="197" name="Rectangle 9"/>
          <p:cNvSpPr/>
          <p:nvPr/>
        </p:nvSpPr>
        <p:spPr>
          <a:xfrm>
            <a:off x="567000" y="1444680"/>
            <a:ext cx="6537240" cy="443412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198" name="Picture 10" descr="chart_module_status.png"/>
          <p:cNvPicPr/>
          <p:nvPr/>
        </p:nvPicPr>
        <p:blipFill>
          <a:blip r:embed="rId1"/>
          <a:stretch/>
        </p:blipFill>
        <p:spPr>
          <a:xfrm>
            <a:off x="658440" y="2072160"/>
            <a:ext cx="6354360" cy="3179160"/>
          </a:xfrm>
          <a:prstGeom prst="rect">
            <a:avLst/>
          </a:prstGeom>
          <a:noFill/>
          <a:ln w="0">
            <a:noFill/>
          </a:ln>
        </p:spPr>
      </p:pic>
      <p:sp>
        <p:nvSpPr>
          <p:cNvPr id="199" name="TextBox 11"/>
          <p:cNvSpPr/>
          <p:nvPr/>
        </p:nvSpPr>
        <p:spPr>
          <a:xfrm>
            <a:off x="7333560" y="148140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DELIVERED</a:t>
            </a:r>
            <a:endParaRPr lang="en-PH" sz="820" b="0" u="none" strike="noStrike">
              <a:solidFill>
                <a:srgbClr val="000000"/>
              </a:solidFill>
              <a:effectLst/>
              <a:uFillTx/>
              <a:latin typeface="Arial"/>
            </a:endParaRPr>
          </a:p>
        </p:txBody>
      </p:sp>
      <p:sp>
        <p:nvSpPr>
          <p:cNvPr id="200" name="TextBox 12"/>
          <p:cNvSpPr/>
          <p:nvPr/>
        </p:nvSpPr>
        <p:spPr>
          <a:xfrm>
            <a:off x="7333560" y="1737360"/>
            <a:ext cx="4251240" cy="21481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601"/>
              </a:spcAft>
            </a:pPr>
            <a:r>
              <a:rPr lang="en-US" sz="1030" b="1" u="none" strike="noStrike">
                <a:solidFill>
                  <a:srgbClr val="F97316"/>
                </a:solidFill>
                <a:effectLst/>
                <a:uFillTx/>
                <a:latin typeface="Arial"/>
              </a:rPr>
              <a:t>•  </a:t>
            </a:r>
            <a:r>
              <a:rPr lang="en-US" sz="1030" b="0" u="none" strike="noStrike">
                <a:solidFill>
                  <a:srgbClr val="475569"/>
                </a:solidFill>
                <a:effectLst/>
                <a:uFillTx/>
                <a:latin typeface="Arial"/>
              </a:rPr>
              <a:t>Dashboard, Students, Scanner</a:t>
            </a:r>
            <a:endParaRPr lang="en-PH" sz="1030" b="0" u="none" strike="noStrike">
              <a:solidFill>
                <a:srgbClr val="000000"/>
              </a:solidFill>
              <a:effectLst/>
              <a:uFillTx/>
              <a:latin typeface="Arial"/>
            </a:endParaRPr>
          </a:p>
          <a:p>
            <a:pPr defTabSz="457200">
              <a:lnSpc>
                <a:spcPct val="105000"/>
              </a:lnSpc>
              <a:spcAft>
                <a:spcPts val="601"/>
              </a:spcAft>
            </a:pPr>
            <a:r>
              <a:rPr lang="en-US" sz="1030" b="1" u="none" strike="noStrike">
                <a:solidFill>
                  <a:srgbClr val="F97316"/>
                </a:solidFill>
                <a:effectLst/>
                <a:uFillTx/>
                <a:latin typeface="Arial"/>
              </a:rPr>
              <a:t>•  </a:t>
            </a:r>
            <a:r>
              <a:rPr lang="en-US" sz="1030" b="0" u="none" strike="noStrike">
                <a:solidFill>
                  <a:srgbClr val="475569"/>
                </a:solidFill>
                <a:effectLst/>
                <a:uFillTx/>
                <a:latin typeface="Arial"/>
              </a:rPr>
              <a:t>Enrollment, Courses &amp; Subjects</a:t>
            </a:r>
            <a:endParaRPr lang="en-PH" sz="1030" b="0" u="none" strike="noStrike">
              <a:solidFill>
                <a:srgbClr val="000000"/>
              </a:solidFill>
              <a:effectLst/>
              <a:uFillTx/>
              <a:latin typeface="Arial"/>
            </a:endParaRPr>
          </a:p>
          <a:p>
            <a:pPr defTabSz="457200">
              <a:lnSpc>
                <a:spcPct val="105000"/>
              </a:lnSpc>
              <a:spcAft>
                <a:spcPts val="601"/>
              </a:spcAft>
            </a:pPr>
            <a:r>
              <a:rPr lang="en-US" sz="1030" b="1" u="none" strike="noStrike">
                <a:solidFill>
                  <a:srgbClr val="F97316"/>
                </a:solidFill>
                <a:effectLst/>
                <a:uFillTx/>
                <a:latin typeface="Arial"/>
              </a:rPr>
              <a:t>•  </a:t>
            </a:r>
            <a:r>
              <a:rPr lang="en-US" sz="1030" b="0" u="none" strike="noStrike">
                <a:solidFill>
                  <a:srgbClr val="475569"/>
                </a:solidFill>
                <a:effectLst/>
                <a:uFillTx/>
                <a:latin typeface="Arial"/>
              </a:rPr>
              <a:t>Assessment &amp; Fees, Reports</a:t>
            </a:r>
            <a:endParaRPr lang="en-PH" sz="1030" b="0" u="none" strike="noStrike">
              <a:solidFill>
                <a:srgbClr val="000000"/>
              </a:solidFill>
              <a:effectLst/>
              <a:uFillTx/>
              <a:latin typeface="Arial"/>
            </a:endParaRPr>
          </a:p>
          <a:p>
            <a:pPr defTabSz="457200">
              <a:lnSpc>
                <a:spcPct val="105000"/>
              </a:lnSpc>
              <a:spcAft>
                <a:spcPts val="601"/>
              </a:spcAft>
            </a:pPr>
            <a:r>
              <a:rPr lang="en-US" sz="1030" b="1" u="none" strike="noStrike">
                <a:solidFill>
                  <a:srgbClr val="F97316"/>
                </a:solidFill>
                <a:effectLst/>
                <a:uFillTx/>
                <a:latin typeface="Arial"/>
              </a:rPr>
              <a:t>•  </a:t>
            </a:r>
            <a:r>
              <a:rPr lang="en-US" sz="1030" b="0" u="none" strike="noStrike">
                <a:solidFill>
                  <a:srgbClr val="475569"/>
                </a:solidFill>
                <a:effectLst/>
                <a:uFillTx/>
                <a:latin typeface="Arial"/>
              </a:rPr>
              <a:t>Certificate of Matriculation</a:t>
            </a:r>
            <a:endParaRPr lang="en-PH" sz="1030" b="0" u="none" strike="noStrike">
              <a:solidFill>
                <a:srgbClr val="000000"/>
              </a:solidFill>
              <a:effectLst/>
              <a:uFillTx/>
              <a:latin typeface="Arial"/>
            </a:endParaRPr>
          </a:p>
          <a:p>
            <a:pPr defTabSz="457200">
              <a:lnSpc>
                <a:spcPct val="105000"/>
              </a:lnSpc>
              <a:spcAft>
                <a:spcPts val="601"/>
              </a:spcAft>
            </a:pPr>
            <a:r>
              <a:rPr lang="en-US" sz="1030" b="1" u="none" strike="noStrike">
                <a:solidFill>
                  <a:srgbClr val="F97316"/>
                </a:solidFill>
                <a:effectLst/>
                <a:uFillTx/>
                <a:latin typeface="Arial"/>
              </a:rPr>
              <a:t>•  </a:t>
            </a:r>
            <a:r>
              <a:rPr lang="en-US" sz="1030" b="0" u="none" strike="noStrike">
                <a:solidFill>
                  <a:srgbClr val="475569"/>
                </a:solidFill>
                <a:effectLst/>
                <a:uFillTx/>
                <a:latin typeface="Arial"/>
              </a:rPr>
              <a:t>YOLO scan pipeline and 19-table schema</a:t>
            </a:r>
            <a:endParaRPr lang="en-PH" sz="1030" b="0" u="none" strike="noStrike">
              <a:solidFill>
                <a:srgbClr val="000000"/>
              </a:solidFill>
              <a:effectLst/>
              <a:uFillTx/>
              <a:latin typeface="Arial"/>
            </a:endParaRPr>
          </a:p>
        </p:txBody>
      </p:sp>
      <p:sp>
        <p:nvSpPr>
          <p:cNvPr id="201" name="TextBox 13"/>
          <p:cNvSpPr/>
          <p:nvPr/>
        </p:nvSpPr>
        <p:spPr>
          <a:xfrm>
            <a:off x="7333560" y="396864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PARTIAL OR ABSENT</a:t>
            </a:r>
            <a:endParaRPr lang="en-PH" sz="820" b="0" u="none" strike="noStrike">
              <a:solidFill>
                <a:srgbClr val="000000"/>
              </a:solidFill>
              <a:effectLst/>
              <a:uFillTx/>
              <a:latin typeface="Arial"/>
            </a:endParaRPr>
          </a:p>
        </p:txBody>
      </p:sp>
      <p:sp>
        <p:nvSpPr>
          <p:cNvPr id="202" name="TextBox 14"/>
          <p:cNvSpPr/>
          <p:nvPr/>
        </p:nvSpPr>
        <p:spPr>
          <a:xfrm>
            <a:off x="7333560" y="4224600"/>
            <a:ext cx="4251240" cy="187380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00"/>
              </a:spcAft>
            </a:pPr>
            <a:r>
              <a:rPr lang="en-US" sz="950" b="1" u="none" strike="noStrike">
                <a:solidFill>
                  <a:srgbClr val="DC2626"/>
                </a:solidFill>
                <a:effectLst/>
                <a:uFillTx/>
                <a:latin typeface="Arial"/>
              </a:rPr>
              <a:t>•  </a:t>
            </a:r>
            <a:r>
              <a:rPr lang="en-US" sz="950" b="0" u="none" strike="noStrike">
                <a:solidFill>
                  <a:srgbClr val="0F172A"/>
                </a:solidFill>
                <a:effectLst/>
                <a:uFillTx/>
                <a:latin typeface="Arial"/>
              </a:rPr>
              <a:t>Training Center: </a:t>
            </a:r>
            <a:r>
              <a:rPr lang="en-US" sz="950" b="0" u="none" strike="noStrike">
                <a:solidFill>
                  <a:srgbClr val="475569"/>
                </a:solidFill>
                <a:effectLst/>
                <a:uFillTx/>
                <a:latin typeface="Arial"/>
              </a:rPr>
              <a:t>reads empty DB tables, ignores 2,551 files on disk</a:t>
            </a:r>
            <a:endParaRPr lang="en-PH" sz="950" b="0" u="none" strike="noStrike">
              <a:solidFill>
                <a:srgbClr val="000000"/>
              </a:solidFill>
              <a:effectLst/>
              <a:uFillTx/>
              <a:latin typeface="Arial"/>
            </a:endParaRPr>
          </a:p>
          <a:p>
            <a:pPr defTabSz="457200">
              <a:lnSpc>
                <a:spcPct val="105000"/>
              </a:lnSpc>
              <a:spcAft>
                <a:spcPts val="400"/>
              </a:spcAft>
            </a:pPr>
            <a:r>
              <a:rPr lang="en-US" sz="950" b="1" u="none" strike="noStrike">
                <a:solidFill>
                  <a:srgbClr val="DC2626"/>
                </a:solidFill>
                <a:effectLst/>
                <a:uFillTx/>
                <a:latin typeface="Arial"/>
              </a:rPr>
              <a:t>•  </a:t>
            </a:r>
            <a:r>
              <a:rPr lang="en-US" sz="950" b="0" u="none" strike="noStrike">
                <a:solidFill>
                  <a:srgbClr val="0F172A"/>
                </a:solidFill>
                <a:effectLst/>
                <a:uFillTx/>
                <a:latin typeface="Arial"/>
              </a:rPr>
              <a:t>Settings: </a:t>
            </a:r>
            <a:r>
              <a:rPr lang="en-US" sz="950" b="0" u="none" strike="noStrike">
                <a:solidFill>
                  <a:srgbClr val="475569"/>
                </a:solidFill>
                <a:effectLst/>
                <a:uFillTx/>
                <a:latin typeface="Arial"/>
              </a:rPr>
              <a:t>general tab works; several controls are inert</a:t>
            </a:r>
            <a:endParaRPr lang="en-PH" sz="950" b="0" u="none" strike="noStrike">
              <a:solidFill>
                <a:srgbClr val="000000"/>
              </a:solidFill>
              <a:effectLst/>
              <a:uFillTx/>
              <a:latin typeface="Arial"/>
            </a:endParaRPr>
          </a:p>
          <a:p>
            <a:pPr defTabSz="457200">
              <a:lnSpc>
                <a:spcPct val="105000"/>
              </a:lnSpc>
              <a:spcAft>
                <a:spcPts val="400"/>
              </a:spcAft>
            </a:pPr>
            <a:r>
              <a:rPr lang="en-US" sz="950" b="1" u="none" strike="noStrike">
                <a:solidFill>
                  <a:srgbClr val="DC2626"/>
                </a:solidFill>
                <a:effectLst/>
                <a:uFillTx/>
                <a:latin typeface="Arial"/>
              </a:rPr>
              <a:t>•  </a:t>
            </a:r>
            <a:r>
              <a:rPr lang="en-US" sz="950" b="0" u="none" strike="noStrike">
                <a:solidFill>
                  <a:srgbClr val="0F172A"/>
                </a:solidFill>
                <a:effectLst/>
                <a:uFillTx/>
                <a:latin typeface="Arial"/>
              </a:rPr>
              <a:t>Barcode Generator: </a:t>
            </a:r>
            <a:r>
              <a:rPr lang="en-US" sz="950" b="0" u="none" strike="noStrike">
                <a:solidFill>
                  <a:srgbClr val="475569"/>
                </a:solidFill>
                <a:effectLst/>
                <a:uFillTx/>
                <a:latin typeface="Arial"/>
              </a:rPr>
              <a:t>complete page, no route</a:t>
            </a:r>
            <a:endParaRPr lang="en-PH" sz="950" b="0" u="none" strike="noStrike">
              <a:solidFill>
                <a:srgbClr val="000000"/>
              </a:solidFill>
              <a:effectLst/>
              <a:uFillTx/>
              <a:latin typeface="Arial"/>
            </a:endParaRPr>
          </a:p>
          <a:p>
            <a:pPr defTabSz="457200">
              <a:lnSpc>
                <a:spcPct val="105000"/>
              </a:lnSpc>
              <a:spcAft>
                <a:spcPts val="400"/>
              </a:spcAft>
            </a:pPr>
            <a:r>
              <a:rPr lang="en-US" sz="950" b="1" u="none" strike="noStrike">
                <a:solidFill>
                  <a:srgbClr val="DC2626"/>
                </a:solidFill>
                <a:effectLst/>
                <a:uFillTx/>
                <a:latin typeface="Arial"/>
              </a:rPr>
              <a:t>•  </a:t>
            </a:r>
            <a:r>
              <a:rPr lang="en-US" sz="950" b="0" u="none" strike="noStrike">
                <a:solidFill>
                  <a:srgbClr val="0F172A"/>
                </a:solidFill>
                <a:effectLst/>
                <a:uFillTx/>
                <a:latin typeface="Arial"/>
              </a:rPr>
              <a:t>Authentication: </a:t>
            </a:r>
            <a:r>
              <a:rPr lang="en-US" sz="950" b="0" u="none" strike="noStrike">
                <a:solidFill>
                  <a:srgbClr val="475569"/>
                </a:solidFill>
                <a:effectLst/>
                <a:uFillTx/>
                <a:latin typeface="Arial"/>
              </a:rPr>
              <a:t>users table but no login</a:t>
            </a:r>
            <a:endParaRPr lang="en-PH" sz="950" b="0" u="none" strike="noStrike">
              <a:solidFill>
                <a:srgbClr val="000000"/>
              </a:solidFill>
              <a:effectLst/>
              <a:uFillTx/>
              <a:latin typeface="Arial"/>
            </a:endParaRPr>
          </a:p>
          <a:p>
            <a:pPr defTabSz="457200">
              <a:lnSpc>
                <a:spcPct val="105000"/>
              </a:lnSpc>
              <a:spcAft>
                <a:spcPts val="400"/>
              </a:spcAft>
            </a:pPr>
            <a:r>
              <a:rPr lang="en-US" sz="950" b="1" u="none" strike="noStrike">
                <a:solidFill>
                  <a:srgbClr val="DC2626"/>
                </a:solidFill>
                <a:effectLst/>
                <a:uFillTx/>
                <a:latin typeface="Arial"/>
              </a:rPr>
              <a:t>•  </a:t>
            </a:r>
            <a:r>
              <a:rPr lang="en-US" sz="950" b="0" u="none" strike="noStrike">
                <a:solidFill>
                  <a:srgbClr val="0F172A"/>
                </a:solidFill>
                <a:effectLst/>
                <a:uFillTx/>
                <a:latin typeface="Arial"/>
              </a:rPr>
              <a:t>ID-card preview: </a:t>
            </a:r>
            <a:r>
              <a:rPr lang="en-US" sz="950" b="0" u="none" strike="noStrike">
                <a:solidFill>
                  <a:srgbClr val="475569"/>
                </a:solidFill>
                <a:effectLst/>
                <a:uFillTx/>
                <a:latin typeface="Arial"/>
              </a:rPr>
              <a:t>service renders; dialog raises QImage error</a:t>
            </a:r>
            <a:endParaRPr lang="en-PH"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3"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204"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205"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02 · SYSTEM DESIGN</a:t>
            </a:r>
            <a:endParaRPr lang="en-PH" sz="880" b="0" u="none" strike="noStrike">
              <a:solidFill>
                <a:srgbClr val="000000"/>
              </a:solidFill>
              <a:effectLst/>
              <a:uFillTx/>
              <a:latin typeface="Arial"/>
            </a:endParaRPr>
          </a:p>
        </p:txBody>
      </p:sp>
      <p:sp>
        <p:nvSpPr>
          <p:cNvPr id="206"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System context — one workstation, no network tier</a:t>
            </a:r>
            <a:endParaRPr lang="en-PH" sz="2450" b="0" u="none" strike="noStrike">
              <a:solidFill>
                <a:srgbClr val="000000"/>
              </a:solidFill>
              <a:effectLst/>
              <a:uFillTx/>
              <a:latin typeface="Arial"/>
            </a:endParaRPr>
          </a:p>
        </p:txBody>
      </p:sp>
      <p:sp>
        <p:nvSpPr>
          <p:cNvPr id="207"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application is a monolithic PySide6 desktop client that owns the camera, the model, the database connection and the filesystem.</a:t>
            </a:r>
            <a:endParaRPr lang="en-PH" sz="1080" b="0" u="none" strike="noStrike">
              <a:solidFill>
                <a:srgbClr val="000000"/>
              </a:solidFill>
              <a:effectLst/>
              <a:uFillTx/>
              <a:latin typeface="Arial"/>
            </a:endParaRPr>
          </a:p>
        </p:txBody>
      </p:sp>
      <p:sp>
        <p:nvSpPr>
          <p:cNvPr id="208"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209"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210"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07 / 35</a:t>
            </a:r>
            <a:endParaRPr lang="en-PH" sz="780" b="0" u="none" strike="noStrike">
              <a:solidFill>
                <a:srgbClr val="000000"/>
              </a:solidFill>
              <a:effectLst/>
              <a:uFillTx/>
              <a:latin typeface="Arial"/>
            </a:endParaRPr>
          </a:p>
        </p:txBody>
      </p:sp>
      <p:sp>
        <p:nvSpPr>
          <p:cNvPr id="211" name="Rectangle 9"/>
          <p:cNvSpPr/>
          <p:nvPr/>
        </p:nvSpPr>
        <p:spPr>
          <a:xfrm>
            <a:off x="567000" y="1417320"/>
            <a:ext cx="7543080" cy="452556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212" name="Picture 10" descr="WIT_System_Context.png"/>
          <p:cNvPicPr/>
          <p:nvPr/>
        </p:nvPicPr>
        <p:blipFill>
          <a:blip r:embed="rId1"/>
          <a:stretch/>
        </p:blipFill>
        <p:spPr>
          <a:xfrm>
            <a:off x="594360" y="1573560"/>
            <a:ext cx="7488360" cy="4212720"/>
          </a:xfrm>
          <a:prstGeom prst="rect">
            <a:avLst/>
          </a:prstGeom>
          <a:noFill/>
          <a:ln w="0">
            <a:noFill/>
          </a:ln>
        </p:spPr>
      </p:pic>
      <p:sp>
        <p:nvSpPr>
          <p:cNvPr id="213" name="Rounded Rectangle 11"/>
          <p:cNvSpPr/>
          <p:nvPr/>
        </p:nvSpPr>
        <p:spPr>
          <a:xfrm>
            <a:off x="8302680" y="1481400"/>
            <a:ext cx="3291120" cy="43884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4" name="TextBox 12"/>
          <p:cNvSpPr/>
          <p:nvPr/>
        </p:nvSpPr>
        <p:spPr>
          <a:xfrm>
            <a:off x="8503920" y="1664280"/>
            <a:ext cx="290700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50" b="1" u="none" strike="noStrike">
                <a:solidFill>
                  <a:srgbClr val="AD4D05"/>
                </a:solidFill>
                <a:effectLst/>
                <a:uFillTx/>
                <a:latin typeface="Arial"/>
              </a:rPr>
              <a:t>Boundaries that matter</a:t>
            </a:r>
            <a:endParaRPr lang="en-PH" sz="1150" b="0" u="none" strike="noStrike">
              <a:solidFill>
                <a:srgbClr val="000000"/>
              </a:solidFill>
              <a:effectLst/>
              <a:uFillTx/>
              <a:latin typeface="Arial"/>
            </a:endParaRPr>
          </a:p>
        </p:txBody>
      </p:sp>
      <p:sp>
        <p:nvSpPr>
          <p:cNvPr id="215" name="TextBox 13"/>
          <p:cNvSpPr/>
          <p:nvPr/>
        </p:nvSpPr>
        <p:spPr>
          <a:xfrm>
            <a:off x="8503920" y="2011680"/>
            <a:ext cx="2907000" cy="370260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Operator </a:t>
            </a:r>
            <a:r>
              <a:rPr lang="en-US" sz="939" b="0" u="none" strike="noStrike">
                <a:solidFill>
                  <a:srgbClr val="475569"/>
                </a:solidFill>
                <a:effectLst/>
                <a:uFillTx/>
                <a:latin typeface="Arial"/>
              </a:rPr>
              <a:t>is the only human actor.</a:t>
            </a:r>
            <a:endParaRPr lang="en-PH" sz="939" b="0" u="none" strike="noStrike">
              <a:solidFill>
                <a:srgbClr val="000000"/>
              </a:solidFill>
              <a:effectLst/>
              <a:uFillTx/>
              <a:latin typeface="Arial"/>
            </a:endParaRPr>
          </a:p>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Camera </a:t>
            </a:r>
            <a:r>
              <a:rPr lang="en-US" sz="939" b="0" u="none" strike="noStrike">
                <a:solidFill>
                  <a:srgbClr val="475569"/>
                </a:solidFill>
                <a:effectLst/>
                <a:uFillTx/>
                <a:latin typeface="Arial"/>
              </a:rPr>
              <a:t>is a local V4L2 device; an uploaded image is the fallback.</a:t>
            </a:r>
            <a:endParaRPr lang="en-PH" sz="939" b="0" u="none" strike="noStrike">
              <a:solidFill>
                <a:srgbClr val="000000"/>
              </a:solidFill>
              <a:effectLst/>
              <a:uFillTx/>
              <a:latin typeface="Arial"/>
            </a:endParaRPr>
          </a:p>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MySQL </a:t>
            </a:r>
            <a:r>
              <a:rPr lang="en-US" sz="939" b="0" u="none" strike="noStrike">
                <a:solidFill>
                  <a:srgbClr val="475569"/>
                </a:solidFill>
                <a:effectLst/>
                <a:uFillTx/>
                <a:latin typeface="Arial"/>
              </a:rPr>
              <a:t>runs on the same workstation. There is no API server.</a:t>
            </a:r>
            <a:endParaRPr lang="en-PH" sz="939" b="0" u="none" strike="noStrike">
              <a:solidFill>
                <a:srgbClr val="000000"/>
              </a:solidFill>
              <a:effectLst/>
              <a:uFillTx/>
              <a:latin typeface="Arial"/>
            </a:endParaRPr>
          </a:p>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Model and datasets </a:t>
            </a:r>
            <a:r>
              <a:rPr lang="en-US" sz="939" b="0" u="none" strike="noStrike">
                <a:solidFill>
                  <a:srgbClr val="475569"/>
                </a:solidFill>
                <a:effectLst/>
                <a:uFillTx/>
                <a:latin typeface="Arial"/>
              </a:rPr>
              <a:t>are files on disk, not services.</a:t>
            </a:r>
            <a:endParaRPr lang="en-PH" sz="939" b="0" u="none" strike="noStrike">
              <a:solidFill>
                <a:srgbClr val="000000"/>
              </a:solidFill>
              <a:effectLst/>
              <a:uFillTx/>
              <a:latin typeface="Arial"/>
            </a:endParaRPr>
          </a:p>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Outputs </a:t>
            </a:r>
            <a:r>
              <a:rPr lang="en-US" sz="939" b="0" u="none" strike="noStrike">
                <a:solidFill>
                  <a:srgbClr val="475569"/>
                </a:solidFill>
                <a:effectLst/>
                <a:uFillTx/>
                <a:latin typeface="Arial"/>
              </a:rPr>
              <a:t>land in reports/ and generated_id_cards/.</a:t>
            </a:r>
            <a:endParaRPr lang="en-PH" sz="93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6"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217"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218"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02 · TECHNOLOGY</a:t>
            </a:r>
            <a:endParaRPr lang="en-PH" sz="880" b="0" u="none" strike="noStrike">
              <a:solidFill>
                <a:srgbClr val="000000"/>
              </a:solidFill>
              <a:effectLst/>
              <a:uFillTx/>
              <a:latin typeface="Arial"/>
            </a:endParaRPr>
          </a:p>
        </p:txBody>
      </p:sp>
      <p:sp>
        <p:nvSpPr>
          <p:cNvPr id="219"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Verified runtime and libraries</a:t>
            </a:r>
            <a:endParaRPr lang="en-PH" sz="2450" b="0" u="none" strike="noStrike">
              <a:solidFill>
                <a:srgbClr val="000000"/>
              </a:solidFill>
              <a:effectLst/>
              <a:uFillTx/>
              <a:latin typeface="Arial"/>
            </a:endParaRPr>
          </a:p>
        </p:txBody>
      </p:sp>
      <p:sp>
        <p:nvSpPr>
          <p:cNvPr id="220"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Versions were read from the project virtual environment and from live imports, not from a requirements wish-list.</a:t>
            </a:r>
            <a:endParaRPr lang="en-PH" sz="1080" b="0" u="none" strike="noStrike">
              <a:solidFill>
                <a:srgbClr val="000000"/>
              </a:solidFill>
              <a:effectLst/>
              <a:uFillTx/>
              <a:latin typeface="Arial"/>
            </a:endParaRPr>
          </a:p>
        </p:txBody>
      </p:sp>
      <p:sp>
        <p:nvSpPr>
          <p:cNvPr id="221"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222"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223"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08 / 35</a:t>
            </a:r>
            <a:endParaRPr lang="en-PH" sz="780" b="0" u="none" strike="noStrike">
              <a:solidFill>
                <a:srgbClr val="000000"/>
              </a:solidFill>
              <a:effectLst/>
              <a:uFillTx/>
              <a:latin typeface="Arial"/>
            </a:endParaRPr>
          </a:p>
        </p:txBody>
      </p:sp>
      <p:sp>
        <p:nvSpPr>
          <p:cNvPr id="224" name="Rounded Rectangle 9"/>
          <p:cNvSpPr/>
          <p:nvPr/>
        </p:nvSpPr>
        <p:spPr>
          <a:xfrm>
            <a:off x="567000" y="1481400"/>
            <a:ext cx="3528720" cy="4159800"/>
          </a:xfrm>
          <a:prstGeom prst="roundRect">
            <a:avLst>
              <a:gd name="adj" fmla="val 8000"/>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5" name="Rectangle 10"/>
          <p:cNvSpPr/>
          <p:nvPr/>
        </p:nvSpPr>
        <p:spPr>
          <a:xfrm>
            <a:off x="567000" y="1481400"/>
            <a:ext cx="3528720" cy="8172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26" name="TextBox 11"/>
          <p:cNvSpPr/>
          <p:nvPr/>
        </p:nvSpPr>
        <p:spPr>
          <a:xfrm>
            <a:off x="786240" y="1700640"/>
            <a:ext cx="30898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80" b="1" u="none" strike="noStrike">
                <a:solidFill>
                  <a:srgbClr val="0F172A"/>
                </a:solidFill>
                <a:effectLst/>
                <a:uFillTx/>
                <a:latin typeface="Arial"/>
              </a:rPr>
              <a:t>Application &amp; UI</a:t>
            </a:r>
            <a:endParaRPr lang="en-PH" sz="1280" b="0" u="none" strike="noStrike">
              <a:solidFill>
                <a:srgbClr val="000000"/>
              </a:solidFill>
              <a:effectLst/>
              <a:uFillTx/>
              <a:latin typeface="Arial"/>
            </a:endParaRPr>
          </a:p>
        </p:txBody>
      </p:sp>
      <p:sp>
        <p:nvSpPr>
          <p:cNvPr id="227" name="TextBox 12"/>
          <p:cNvSpPr/>
          <p:nvPr/>
        </p:nvSpPr>
        <p:spPr>
          <a:xfrm>
            <a:off x="786240" y="217620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Python</a:t>
            </a:r>
            <a:endParaRPr lang="en-PH" sz="980" b="0" u="none" strike="noStrike">
              <a:solidFill>
                <a:srgbClr val="000000"/>
              </a:solidFill>
              <a:effectLst/>
              <a:uFillTx/>
              <a:latin typeface="Arial"/>
            </a:endParaRPr>
          </a:p>
        </p:txBody>
      </p:sp>
      <p:sp>
        <p:nvSpPr>
          <p:cNvPr id="228" name="TextBox 13"/>
          <p:cNvSpPr/>
          <p:nvPr/>
        </p:nvSpPr>
        <p:spPr>
          <a:xfrm>
            <a:off x="2779920" y="217620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3.14.4</a:t>
            </a:r>
            <a:endParaRPr lang="en-PH" sz="920" b="0" u="none" strike="noStrike">
              <a:solidFill>
                <a:srgbClr val="000000"/>
              </a:solidFill>
              <a:effectLst/>
              <a:uFillTx/>
              <a:latin typeface="Arial"/>
            </a:endParaRPr>
          </a:p>
        </p:txBody>
      </p:sp>
      <p:sp>
        <p:nvSpPr>
          <p:cNvPr id="229" name="Rectangle 14"/>
          <p:cNvSpPr/>
          <p:nvPr/>
        </p:nvSpPr>
        <p:spPr>
          <a:xfrm>
            <a:off x="786240" y="248724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30" name="TextBox 15"/>
          <p:cNvSpPr/>
          <p:nvPr/>
        </p:nvSpPr>
        <p:spPr>
          <a:xfrm>
            <a:off x="786240" y="267912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PySide6</a:t>
            </a:r>
            <a:endParaRPr lang="en-PH" sz="980" b="0" u="none" strike="noStrike">
              <a:solidFill>
                <a:srgbClr val="000000"/>
              </a:solidFill>
              <a:effectLst/>
              <a:uFillTx/>
              <a:latin typeface="Arial"/>
            </a:endParaRPr>
          </a:p>
        </p:txBody>
      </p:sp>
      <p:sp>
        <p:nvSpPr>
          <p:cNvPr id="231" name="TextBox 16"/>
          <p:cNvSpPr/>
          <p:nvPr/>
        </p:nvSpPr>
        <p:spPr>
          <a:xfrm>
            <a:off x="2779920" y="267912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6.12.0</a:t>
            </a:r>
            <a:endParaRPr lang="en-PH" sz="920" b="0" u="none" strike="noStrike">
              <a:solidFill>
                <a:srgbClr val="000000"/>
              </a:solidFill>
              <a:effectLst/>
              <a:uFillTx/>
              <a:latin typeface="Arial"/>
            </a:endParaRPr>
          </a:p>
        </p:txBody>
      </p:sp>
      <p:sp>
        <p:nvSpPr>
          <p:cNvPr id="232" name="Rectangle 17"/>
          <p:cNvSpPr/>
          <p:nvPr/>
        </p:nvSpPr>
        <p:spPr>
          <a:xfrm>
            <a:off x="786240" y="299016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33" name="TextBox 18"/>
          <p:cNvSpPr/>
          <p:nvPr/>
        </p:nvSpPr>
        <p:spPr>
          <a:xfrm>
            <a:off x="786240" y="318204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Qt</a:t>
            </a:r>
            <a:endParaRPr lang="en-PH" sz="980" b="0" u="none" strike="noStrike">
              <a:solidFill>
                <a:srgbClr val="000000"/>
              </a:solidFill>
              <a:effectLst/>
              <a:uFillTx/>
              <a:latin typeface="Arial"/>
            </a:endParaRPr>
          </a:p>
        </p:txBody>
      </p:sp>
      <p:sp>
        <p:nvSpPr>
          <p:cNvPr id="234" name="TextBox 19"/>
          <p:cNvSpPr/>
          <p:nvPr/>
        </p:nvSpPr>
        <p:spPr>
          <a:xfrm>
            <a:off x="2779920" y="318204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6.12.0</a:t>
            </a:r>
            <a:endParaRPr lang="en-PH" sz="920" b="0" u="none" strike="noStrike">
              <a:solidFill>
                <a:srgbClr val="000000"/>
              </a:solidFill>
              <a:effectLst/>
              <a:uFillTx/>
              <a:latin typeface="Arial"/>
            </a:endParaRPr>
          </a:p>
        </p:txBody>
      </p:sp>
      <p:sp>
        <p:nvSpPr>
          <p:cNvPr id="235" name="Rectangle 20"/>
          <p:cNvSpPr/>
          <p:nvPr/>
        </p:nvSpPr>
        <p:spPr>
          <a:xfrm>
            <a:off x="786240" y="349308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36" name="TextBox 21"/>
          <p:cNvSpPr/>
          <p:nvPr/>
        </p:nvSpPr>
        <p:spPr>
          <a:xfrm>
            <a:off x="786240" y="368496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python-dotenv</a:t>
            </a:r>
            <a:endParaRPr lang="en-PH" sz="980" b="0" u="none" strike="noStrike">
              <a:solidFill>
                <a:srgbClr val="000000"/>
              </a:solidFill>
              <a:effectLst/>
              <a:uFillTx/>
              <a:latin typeface="Arial"/>
            </a:endParaRPr>
          </a:p>
        </p:txBody>
      </p:sp>
      <p:sp>
        <p:nvSpPr>
          <p:cNvPr id="237" name="TextBox 22"/>
          <p:cNvSpPr/>
          <p:nvPr/>
        </p:nvSpPr>
        <p:spPr>
          <a:xfrm>
            <a:off x="2779920" y="368496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configured</a:t>
            </a:r>
            <a:endParaRPr lang="en-PH" sz="920" b="0" u="none" strike="noStrike">
              <a:solidFill>
                <a:srgbClr val="000000"/>
              </a:solidFill>
              <a:effectLst/>
              <a:uFillTx/>
              <a:latin typeface="Arial"/>
            </a:endParaRPr>
          </a:p>
        </p:txBody>
      </p:sp>
      <p:sp>
        <p:nvSpPr>
          <p:cNvPr id="238" name="Rectangle 23"/>
          <p:cNvSpPr/>
          <p:nvPr/>
        </p:nvSpPr>
        <p:spPr>
          <a:xfrm>
            <a:off x="786240" y="399600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39" name="TextBox 24"/>
          <p:cNvSpPr/>
          <p:nvPr/>
        </p:nvSpPr>
        <p:spPr>
          <a:xfrm>
            <a:off x="786240" y="418788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pytest</a:t>
            </a:r>
            <a:endParaRPr lang="en-PH" sz="980" b="0" u="none" strike="noStrike">
              <a:solidFill>
                <a:srgbClr val="000000"/>
              </a:solidFill>
              <a:effectLst/>
              <a:uFillTx/>
              <a:latin typeface="Arial"/>
            </a:endParaRPr>
          </a:p>
        </p:txBody>
      </p:sp>
      <p:sp>
        <p:nvSpPr>
          <p:cNvPr id="240" name="TextBox 25"/>
          <p:cNvSpPr/>
          <p:nvPr/>
        </p:nvSpPr>
        <p:spPr>
          <a:xfrm>
            <a:off x="2779920" y="418788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9.1.1</a:t>
            </a:r>
            <a:endParaRPr lang="en-PH" sz="920" b="0" u="none" strike="noStrike">
              <a:solidFill>
                <a:srgbClr val="000000"/>
              </a:solidFill>
              <a:effectLst/>
              <a:uFillTx/>
              <a:latin typeface="Arial"/>
            </a:endParaRPr>
          </a:p>
        </p:txBody>
      </p:sp>
      <p:sp>
        <p:nvSpPr>
          <p:cNvPr id="241" name="Rectangle 26"/>
          <p:cNvSpPr/>
          <p:nvPr/>
        </p:nvSpPr>
        <p:spPr>
          <a:xfrm>
            <a:off x="786240" y="449892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42" name="Rounded Rectangle 27"/>
          <p:cNvSpPr/>
          <p:nvPr/>
        </p:nvSpPr>
        <p:spPr>
          <a:xfrm>
            <a:off x="4316040" y="1481400"/>
            <a:ext cx="3528720" cy="4159800"/>
          </a:xfrm>
          <a:prstGeom prst="roundRect">
            <a:avLst>
              <a:gd name="adj" fmla="val 8000"/>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3" name="Rectangle 28"/>
          <p:cNvSpPr/>
          <p:nvPr/>
        </p:nvSpPr>
        <p:spPr>
          <a:xfrm>
            <a:off x="4316040" y="1481400"/>
            <a:ext cx="3528720" cy="817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44" name="TextBox 29"/>
          <p:cNvSpPr/>
          <p:nvPr/>
        </p:nvSpPr>
        <p:spPr>
          <a:xfrm>
            <a:off x="4535280" y="1700640"/>
            <a:ext cx="30898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80" b="1" u="none" strike="noStrike">
                <a:solidFill>
                  <a:srgbClr val="0F172A"/>
                </a:solidFill>
                <a:effectLst/>
                <a:uFillTx/>
                <a:latin typeface="Arial"/>
              </a:rPr>
              <a:t>Data &amp; storage</a:t>
            </a:r>
            <a:endParaRPr lang="en-PH" sz="1280" b="0" u="none" strike="noStrike">
              <a:solidFill>
                <a:srgbClr val="000000"/>
              </a:solidFill>
              <a:effectLst/>
              <a:uFillTx/>
              <a:latin typeface="Arial"/>
            </a:endParaRPr>
          </a:p>
        </p:txBody>
      </p:sp>
      <p:sp>
        <p:nvSpPr>
          <p:cNvPr id="245" name="TextBox 30"/>
          <p:cNvSpPr/>
          <p:nvPr/>
        </p:nvSpPr>
        <p:spPr>
          <a:xfrm>
            <a:off x="4535280" y="217620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MySQL</a:t>
            </a:r>
            <a:endParaRPr lang="en-PH" sz="980" b="0" u="none" strike="noStrike">
              <a:solidFill>
                <a:srgbClr val="000000"/>
              </a:solidFill>
              <a:effectLst/>
              <a:uFillTx/>
              <a:latin typeface="Arial"/>
            </a:endParaRPr>
          </a:p>
        </p:txBody>
      </p:sp>
      <p:sp>
        <p:nvSpPr>
          <p:cNvPr id="246" name="TextBox 31"/>
          <p:cNvSpPr/>
          <p:nvPr/>
        </p:nvSpPr>
        <p:spPr>
          <a:xfrm>
            <a:off x="6528960" y="217620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8.4.11</a:t>
            </a:r>
            <a:endParaRPr lang="en-PH" sz="920" b="0" u="none" strike="noStrike">
              <a:solidFill>
                <a:srgbClr val="000000"/>
              </a:solidFill>
              <a:effectLst/>
              <a:uFillTx/>
              <a:latin typeface="Arial"/>
            </a:endParaRPr>
          </a:p>
        </p:txBody>
      </p:sp>
      <p:sp>
        <p:nvSpPr>
          <p:cNvPr id="247" name="Rectangle 32"/>
          <p:cNvSpPr/>
          <p:nvPr/>
        </p:nvSpPr>
        <p:spPr>
          <a:xfrm>
            <a:off x="4535280" y="248724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48" name="TextBox 33"/>
          <p:cNvSpPr/>
          <p:nvPr/>
        </p:nvSpPr>
        <p:spPr>
          <a:xfrm>
            <a:off x="4535280" y="267912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mysql-connector-python</a:t>
            </a:r>
            <a:endParaRPr lang="en-PH" sz="980" b="0" u="none" strike="noStrike">
              <a:solidFill>
                <a:srgbClr val="000000"/>
              </a:solidFill>
              <a:effectLst/>
              <a:uFillTx/>
              <a:latin typeface="Arial"/>
            </a:endParaRPr>
          </a:p>
        </p:txBody>
      </p:sp>
      <p:sp>
        <p:nvSpPr>
          <p:cNvPr id="249" name="TextBox 34"/>
          <p:cNvSpPr/>
          <p:nvPr/>
        </p:nvSpPr>
        <p:spPr>
          <a:xfrm>
            <a:off x="6528960" y="267912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26.7.0</a:t>
            </a:r>
            <a:endParaRPr lang="en-PH" sz="920" b="0" u="none" strike="noStrike">
              <a:solidFill>
                <a:srgbClr val="000000"/>
              </a:solidFill>
              <a:effectLst/>
              <a:uFillTx/>
              <a:latin typeface="Arial"/>
            </a:endParaRPr>
          </a:p>
        </p:txBody>
      </p:sp>
      <p:sp>
        <p:nvSpPr>
          <p:cNvPr id="250" name="Rectangle 35"/>
          <p:cNvSpPr/>
          <p:nvPr/>
        </p:nvSpPr>
        <p:spPr>
          <a:xfrm>
            <a:off x="4535280" y="299016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51" name="TextBox 36"/>
          <p:cNvSpPr/>
          <p:nvPr/>
        </p:nvSpPr>
        <p:spPr>
          <a:xfrm>
            <a:off x="4535280" y="318204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InnoDB</a:t>
            </a:r>
            <a:endParaRPr lang="en-PH" sz="980" b="0" u="none" strike="noStrike">
              <a:solidFill>
                <a:srgbClr val="000000"/>
              </a:solidFill>
              <a:effectLst/>
              <a:uFillTx/>
              <a:latin typeface="Arial"/>
            </a:endParaRPr>
          </a:p>
        </p:txBody>
      </p:sp>
      <p:sp>
        <p:nvSpPr>
          <p:cNvPr id="252" name="TextBox 37"/>
          <p:cNvSpPr/>
          <p:nvPr/>
        </p:nvSpPr>
        <p:spPr>
          <a:xfrm>
            <a:off x="6528960" y="318204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utf8mb4</a:t>
            </a:r>
            <a:endParaRPr lang="en-PH" sz="920" b="0" u="none" strike="noStrike">
              <a:solidFill>
                <a:srgbClr val="000000"/>
              </a:solidFill>
              <a:effectLst/>
              <a:uFillTx/>
              <a:latin typeface="Arial"/>
            </a:endParaRPr>
          </a:p>
        </p:txBody>
      </p:sp>
      <p:sp>
        <p:nvSpPr>
          <p:cNvPr id="253" name="Rectangle 38"/>
          <p:cNvSpPr/>
          <p:nvPr/>
        </p:nvSpPr>
        <p:spPr>
          <a:xfrm>
            <a:off x="4535280" y="349308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54" name="TextBox 39"/>
          <p:cNvSpPr/>
          <p:nvPr/>
        </p:nvSpPr>
        <p:spPr>
          <a:xfrm>
            <a:off x="4535280" y="368496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connection pool</a:t>
            </a:r>
            <a:endParaRPr lang="en-PH" sz="980" b="0" u="none" strike="noStrike">
              <a:solidFill>
                <a:srgbClr val="000000"/>
              </a:solidFill>
              <a:effectLst/>
              <a:uFillTx/>
              <a:latin typeface="Arial"/>
            </a:endParaRPr>
          </a:p>
        </p:txBody>
      </p:sp>
      <p:sp>
        <p:nvSpPr>
          <p:cNvPr id="255" name="TextBox 40"/>
          <p:cNvSpPr/>
          <p:nvPr/>
        </p:nvSpPr>
        <p:spPr>
          <a:xfrm>
            <a:off x="6528960" y="368496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size 10</a:t>
            </a:r>
            <a:endParaRPr lang="en-PH" sz="920" b="0" u="none" strike="noStrike">
              <a:solidFill>
                <a:srgbClr val="000000"/>
              </a:solidFill>
              <a:effectLst/>
              <a:uFillTx/>
              <a:latin typeface="Arial"/>
            </a:endParaRPr>
          </a:p>
        </p:txBody>
      </p:sp>
      <p:sp>
        <p:nvSpPr>
          <p:cNvPr id="256" name="Rectangle 41"/>
          <p:cNvSpPr/>
          <p:nvPr/>
        </p:nvSpPr>
        <p:spPr>
          <a:xfrm>
            <a:off x="4535280" y="399600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57" name="TextBox 42"/>
          <p:cNvSpPr/>
          <p:nvPr/>
        </p:nvSpPr>
        <p:spPr>
          <a:xfrm>
            <a:off x="4535280" y="418788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ReportLab</a:t>
            </a:r>
            <a:endParaRPr lang="en-PH" sz="980" b="0" u="none" strike="noStrike">
              <a:solidFill>
                <a:srgbClr val="000000"/>
              </a:solidFill>
              <a:effectLst/>
              <a:uFillTx/>
              <a:latin typeface="Arial"/>
            </a:endParaRPr>
          </a:p>
        </p:txBody>
      </p:sp>
      <p:sp>
        <p:nvSpPr>
          <p:cNvPr id="258" name="TextBox 43"/>
          <p:cNvSpPr/>
          <p:nvPr/>
        </p:nvSpPr>
        <p:spPr>
          <a:xfrm>
            <a:off x="6528960" y="418788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5.0.1</a:t>
            </a:r>
            <a:endParaRPr lang="en-PH" sz="920" b="0" u="none" strike="noStrike">
              <a:solidFill>
                <a:srgbClr val="000000"/>
              </a:solidFill>
              <a:effectLst/>
              <a:uFillTx/>
              <a:latin typeface="Arial"/>
            </a:endParaRPr>
          </a:p>
        </p:txBody>
      </p:sp>
      <p:sp>
        <p:nvSpPr>
          <p:cNvPr id="259" name="Rectangle 44"/>
          <p:cNvSpPr/>
          <p:nvPr/>
        </p:nvSpPr>
        <p:spPr>
          <a:xfrm>
            <a:off x="4535280" y="449892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60" name="Rounded Rectangle 45"/>
          <p:cNvSpPr/>
          <p:nvPr/>
        </p:nvSpPr>
        <p:spPr>
          <a:xfrm>
            <a:off x="8065080" y="1481400"/>
            <a:ext cx="3528720" cy="4159800"/>
          </a:xfrm>
          <a:prstGeom prst="roundRect">
            <a:avLst>
              <a:gd name="adj" fmla="val 8000"/>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1" name="Rectangle 46"/>
          <p:cNvSpPr/>
          <p:nvPr/>
        </p:nvSpPr>
        <p:spPr>
          <a:xfrm>
            <a:off x="8065080" y="1481400"/>
            <a:ext cx="3528720" cy="8172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62" name="TextBox 47"/>
          <p:cNvSpPr/>
          <p:nvPr/>
        </p:nvSpPr>
        <p:spPr>
          <a:xfrm>
            <a:off x="8284320" y="1700640"/>
            <a:ext cx="30898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80" b="1" u="none" strike="noStrike">
                <a:solidFill>
                  <a:srgbClr val="0F172A"/>
                </a:solidFill>
                <a:effectLst/>
                <a:uFillTx/>
                <a:latin typeface="Arial"/>
              </a:rPr>
              <a:t>Vision &amp; identity</a:t>
            </a:r>
            <a:endParaRPr lang="en-PH" sz="1280" b="0" u="none" strike="noStrike">
              <a:solidFill>
                <a:srgbClr val="000000"/>
              </a:solidFill>
              <a:effectLst/>
              <a:uFillTx/>
              <a:latin typeface="Arial"/>
            </a:endParaRPr>
          </a:p>
        </p:txBody>
      </p:sp>
      <p:sp>
        <p:nvSpPr>
          <p:cNvPr id="263" name="TextBox 48"/>
          <p:cNvSpPr/>
          <p:nvPr/>
        </p:nvSpPr>
        <p:spPr>
          <a:xfrm>
            <a:off x="8284320" y="217620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Ultralytics</a:t>
            </a:r>
            <a:endParaRPr lang="en-PH" sz="980" b="0" u="none" strike="noStrike">
              <a:solidFill>
                <a:srgbClr val="000000"/>
              </a:solidFill>
              <a:effectLst/>
              <a:uFillTx/>
              <a:latin typeface="Arial"/>
            </a:endParaRPr>
          </a:p>
        </p:txBody>
      </p:sp>
      <p:sp>
        <p:nvSpPr>
          <p:cNvPr id="264" name="TextBox 49"/>
          <p:cNvSpPr/>
          <p:nvPr/>
        </p:nvSpPr>
        <p:spPr>
          <a:xfrm>
            <a:off x="10278000" y="217620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8.4.177</a:t>
            </a:r>
            <a:endParaRPr lang="en-PH" sz="920" b="0" u="none" strike="noStrike">
              <a:solidFill>
                <a:srgbClr val="000000"/>
              </a:solidFill>
              <a:effectLst/>
              <a:uFillTx/>
              <a:latin typeface="Arial"/>
            </a:endParaRPr>
          </a:p>
        </p:txBody>
      </p:sp>
      <p:sp>
        <p:nvSpPr>
          <p:cNvPr id="265" name="Rectangle 50"/>
          <p:cNvSpPr/>
          <p:nvPr/>
        </p:nvSpPr>
        <p:spPr>
          <a:xfrm>
            <a:off x="8284320" y="248724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66" name="TextBox 51"/>
          <p:cNvSpPr/>
          <p:nvPr/>
        </p:nvSpPr>
        <p:spPr>
          <a:xfrm>
            <a:off x="8284320" y="267912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PyTorch</a:t>
            </a:r>
            <a:endParaRPr lang="en-PH" sz="980" b="0" u="none" strike="noStrike">
              <a:solidFill>
                <a:srgbClr val="000000"/>
              </a:solidFill>
              <a:effectLst/>
              <a:uFillTx/>
              <a:latin typeface="Arial"/>
            </a:endParaRPr>
          </a:p>
        </p:txBody>
      </p:sp>
      <p:sp>
        <p:nvSpPr>
          <p:cNvPr id="267" name="TextBox 52"/>
          <p:cNvSpPr/>
          <p:nvPr/>
        </p:nvSpPr>
        <p:spPr>
          <a:xfrm>
            <a:off x="10278000" y="267912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2.14.1</a:t>
            </a:r>
            <a:endParaRPr lang="en-PH" sz="920" b="0" u="none" strike="noStrike">
              <a:solidFill>
                <a:srgbClr val="000000"/>
              </a:solidFill>
              <a:effectLst/>
              <a:uFillTx/>
              <a:latin typeface="Arial"/>
            </a:endParaRPr>
          </a:p>
        </p:txBody>
      </p:sp>
      <p:sp>
        <p:nvSpPr>
          <p:cNvPr id="268" name="Rectangle 53"/>
          <p:cNvSpPr/>
          <p:nvPr/>
        </p:nvSpPr>
        <p:spPr>
          <a:xfrm>
            <a:off x="8284320" y="299016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69" name="TextBox 54"/>
          <p:cNvSpPr/>
          <p:nvPr/>
        </p:nvSpPr>
        <p:spPr>
          <a:xfrm>
            <a:off x="8284320" y="318204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OpenCV</a:t>
            </a:r>
            <a:endParaRPr lang="en-PH" sz="980" b="0" u="none" strike="noStrike">
              <a:solidFill>
                <a:srgbClr val="000000"/>
              </a:solidFill>
              <a:effectLst/>
              <a:uFillTx/>
              <a:latin typeface="Arial"/>
            </a:endParaRPr>
          </a:p>
        </p:txBody>
      </p:sp>
      <p:sp>
        <p:nvSpPr>
          <p:cNvPr id="270" name="TextBox 55"/>
          <p:cNvSpPr/>
          <p:nvPr/>
        </p:nvSpPr>
        <p:spPr>
          <a:xfrm>
            <a:off x="10278000" y="318204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5.0.0</a:t>
            </a:r>
            <a:endParaRPr lang="en-PH" sz="920" b="0" u="none" strike="noStrike">
              <a:solidFill>
                <a:srgbClr val="000000"/>
              </a:solidFill>
              <a:effectLst/>
              <a:uFillTx/>
              <a:latin typeface="Arial"/>
            </a:endParaRPr>
          </a:p>
        </p:txBody>
      </p:sp>
      <p:sp>
        <p:nvSpPr>
          <p:cNvPr id="271" name="Rectangle 56"/>
          <p:cNvSpPr/>
          <p:nvPr/>
        </p:nvSpPr>
        <p:spPr>
          <a:xfrm>
            <a:off x="8284320" y="349308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72" name="TextBox 57"/>
          <p:cNvSpPr/>
          <p:nvPr/>
        </p:nvSpPr>
        <p:spPr>
          <a:xfrm>
            <a:off x="8284320" y="368496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pyzbar</a:t>
            </a:r>
            <a:endParaRPr lang="en-PH" sz="980" b="0" u="none" strike="noStrike">
              <a:solidFill>
                <a:srgbClr val="000000"/>
              </a:solidFill>
              <a:effectLst/>
              <a:uFillTx/>
              <a:latin typeface="Arial"/>
            </a:endParaRPr>
          </a:p>
        </p:txBody>
      </p:sp>
      <p:sp>
        <p:nvSpPr>
          <p:cNvPr id="273" name="TextBox 58"/>
          <p:cNvSpPr/>
          <p:nvPr/>
        </p:nvSpPr>
        <p:spPr>
          <a:xfrm>
            <a:off x="10278000" y="368496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0.1.9</a:t>
            </a:r>
            <a:endParaRPr lang="en-PH" sz="920" b="0" u="none" strike="noStrike">
              <a:solidFill>
                <a:srgbClr val="000000"/>
              </a:solidFill>
              <a:effectLst/>
              <a:uFillTx/>
              <a:latin typeface="Arial"/>
            </a:endParaRPr>
          </a:p>
        </p:txBody>
      </p:sp>
      <p:sp>
        <p:nvSpPr>
          <p:cNvPr id="274" name="Rectangle 59"/>
          <p:cNvSpPr/>
          <p:nvPr/>
        </p:nvSpPr>
        <p:spPr>
          <a:xfrm>
            <a:off x="8284320" y="399600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75" name="TextBox 60"/>
          <p:cNvSpPr/>
          <p:nvPr/>
        </p:nvSpPr>
        <p:spPr>
          <a:xfrm>
            <a:off x="8284320" y="4187880"/>
            <a:ext cx="2010960" cy="246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80" b="0" u="none" strike="noStrike">
                <a:solidFill>
                  <a:srgbClr val="475569"/>
                </a:solidFill>
                <a:effectLst/>
                <a:uFillTx/>
                <a:latin typeface="Arial"/>
              </a:rPr>
              <a:t>python-barcode</a:t>
            </a:r>
            <a:endParaRPr lang="en-PH" sz="980" b="0" u="none" strike="noStrike">
              <a:solidFill>
                <a:srgbClr val="000000"/>
              </a:solidFill>
              <a:effectLst/>
              <a:uFillTx/>
              <a:latin typeface="Arial"/>
            </a:endParaRPr>
          </a:p>
        </p:txBody>
      </p:sp>
      <p:sp>
        <p:nvSpPr>
          <p:cNvPr id="276" name="TextBox 61"/>
          <p:cNvSpPr/>
          <p:nvPr/>
        </p:nvSpPr>
        <p:spPr>
          <a:xfrm>
            <a:off x="10278000" y="4187880"/>
            <a:ext cx="1096560" cy="246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20" b="1" u="none" strike="noStrike">
                <a:solidFill>
                  <a:srgbClr val="AD4D05"/>
                </a:solidFill>
                <a:effectLst/>
                <a:uFillTx/>
                <a:latin typeface="Arial"/>
              </a:rPr>
              <a:t>0.16.1</a:t>
            </a:r>
            <a:endParaRPr lang="en-PH" sz="920" b="0" u="none" strike="noStrike">
              <a:solidFill>
                <a:srgbClr val="000000"/>
              </a:solidFill>
              <a:effectLst/>
              <a:uFillTx/>
              <a:latin typeface="Arial"/>
            </a:endParaRPr>
          </a:p>
        </p:txBody>
      </p:sp>
      <p:sp>
        <p:nvSpPr>
          <p:cNvPr id="277" name="Rectangle 62"/>
          <p:cNvSpPr/>
          <p:nvPr/>
        </p:nvSpPr>
        <p:spPr>
          <a:xfrm>
            <a:off x="8284320" y="4498920"/>
            <a:ext cx="3062520" cy="64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endParaRPr lang="en-US" sz="1800" b="0" u="none" strike="noStrike">
              <a:solidFill>
                <a:schemeClr val="lt1"/>
              </a:solidFill>
              <a:effectLst/>
              <a:uFillTx/>
              <a:latin typeface="Calibri"/>
            </a:endParaRPr>
          </a:p>
        </p:txBody>
      </p:sp>
      <p:sp>
        <p:nvSpPr>
          <p:cNvPr id="278" name="Rounded Rectangle 63"/>
          <p:cNvSpPr/>
          <p:nvPr/>
        </p:nvSpPr>
        <p:spPr>
          <a:xfrm>
            <a:off x="567000" y="5833800"/>
            <a:ext cx="2084040" cy="273600"/>
          </a:xfrm>
          <a:prstGeom prst="roundRect">
            <a:avLst>
              <a:gd name="adj" fmla="val 8000"/>
            </a:avLst>
          </a:prstGeom>
          <a:solidFill>
            <a:srgbClr val="DCFCE7"/>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9" name="TextBox 64"/>
          <p:cNvSpPr/>
          <p:nvPr/>
        </p:nvSpPr>
        <p:spPr>
          <a:xfrm>
            <a:off x="612720" y="5875200"/>
            <a:ext cx="19926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60" b="1" u="none" strike="noStrike">
                <a:solidFill>
                  <a:srgbClr val="16A34A"/>
                </a:solidFill>
                <a:effectLst/>
                <a:uFillTx/>
                <a:latin typeface="Arial"/>
              </a:rPr>
              <a:t>CUDA · RTX 2050</a:t>
            </a:r>
            <a:endParaRPr lang="en-PH" sz="860" b="0" u="none" strike="noStrike">
              <a:solidFill>
                <a:srgbClr val="000000"/>
              </a:solidFill>
              <a:effectLst/>
              <a:uFillTx/>
              <a:latin typeface="Arial"/>
            </a:endParaRPr>
          </a:p>
        </p:txBody>
      </p:sp>
      <p:sp>
        <p:nvSpPr>
          <p:cNvPr id="280" name="Rounded Rectangle 65"/>
          <p:cNvSpPr/>
          <p:nvPr/>
        </p:nvSpPr>
        <p:spPr>
          <a:xfrm>
            <a:off x="2779920" y="5833800"/>
            <a:ext cx="2084040" cy="273600"/>
          </a:xfrm>
          <a:prstGeom prst="roundRect">
            <a:avLst>
              <a:gd name="adj" fmla="val 8000"/>
            </a:avLst>
          </a:prstGeom>
          <a:solidFill>
            <a:srgbClr val="F8FAFC"/>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1" name="TextBox 66"/>
          <p:cNvSpPr/>
          <p:nvPr/>
        </p:nvSpPr>
        <p:spPr>
          <a:xfrm>
            <a:off x="2825640" y="5875200"/>
            <a:ext cx="19926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60" b="1" u="none" strike="noStrike">
                <a:solidFill>
                  <a:srgbClr val="475569"/>
                </a:solidFill>
                <a:effectLst/>
                <a:uFillTx/>
                <a:latin typeface="Arial"/>
              </a:rPr>
              <a:t>CPU fallback</a:t>
            </a:r>
            <a:endParaRPr lang="en-PH" sz="860" b="0" u="none" strike="noStrike">
              <a:solidFill>
                <a:srgbClr val="000000"/>
              </a:solidFill>
              <a:effectLst/>
              <a:uFillTx/>
              <a:latin typeface="Arial"/>
            </a:endParaRPr>
          </a:p>
        </p:txBody>
      </p:sp>
      <p:sp>
        <p:nvSpPr>
          <p:cNvPr id="282" name="Rounded Rectangle 67"/>
          <p:cNvSpPr/>
          <p:nvPr/>
        </p:nvSpPr>
        <p:spPr>
          <a:xfrm>
            <a:off x="4992480" y="5833800"/>
            <a:ext cx="2084040" cy="273600"/>
          </a:xfrm>
          <a:prstGeom prst="roundRect">
            <a:avLst>
              <a:gd name="adj" fmla="val 8000"/>
            </a:avLst>
          </a:prstGeom>
          <a:solidFill>
            <a:srgbClr val="DBEAFE"/>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68"/>
          <p:cNvSpPr/>
          <p:nvPr/>
        </p:nvSpPr>
        <p:spPr>
          <a:xfrm>
            <a:off x="5038200" y="5875200"/>
            <a:ext cx="19926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60" b="1" u="none" strike="noStrike">
                <a:solidFill>
                  <a:srgbClr val="2563EB"/>
                </a:solidFill>
                <a:effectLst/>
                <a:uFillTx/>
                <a:latin typeface="Arial"/>
              </a:rPr>
              <a:t>Linux workstation</a:t>
            </a:r>
            <a:endParaRPr lang="en-PH" sz="860" b="0" u="none" strike="noStrike">
              <a:solidFill>
                <a:srgbClr val="000000"/>
              </a:solidFill>
              <a:effectLst/>
              <a:uFillTx/>
              <a:latin typeface="Arial"/>
            </a:endParaRPr>
          </a:p>
        </p:txBody>
      </p:sp>
      <p:sp>
        <p:nvSpPr>
          <p:cNvPr id="284" name="TextBox 69"/>
          <p:cNvSpPr/>
          <p:nvPr/>
        </p:nvSpPr>
        <p:spPr>
          <a:xfrm>
            <a:off x="7425000" y="5815440"/>
            <a:ext cx="4159800" cy="401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i="1" u="none" strike="noStrike">
                <a:solidFill>
                  <a:srgbClr val="64748B"/>
                </a:solidFill>
                <a:effectLst/>
                <a:uFillTx/>
                <a:latin typeface="Arial"/>
              </a:rPr>
              <a:t>No web framework, no HTTP client, no cloud SDK in the dependency set.</a:t>
            </a:r>
            <a:endParaRPr lang="en-PH"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286"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287"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02 · ARCHITECTURE</a:t>
            </a:r>
            <a:endParaRPr lang="en-PH" sz="880" b="0" u="none" strike="noStrike">
              <a:solidFill>
                <a:srgbClr val="000000"/>
              </a:solidFill>
              <a:effectLst/>
              <a:uFillTx/>
              <a:latin typeface="Arial"/>
            </a:endParaRPr>
          </a:p>
        </p:txBody>
      </p:sp>
      <p:sp>
        <p:nvSpPr>
          <p:cNvPr id="288"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Three tiers inside one process</a:t>
            </a:r>
            <a:endParaRPr lang="en-PH" sz="2450" b="0" u="none" strike="noStrike">
              <a:solidFill>
                <a:srgbClr val="000000"/>
              </a:solidFill>
              <a:effectLst/>
              <a:uFillTx/>
              <a:latin typeface="Arial"/>
            </a:endParaRPr>
          </a:p>
        </p:txBody>
      </p:sp>
      <p:sp>
        <p:nvSpPr>
          <p:cNvPr id="289"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Presentation, application services and the local data tier. Arrows are synchronous calls or data, not network messages.</a:t>
            </a:r>
            <a:endParaRPr lang="en-PH" sz="1080" b="0" u="none" strike="noStrike">
              <a:solidFill>
                <a:srgbClr val="000000"/>
              </a:solidFill>
              <a:effectLst/>
              <a:uFillTx/>
              <a:latin typeface="Arial"/>
            </a:endParaRPr>
          </a:p>
        </p:txBody>
      </p:sp>
      <p:sp>
        <p:nvSpPr>
          <p:cNvPr id="290"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291"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292"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09 / 35</a:t>
            </a:r>
            <a:endParaRPr lang="en-PH" sz="780" b="0" u="none" strike="noStrike">
              <a:solidFill>
                <a:srgbClr val="000000"/>
              </a:solidFill>
              <a:effectLst/>
              <a:uFillTx/>
              <a:latin typeface="Arial"/>
            </a:endParaRPr>
          </a:p>
        </p:txBody>
      </p:sp>
      <p:sp>
        <p:nvSpPr>
          <p:cNvPr id="293" name="Rectangle 9"/>
          <p:cNvSpPr/>
          <p:nvPr/>
        </p:nvSpPr>
        <p:spPr>
          <a:xfrm>
            <a:off x="567000" y="1353240"/>
            <a:ext cx="11045160" cy="47358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294" name="Picture 10" descr="WIT_System_Architecture.png"/>
          <p:cNvPicPr/>
          <p:nvPr/>
        </p:nvPicPr>
        <p:blipFill>
          <a:blip r:embed="rId1"/>
          <a:stretch/>
        </p:blipFill>
        <p:spPr>
          <a:xfrm>
            <a:off x="1905480" y="1473120"/>
            <a:ext cx="8352720" cy="46994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5"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296"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297"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02 · CODEBASE</a:t>
            </a:r>
            <a:endParaRPr lang="en-PH" sz="880" b="0" u="none" strike="noStrike">
              <a:solidFill>
                <a:srgbClr val="000000"/>
              </a:solidFill>
              <a:effectLst/>
              <a:uFillTx/>
              <a:latin typeface="Arial"/>
            </a:endParaRPr>
          </a:p>
        </p:txBody>
      </p:sp>
      <p:sp>
        <p:nvSpPr>
          <p:cNvPr id="298"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Module map and implementation state</a:t>
            </a:r>
            <a:endParaRPr lang="en-PH" sz="2450" b="0" u="none" strike="noStrike">
              <a:solidFill>
                <a:srgbClr val="000000"/>
              </a:solidFill>
              <a:effectLst/>
              <a:uFillTx/>
              <a:latin typeface="Arial"/>
            </a:endParaRPr>
          </a:p>
        </p:txBody>
      </p:sp>
      <p:sp>
        <p:nvSpPr>
          <p:cNvPr id="299"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Thirteen user-facing modules, checked against the router, the page classes and the running window.</a:t>
            </a:r>
            <a:endParaRPr lang="en-PH" sz="1080" b="0" u="none" strike="noStrike">
              <a:solidFill>
                <a:srgbClr val="000000"/>
              </a:solidFill>
              <a:effectLst/>
              <a:uFillTx/>
              <a:latin typeface="Arial"/>
            </a:endParaRPr>
          </a:p>
        </p:txBody>
      </p:sp>
      <p:sp>
        <p:nvSpPr>
          <p:cNvPr id="300"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01"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302"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10 / 35</a:t>
            </a:r>
            <a:endParaRPr lang="en-PH" sz="780" b="0" u="none" strike="noStrike">
              <a:solidFill>
                <a:srgbClr val="000000"/>
              </a:solidFill>
              <a:effectLst/>
              <a:uFillTx/>
              <a:latin typeface="Arial"/>
            </a:endParaRPr>
          </a:p>
        </p:txBody>
      </p:sp>
      <p:graphicFrame>
        <p:nvGraphicFramePr>
          <p:cNvPr id="303" name="Table 9"/>
          <p:cNvGraphicFramePr/>
          <p:nvPr/>
        </p:nvGraphicFramePr>
        <p:xfrm>
          <a:off x="567000" y="1417320"/>
          <a:ext cx="11017800" cy="4924080"/>
        </p:xfrm>
        <a:graphic>
          <a:graphicData uri="http://schemas.openxmlformats.org/drawingml/2006/table">
            <a:tbl>
              <a:tblPr/>
              <a:tblGrid>
                <a:gridCol w="2359080"/>
                <a:gridCol w="960120"/>
                <a:gridCol w="7698960"/>
              </a:tblGrid>
              <a:tr h="351720">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Module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algn="ctr" defTabSz="457200">
                        <a:lnSpc>
                          <a:spcPct val="100000"/>
                        </a:lnSpc>
                      </a:pPr>
                      <a:r>
                        <a:rPr lang="en-US" sz="860" b="1" u="none" strike="noStrike">
                          <a:solidFill>
                            <a:srgbClr val="FFFFFF"/>
                          </a:solidFill>
                          <a:effectLst/>
                          <a:uFillTx/>
                          <a:latin typeface="Arial"/>
                        </a:rPr>
                        <a:t>State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What is actually there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Dashboard</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Working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KPI cards and DB status; student table raises TypeError</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Students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Working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Search, filters, pagination, create/edit/delete dialog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Barcode Scanner</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Working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Live camera, YOLO, decode, student panel, history, result modal</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Subject Enrollment</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Working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Student selector, enrollment tabs, subject add/edit</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Courses &amp; Subjects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Working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Read-only catalogue from courses/subjects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Assessment &amp; Fees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Working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Assessment lines, schedule, balances, payment dialog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Certificate of Matriculation</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Working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Live preview, Save PDF, Print</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Reports &amp; Analytics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Working</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Five report cards, background generation</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Training Center</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Partial</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Config/registry UI; dataset counts read empty DB tables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Settings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Partial</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General tab persists; several controls are placeholders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ID Card Preview</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Partial</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Service renders CR80; preview dialog raises QImage error</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Barcode Generator</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Unrouted</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Full page class, no entry in PAGE_CLASSES</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51720">
                <a:tc>
                  <a:txBody>
                    <a:bodyPr lIns="63720" tIns="27360" rIns="45720" bIns="27360" anchor="ctr">
                      <a:noAutofit/>
                    </a:bodyPr>
                    <a:p>
                      <a:pPr defTabSz="457200">
                        <a:lnSpc>
                          <a:spcPct val="100000"/>
                        </a:lnSpc>
                      </a:pPr>
                      <a:r>
                        <a:rPr lang="en-US" sz="880" b="0" u="none" strike="noStrike">
                          <a:solidFill>
                            <a:srgbClr val="0F172A"/>
                          </a:solidFill>
                          <a:effectLst/>
                          <a:uFillTx/>
                          <a:latin typeface="Arial"/>
                        </a:rPr>
                        <a:t>Authentication / Logout</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880" b="0" u="none" strike="noStrike">
                          <a:solidFill>
                            <a:srgbClr val="475569"/>
                          </a:solidFill>
                          <a:effectLst/>
                          <a:uFillTx/>
                          <a:latin typeface="Arial"/>
                        </a:rPr>
                        <a:t>Stub</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80" b="0" u="none" strike="noStrike">
                          <a:solidFill>
                            <a:srgbClr val="475569"/>
                          </a:solidFill>
                          <a:effectLst/>
                          <a:uFillTx/>
                          <a:latin typeface="Arial"/>
                        </a:rPr>
                        <a:t>users table exists; no login, logout says “to be implemented”</a:t>
                      </a:r>
                      <a:endParaRPr lang="en-PH" sz="88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304" name="TextBox 10"/>
          <p:cNvSpPr/>
          <p:nvPr/>
        </p:nvSpPr>
        <p:spPr>
          <a:xfrm>
            <a:off x="567000" y="6245280"/>
            <a:ext cx="10972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00" b="0" i="1" u="none" strike="noStrike">
                <a:solidFill>
                  <a:srgbClr val="64748B"/>
                </a:solidFill>
                <a:effectLst/>
                <a:uFillTx/>
                <a:latin typeface="Arial"/>
              </a:rPr>
              <a:t>Counts: 122 first-party Python files and 45,978 lines in config/, database/, models/, scripts/, services/, styles/, tests/, ui/ and main.py (wc -l; venv/, .git/ and presentation/ excluded).</a:t>
            </a:r>
            <a:endParaRPr lang="en-PH"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5"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306"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307"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WALKTHROUGH</a:t>
            </a:r>
            <a:endParaRPr lang="en-PH" sz="880" b="0" u="none" strike="noStrike">
              <a:solidFill>
                <a:srgbClr val="000000"/>
              </a:solidFill>
              <a:effectLst/>
              <a:uFillTx/>
              <a:latin typeface="Arial"/>
            </a:endParaRPr>
          </a:p>
        </p:txBody>
      </p:sp>
      <p:sp>
        <p:nvSpPr>
          <p:cNvPr id="308"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Dashboard and global navigation</a:t>
            </a:r>
            <a:endParaRPr lang="en-PH" sz="2450" b="0" u="none" strike="noStrike">
              <a:solidFill>
                <a:srgbClr val="000000"/>
              </a:solidFill>
              <a:effectLst/>
              <a:uFillTx/>
              <a:latin typeface="Arial"/>
            </a:endParaRPr>
          </a:p>
        </p:txBody>
      </p:sp>
      <p:sp>
        <p:nvSpPr>
          <p:cNvPr id="309"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landing page shows four KPI cards, a database health indicator and a global quick-search available from every page.</a:t>
            </a:r>
            <a:endParaRPr lang="en-PH" sz="1080" b="0" u="none" strike="noStrike">
              <a:solidFill>
                <a:srgbClr val="000000"/>
              </a:solidFill>
              <a:effectLst/>
              <a:uFillTx/>
              <a:latin typeface="Arial"/>
            </a:endParaRPr>
          </a:p>
        </p:txBody>
      </p:sp>
      <p:sp>
        <p:nvSpPr>
          <p:cNvPr id="310"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11"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312"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11 / 35</a:t>
            </a:r>
            <a:endParaRPr lang="en-PH" sz="780" b="0" u="none" strike="noStrike">
              <a:solidFill>
                <a:srgbClr val="000000"/>
              </a:solidFill>
              <a:effectLst/>
              <a:uFillTx/>
              <a:latin typeface="Arial"/>
            </a:endParaRPr>
          </a:p>
        </p:txBody>
      </p:sp>
      <p:sp>
        <p:nvSpPr>
          <p:cNvPr id="313" name="Rectangle 9"/>
          <p:cNvSpPr/>
          <p:nvPr/>
        </p:nvSpPr>
        <p:spPr>
          <a:xfrm>
            <a:off x="567000" y="1444680"/>
            <a:ext cx="7085880" cy="19562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14" name="Picture 10" descr="01b_dashboard_kpis.png"/>
          <p:cNvPicPr/>
          <p:nvPr/>
        </p:nvPicPr>
        <p:blipFill>
          <a:blip r:embed="rId1"/>
          <a:stretch/>
        </p:blipFill>
        <p:spPr>
          <a:xfrm>
            <a:off x="594360" y="1605600"/>
            <a:ext cx="7031160" cy="1634040"/>
          </a:xfrm>
          <a:prstGeom prst="rect">
            <a:avLst/>
          </a:prstGeom>
          <a:noFill/>
          <a:ln w="0">
            <a:noFill/>
          </a:ln>
        </p:spPr>
      </p:pic>
      <p:sp>
        <p:nvSpPr>
          <p:cNvPr id="315" name="Rectangle 11"/>
          <p:cNvSpPr/>
          <p:nvPr/>
        </p:nvSpPr>
        <p:spPr>
          <a:xfrm>
            <a:off x="7818120" y="1444680"/>
            <a:ext cx="3821400" cy="330948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16" name="Picture 12" descr="17_global_search.png"/>
          <p:cNvPicPr/>
          <p:nvPr/>
        </p:nvPicPr>
        <p:blipFill>
          <a:blip r:embed="rId2"/>
          <a:stretch/>
        </p:blipFill>
        <p:spPr>
          <a:xfrm>
            <a:off x="7845480" y="1922400"/>
            <a:ext cx="3766680" cy="2354040"/>
          </a:xfrm>
          <a:prstGeom prst="rect">
            <a:avLst/>
          </a:prstGeom>
          <a:noFill/>
          <a:ln w="0">
            <a:noFill/>
          </a:ln>
        </p:spPr>
      </p:pic>
      <p:sp>
        <p:nvSpPr>
          <p:cNvPr id="317" name="TextBox 13"/>
          <p:cNvSpPr/>
          <p:nvPr/>
        </p:nvSpPr>
        <p:spPr>
          <a:xfrm>
            <a:off x="567000" y="358452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OBSERVED</a:t>
            </a:r>
            <a:endParaRPr lang="en-PH" sz="820" b="0" u="none" strike="noStrike">
              <a:solidFill>
                <a:srgbClr val="000000"/>
              </a:solidFill>
              <a:effectLst/>
              <a:uFillTx/>
              <a:latin typeface="Arial"/>
            </a:endParaRPr>
          </a:p>
        </p:txBody>
      </p:sp>
      <p:sp>
        <p:nvSpPr>
          <p:cNvPr id="318" name="TextBox 14"/>
          <p:cNvSpPr/>
          <p:nvPr/>
        </p:nvSpPr>
        <p:spPr>
          <a:xfrm>
            <a:off x="567000" y="3840480"/>
            <a:ext cx="6903000" cy="205668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601"/>
              </a:spcAft>
            </a:pPr>
            <a:r>
              <a:rPr lang="en-US" sz="1020" b="1" u="none" strike="noStrike">
                <a:solidFill>
                  <a:srgbClr val="F97316"/>
                </a:solidFill>
                <a:effectLst/>
                <a:uFillTx/>
                <a:latin typeface="Arial"/>
              </a:rPr>
              <a:t>•  </a:t>
            </a:r>
            <a:r>
              <a:rPr lang="en-US" sz="1020" b="0" u="none" strike="noStrike">
                <a:solidFill>
                  <a:srgbClr val="0F172A"/>
                </a:solidFill>
                <a:effectLst/>
                <a:uFillTx/>
                <a:latin typeface="Arial"/>
              </a:rPr>
              <a:t>Live counts: </a:t>
            </a:r>
            <a:r>
              <a:rPr lang="en-US" sz="1020" b="0" u="none" strike="noStrike">
                <a:solidFill>
                  <a:srgbClr val="475569"/>
                </a:solidFill>
                <a:effectLst/>
                <a:uFillTx/>
                <a:latin typeface="Arial"/>
              </a:rPr>
              <a:t>3 total, 3 active, 3 registered, 0 missing barcodes.</a:t>
            </a:r>
            <a:endParaRPr lang="en-PH" sz="1020" b="0" u="none" strike="noStrike">
              <a:solidFill>
                <a:srgbClr val="000000"/>
              </a:solidFill>
              <a:effectLst/>
              <a:uFillTx/>
              <a:latin typeface="Arial"/>
            </a:endParaRPr>
          </a:p>
          <a:p>
            <a:pPr defTabSz="457200">
              <a:lnSpc>
                <a:spcPct val="105000"/>
              </a:lnSpc>
              <a:spcAft>
                <a:spcPts val="601"/>
              </a:spcAft>
            </a:pPr>
            <a:r>
              <a:rPr lang="en-US" sz="1020" b="1" u="none" strike="noStrike">
                <a:solidFill>
                  <a:srgbClr val="F97316"/>
                </a:solidFill>
                <a:effectLst/>
                <a:uFillTx/>
                <a:latin typeface="Arial"/>
              </a:rPr>
              <a:t>•  </a:t>
            </a:r>
            <a:r>
              <a:rPr lang="en-US" sz="1020" b="0" u="none" strike="noStrike">
                <a:solidFill>
                  <a:srgbClr val="0F172A"/>
                </a:solidFill>
                <a:effectLst/>
                <a:uFillTx/>
                <a:latin typeface="Arial"/>
              </a:rPr>
              <a:t>Health probe: </a:t>
            </a:r>
            <a:r>
              <a:rPr lang="en-US" sz="1020" b="0" u="none" strike="noStrike">
                <a:solidFill>
                  <a:srgbClr val="475569"/>
                </a:solidFill>
                <a:effectLst/>
                <a:uFillTx/>
                <a:latin typeface="Arial"/>
              </a:rPr>
              <a:t>the top bar reports “Database: Connected” after a real query.</a:t>
            </a:r>
            <a:endParaRPr lang="en-PH" sz="1020" b="0" u="none" strike="noStrike">
              <a:solidFill>
                <a:srgbClr val="000000"/>
              </a:solidFill>
              <a:effectLst/>
              <a:uFillTx/>
              <a:latin typeface="Arial"/>
            </a:endParaRPr>
          </a:p>
          <a:p>
            <a:pPr defTabSz="457200">
              <a:lnSpc>
                <a:spcPct val="105000"/>
              </a:lnSpc>
              <a:spcAft>
                <a:spcPts val="601"/>
              </a:spcAft>
            </a:pPr>
            <a:r>
              <a:rPr lang="en-US" sz="1020" b="1" u="none" strike="noStrike">
                <a:solidFill>
                  <a:srgbClr val="F97316"/>
                </a:solidFill>
                <a:effectLst/>
                <a:uFillTx/>
                <a:latin typeface="Arial"/>
              </a:rPr>
              <a:t>•  </a:t>
            </a:r>
            <a:r>
              <a:rPr lang="en-US" sz="1020" b="0" u="none" strike="noStrike">
                <a:solidFill>
                  <a:srgbClr val="0F172A"/>
                </a:solidFill>
                <a:effectLst/>
                <a:uFillTx/>
                <a:latin typeface="Arial"/>
              </a:rPr>
              <a:t>Quick search: </a:t>
            </a:r>
            <a:r>
              <a:rPr lang="en-US" sz="1020" b="0" u="none" strike="noStrike">
                <a:solidFill>
                  <a:srgbClr val="475569"/>
                </a:solidFill>
                <a:effectLst/>
                <a:uFillTx/>
                <a:latin typeface="Arial"/>
              </a:rPr>
              <a:t>Ctrl+K searches name, student ID or reference from any page.</a:t>
            </a:r>
            <a:endParaRPr lang="en-PH" sz="1020" b="0" u="none" strike="noStrike">
              <a:solidFill>
                <a:srgbClr val="000000"/>
              </a:solidFill>
              <a:effectLst/>
              <a:uFillTx/>
              <a:latin typeface="Arial"/>
            </a:endParaRPr>
          </a:p>
          <a:p>
            <a:pPr defTabSz="457200">
              <a:lnSpc>
                <a:spcPct val="105000"/>
              </a:lnSpc>
              <a:spcAft>
                <a:spcPts val="601"/>
              </a:spcAft>
            </a:pPr>
            <a:r>
              <a:rPr lang="en-US" sz="1020" b="1" u="none" strike="noStrike">
                <a:solidFill>
                  <a:srgbClr val="F97316"/>
                </a:solidFill>
                <a:effectLst/>
                <a:uFillTx/>
                <a:latin typeface="Arial"/>
              </a:rPr>
              <a:t>•  </a:t>
            </a:r>
            <a:r>
              <a:rPr lang="en-US" sz="1020" b="0" u="none" strike="noStrike">
                <a:solidFill>
                  <a:srgbClr val="0F172A"/>
                </a:solidFill>
                <a:effectLst/>
                <a:uFillTx/>
                <a:latin typeface="Arial"/>
              </a:rPr>
              <a:t>Navigation: </a:t>
            </a:r>
            <a:r>
              <a:rPr lang="en-US" sz="1020" b="0" u="none" strike="noStrike">
                <a:solidFill>
                  <a:srgbClr val="475569"/>
                </a:solidFill>
                <a:effectLst/>
                <a:uFillTx/>
                <a:latin typeface="Arial"/>
              </a:rPr>
              <a:t>nine sidebar routes, including the stub logout.</a:t>
            </a:r>
            <a:endParaRPr lang="en-PH" sz="1020" b="0" u="none" strike="noStrike">
              <a:solidFill>
                <a:srgbClr val="000000"/>
              </a:solidFill>
              <a:effectLst/>
              <a:uFillTx/>
              <a:latin typeface="Arial"/>
            </a:endParaRPr>
          </a:p>
        </p:txBody>
      </p:sp>
      <p:sp>
        <p:nvSpPr>
          <p:cNvPr id="319" name="Rounded Rectangle 15"/>
          <p:cNvSpPr/>
          <p:nvPr/>
        </p:nvSpPr>
        <p:spPr>
          <a:xfrm>
            <a:off x="567000" y="5486400"/>
            <a:ext cx="7085880" cy="657720"/>
          </a:xfrm>
          <a:prstGeom prst="roundRect">
            <a:avLst>
              <a:gd name="adj" fmla="val 8000"/>
            </a:avLst>
          </a:prstGeom>
          <a:solidFill>
            <a:srgbClr val="FEE2E2"/>
          </a:solidFill>
          <a:ln w="10160">
            <a:solidFill>
              <a:srgbClr val="FECAC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0" name="TextBox 16"/>
          <p:cNvSpPr/>
          <p:nvPr/>
        </p:nvSpPr>
        <p:spPr>
          <a:xfrm>
            <a:off x="713160" y="5577840"/>
            <a:ext cx="6811560" cy="51120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839" b="0" u="none" strike="noStrike">
                <a:solidFill>
                  <a:srgbClr val="991B1B"/>
                </a:solidFill>
                <a:effectLst/>
                <a:uFillTx/>
                <a:latin typeface="Arial"/>
              </a:rPr>
              <a:t>The student table below this KPI strip raises TypeError: set_cell() got an unexpected keyword argument 'family'. The screenshot is cropped above the fault; slide 34 shows the real error.</a:t>
            </a:r>
            <a:endParaRPr lang="en-PH" sz="839" b="0" u="none" strike="noStrike">
              <a:solidFill>
                <a:srgbClr val="000000"/>
              </a:solidFill>
              <a:effectLst/>
              <a:uFillTx/>
              <a:latin typeface="Arial"/>
            </a:endParaRPr>
          </a:p>
        </p:txBody>
      </p:sp>
      <p:sp>
        <p:nvSpPr>
          <p:cNvPr id="321" name="TextBox 17"/>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Captured at 1600×1000 from the offscreen Qt platform against the live MySQL database.</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2"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323"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324"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WALKTHROUGH</a:t>
            </a:r>
            <a:endParaRPr lang="en-PH" sz="880" b="0" u="none" strike="noStrike">
              <a:solidFill>
                <a:srgbClr val="000000"/>
              </a:solidFill>
              <a:effectLst/>
              <a:uFillTx/>
              <a:latin typeface="Arial"/>
            </a:endParaRPr>
          </a:p>
        </p:txBody>
      </p:sp>
      <p:sp>
        <p:nvSpPr>
          <p:cNvPr id="325"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Student directory and record management</a:t>
            </a:r>
            <a:endParaRPr lang="en-PH" sz="2450" b="0" u="none" strike="noStrike">
              <a:solidFill>
                <a:srgbClr val="000000"/>
              </a:solidFill>
              <a:effectLst/>
              <a:uFillTx/>
              <a:latin typeface="Arial"/>
            </a:endParaRPr>
          </a:p>
        </p:txBody>
      </p:sp>
      <p:sp>
        <p:nvSpPr>
          <p:cNvPr id="326"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directory is the administrative backbone: search, filter, page and edit the same rows the scanner resolves.</a:t>
            </a:r>
            <a:endParaRPr lang="en-PH" sz="1080" b="0" u="none" strike="noStrike">
              <a:solidFill>
                <a:srgbClr val="000000"/>
              </a:solidFill>
              <a:effectLst/>
              <a:uFillTx/>
              <a:latin typeface="Arial"/>
            </a:endParaRPr>
          </a:p>
        </p:txBody>
      </p:sp>
      <p:sp>
        <p:nvSpPr>
          <p:cNvPr id="327"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28"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329"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12 / 35</a:t>
            </a:r>
            <a:endParaRPr lang="en-PH" sz="780" b="0" u="none" strike="noStrike">
              <a:solidFill>
                <a:srgbClr val="000000"/>
              </a:solidFill>
              <a:effectLst/>
              <a:uFillTx/>
              <a:latin typeface="Arial"/>
            </a:endParaRPr>
          </a:p>
        </p:txBody>
      </p:sp>
      <p:sp>
        <p:nvSpPr>
          <p:cNvPr id="330" name="Rectangle 9"/>
          <p:cNvSpPr/>
          <p:nvPr/>
        </p:nvSpPr>
        <p:spPr>
          <a:xfrm>
            <a:off x="567000" y="1426320"/>
            <a:ext cx="7360200" cy="452556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31" name="Picture 10" descr="02_students_directory.png"/>
          <p:cNvPicPr/>
          <p:nvPr/>
        </p:nvPicPr>
        <p:blipFill>
          <a:blip r:embed="rId1"/>
          <a:stretch/>
        </p:blipFill>
        <p:spPr>
          <a:xfrm>
            <a:off x="670320" y="1454040"/>
            <a:ext cx="7153560" cy="4470840"/>
          </a:xfrm>
          <a:prstGeom prst="rect">
            <a:avLst/>
          </a:prstGeom>
          <a:noFill/>
          <a:ln w="0">
            <a:noFill/>
          </a:ln>
        </p:spPr>
      </p:pic>
      <p:sp>
        <p:nvSpPr>
          <p:cNvPr id="332" name="Rectangle 11"/>
          <p:cNvSpPr/>
          <p:nvPr/>
        </p:nvSpPr>
        <p:spPr>
          <a:xfrm>
            <a:off x="8083440" y="1426320"/>
            <a:ext cx="3547080" cy="22122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33" name="Picture 12" descr="03_students_search.png"/>
          <p:cNvPicPr/>
          <p:nvPr/>
        </p:nvPicPr>
        <p:blipFill>
          <a:blip r:embed="rId2"/>
          <a:stretch/>
        </p:blipFill>
        <p:spPr>
          <a:xfrm>
            <a:off x="8130960" y="1454040"/>
            <a:ext cx="3452040" cy="2157120"/>
          </a:xfrm>
          <a:prstGeom prst="rect">
            <a:avLst/>
          </a:prstGeom>
          <a:noFill/>
          <a:ln w="0">
            <a:noFill/>
          </a:ln>
        </p:spPr>
      </p:pic>
      <p:sp>
        <p:nvSpPr>
          <p:cNvPr id="334" name="TextBox 13"/>
          <p:cNvSpPr/>
          <p:nvPr/>
        </p:nvSpPr>
        <p:spPr>
          <a:xfrm>
            <a:off x="8083440" y="374904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CAPABILITIES</a:t>
            </a:r>
            <a:endParaRPr lang="en-PH" sz="820" b="0" u="none" strike="noStrike">
              <a:solidFill>
                <a:srgbClr val="000000"/>
              </a:solidFill>
              <a:effectLst/>
              <a:uFillTx/>
              <a:latin typeface="Arial"/>
            </a:endParaRPr>
          </a:p>
        </p:txBody>
      </p:sp>
      <p:sp>
        <p:nvSpPr>
          <p:cNvPr id="335" name="TextBox 14"/>
          <p:cNvSpPr/>
          <p:nvPr/>
        </p:nvSpPr>
        <p:spPr>
          <a:xfrm>
            <a:off x="8083440" y="4005000"/>
            <a:ext cx="3547080" cy="19195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00"/>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Search by name, ID or reference</a:t>
            </a:r>
            <a:endParaRPr lang="en-PH" sz="930" b="0" u="none" strike="noStrike">
              <a:solidFill>
                <a:srgbClr val="000000"/>
              </a:solidFill>
              <a:effectLst/>
              <a:uFillTx/>
              <a:latin typeface="Arial"/>
            </a:endParaRPr>
          </a:p>
          <a:p>
            <a:pPr defTabSz="457200">
              <a:lnSpc>
                <a:spcPct val="105000"/>
              </a:lnSpc>
              <a:spcAft>
                <a:spcPts val="400"/>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Status / program / year filters</a:t>
            </a:r>
            <a:endParaRPr lang="en-PH" sz="930" b="0" u="none" strike="noStrike">
              <a:solidFill>
                <a:srgbClr val="000000"/>
              </a:solidFill>
              <a:effectLst/>
              <a:uFillTx/>
              <a:latin typeface="Arial"/>
            </a:endParaRPr>
          </a:p>
          <a:p>
            <a:pPr defTabSz="457200">
              <a:lnSpc>
                <a:spcPct val="105000"/>
              </a:lnSpc>
              <a:spcAft>
                <a:spcPts val="400"/>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25-row pagination</a:t>
            </a:r>
            <a:endParaRPr lang="en-PH" sz="930" b="0" u="none" strike="noStrike">
              <a:solidFill>
                <a:srgbClr val="000000"/>
              </a:solidFill>
              <a:effectLst/>
              <a:uFillTx/>
              <a:latin typeface="Arial"/>
            </a:endParaRPr>
          </a:p>
          <a:p>
            <a:pPr defTabSz="457200">
              <a:lnSpc>
                <a:spcPct val="105000"/>
              </a:lnSpc>
              <a:spcAft>
                <a:spcPts val="400"/>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Create, edit and delete dialog</a:t>
            </a:r>
            <a:endParaRPr lang="en-PH" sz="930" b="0" u="none" strike="noStrike">
              <a:solidFill>
                <a:srgbClr val="000000"/>
              </a:solidFill>
              <a:effectLst/>
              <a:uFillTx/>
              <a:latin typeface="Arial"/>
            </a:endParaRPr>
          </a:p>
          <a:p>
            <a:pPr defTabSz="457200">
              <a:lnSpc>
                <a:spcPct val="105000"/>
              </a:lnSpc>
              <a:spcAft>
                <a:spcPts val="400"/>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Portrait resolved from assets/profile/</a:t>
            </a:r>
            <a:endParaRPr lang="en-PH" sz="930" b="0" u="none" strike="noStrike">
              <a:solidFill>
                <a:srgbClr val="000000"/>
              </a:solidFill>
              <a:effectLst/>
              <a:uFillTx/>
              <a:latin typeface="Arial"/>
            </a:endParaRPr>
          </a:p>
        </p:txBody>
      </p:sp>
      <p:sp>
        <p:nvSpPr>
          <p:cNvPr id="336" name="TextBox 15"/>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Three real records, all Computer Engineering, 3rd Year. The filter example is the query “Caporal”.</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7"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338"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339"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WALKTHROUGH</a:t>
            </a:r>
            <a:endParaRPr lang="en-PH" sz="880" b="0" u="none" strike="noStrike">
              <a:solidFill>
                <a:srgbClr val="000000"/>
              </a:solidFill>
              <a:effectLst/>
              <a:uFillTx/>
              <a:latin typeface="Arial"/>
            </a:endParaRPr>
          </a:p>
        </p:txBody>
      </p:sp>
      <p:sp>
        <p:nvSpPr>
          <p:cNvPr id="340"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Identity design: CODE39 payloads on the physical cards</a:t>
            </a:r>
            <a:endParaRPr lang="en-PH" sz="2450" b="0" u="none" strike="noStrike">
              <a:solidFill>
                <a:srgbClr val="000000"/>
              </a:solidFill>
              <a:effectLst/>
              <a:uFillTx/>
              <a:latin typeface="Arial"/>
            </a:endParaRPr>
          </a:p>
        </p:txBody>
      </p:sp>
      <p:sp>
        <p:nvSpPr>
          <p:cNvPr id="341"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implementation uses CODE39 with a zero-padded nine-digit reference, matching the cards in assets/images/.</a:t>
            </a:r>
            <a:endParaRPr lang="en-PH" sz="1080" b="0" u="none" strike="noStrike">
              <a:solidFill>
                <a:srgbClr val="000000"/>
              </a:solidFill>
              <a:effectLst/>
              <a:uFillTx/>
              <a:latin typeface="Arial"/>
            </a:endParaRPr>
          </a:p>
        </p:txBody>
      </p:sp>
      <p:sp>
        <p:nvSpPr>
          <p:cNvPr id="342"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43"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344"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13 / 35</a:t>
            </a:r>
            <a:endParaRPr lang="en-PH" sz="780" b="0" u="none" strike="noStrike">
              <a:solidFill>
                <a:srgbClr val="000000"/>
              </a:solidFill>
              <a:effectLst/>
              <a:uFillTx/>
              <a:latin typeface="Arial"/>
            </a:endParaRPr>
          </a:p>
        </p:txBody>
      </p:sp>
      <p:sp>
        <p:nvSpPr>
          <p:cNvPr id="345" name="Rounded Rectangle 9"/>
          <p:cNvSpPr/>
          <p:nvPr/>
        </p:nvSpPr>
        <p:spPr>
          <a:xfrm>
            <a:off x="567000" y="1517760"/>
            <a:ext cx="6903000" cy="1297800"/>
          </a:xfrm>
          <a:prstGeom prst="roundRect">
            <a:avLst>
              <a:gd name="adj" fmla="val 8000"/>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6" name="TextBox 10"/>
          <p:cNvSpPr/>
          <p:nvPr/>
        </p:nvSpPr>
        <p:spPr>
          <a:xfrm>
            <a:off x="749880" y="1664280"/>
            <a:ext cx="324540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40" b="1" u="none" strike="noStrike">
                <a:solidFill>
                  <a:srgbClr val="0F172A"/>
                </a:solidFill>
                <a:effectLst/>
                <a:uFillTx/>
                <a:latin typeface="Arial"/>
              </a:rPr>
              <a:t>Javy Danielle N. Caporal</a:t>
            </a:r>
            <a:endParaRPr lang="en-PH" sz="1140" b="0" u="none" strike="noStrike">
              <a:solidFill>
                <a:srgbClr val="000000"/>
              </a:solidFill>
              <a:effectLst/>
              <a:uFillTx/>
              <a:latin typeface="Arial"/>
            </a:endParaRPr>
          </a:p>
        </p:txBody>
      </p:sp>
      <p:sp>
        <p:nvSpPr>
          <p:cNvPr id="347" name="TextBox 11"/>
          <p:cNvSpPr/>
          <p:nvPr/>
        </p:nvSpPr>
        <p:spPr>
          <a:xfrm>
            <a:off x="749880" y="1993320"/>
            <a:ext cx="3245400" cy="49320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880" b="0" u="none" strike="noStrike">
                <a:solidFill>
                  <a:srgbClr val="475569"/>
                </a:solidFill>
                <a:effectLst/>
                <a:uFillTx/>
                <a:latin typeface="Arial"/>
              </a:rPr>
              <a:t>WIT-2024-001   ·   reference 65412</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475569"/>
                </a:solidFill>
                <a:effectLst/>
                <a:uFillTx/>
                <a:latin typeface="Arial"/>
              </a:rPr>
              <a:t>payload 000065412</a:t>
            </a:r>
            <a:endParaRPr lang="en-PH" sz="880" b="0" u="none" strike="noStrike">
              <a:solidFill>
                <a:srgbClr val="000000"/>
              </a:solidFill>
              <a:effectLst/>
              <a:uFillTx/>
              <a:latin typeface="Arial"/>
            </a:endParaRPr>
          </a:p>
        </p:txBody>
      </p:sp>
      <p:sp>
        <p:nvSpPr>
          <p:cNvPr id="348" name="Rectangle 12"/>
          <p:cNvSpPr/>
          <p:nvPr/>
        </p:nvSpPr>
        <p:spPr>
          <a:xfrm>
            <a:off x="4178880" y="1700640"/>
            <a:ext cx="3108240" cy="9320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49" name="Picture 13" descr="barcode_2.png"/>
          <p:cNvPicPr/>
          <p:nvPr/>
        </p:nvPicPr>
        <p:blipFill>
          <a:blip r:embed="rId1"/>
          <a:stretch/>
        </p:blipFill>
        <p:spPr>
          <a:xfrm>
            <a:off x="4276440" y="1719000"/>
            <a:ext cx="2912760" cy="895320"/>
          </a:xfrm>
          <a:prstGeom prst="rect">
            <a:avLst/>
          </a:prstGeom>
          <a:noFill/>
          <a:ln w="0">
            <a:noFill/>
          </a:ln>
        </p:spPr>
      </p:pic>
      <p:sp>
        <p:nvSpPr>
          <p:cNvPr id="350" name="Rounded Rectangle 14"/>
          <p:cNvSpPr/>
          <p:nvPr/>
        </p:nvSpPr>
        <p:spPr>
          <a:xfrm>
            <a:off x="567000" y="2917080"/>
            <a:ext cx="6903000" cy="1297800"/>
          </a:xfrm>
          <a:prstGeom prst="roundRect">
            <a:avLst>
              <a:gd name="adj" fmla="val 8000"/>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1" name="TextBox 15"/>
          <p:cNvSpPr/>
          <p:nvPr/>
        </p:nvSpPr>
        <p:spPr>
          <a:xfrm>
            <a:off x="749880" y="3063240"/>
            <a:ext cx="324540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40" b="1" u="none" strike="noStrike">
                <a:solidFill>
                  <a:srgbClr val="0F172A"/>
                </a:solidFill>
                <a:effectLst/>
                <a:uFillTx/>
                <a:latin typeface="Arial"/>
              </a:rPr>
              <a:t>Ronna Mae D. Alemania</a:t>
            </a:r>
            <a:endParaRPr lang="en-PH" sz="1140" b="0" u="none" strike="noStrike">
              <a:solidFill>
                <a:srgbClr val="000000"/>
              </a:solidFill>
              <a:effectLst/>
              <a:uFillTx/>
              <a:latin typeface="Arial"/>
            </a:endParaRPr>
          </a:p>
        </p:txBody>
      </p:sp>
      <p:sp>
        <p:nvSpPr>
          <p:cNvPr id="352" name="TextBox 16"/>
          <p:cNvSpPr/>
          <p:nvPr/>
        </p:nvSpPr>
        <p:spPr>
          <a:xfrm>
            <a:off x="749880" y="3392280"/>
            <a:ext cx="3245400" cy="49320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880" b="0" u="none" strike="noStrike">
                <a:solidFill>
                  <a:srgbClr val="475569"/>
                </a:solidFill>
                <a:effectLst/>
                <a:uFillTx/>
                <a:latin typeface="Arial"/>
              </a:rPr>
              <a:t>WIT-2024-002   ·   reference 65902</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475569"/>
                </a:solidFill>
                <a:effectLst/>
                <a:uFillTx/>
                <a:latin typeface="Arial"/>
              </a:rPr>
              <a:t>payload 000065902</a:t>
            </a:r>
            <a:endParaRPr lang="en-PH" sz="880" b="0" u="none" strike="noStrike">
              <a:solidFill>
                <a:srgbClr val="000000"/>
              </a:solidFill>
              <a:effectLst/>
              <a:uFillTx/>
              <a:latin typeface="Arial"/>
            </a:endParaRPr>
          </a:p>
        </p:txBody>
      </p:sp>
      <p:sp>
        <p:nvSpPr>
          <p:cNvPr id="353" name="Rectangle 17"/>
          <p:cNvSpPr/>
          <p:nvPr/>
        </p:nvSpPr>
        <p:spPr>
          <a:xfrm>
            <a:off x="4178880" y="3099960"/>
            <a:ext cx="3108240" cy="9320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54" name="Picture 18" descr="barcode_1.png"/>
          <p:cNvPicPr/>
          <p:nvPr/>
        </p:nvPicPr>
        <p:blipFill>
          <a:blip r:embed="rId2"/>
          <a:stretch/>
        </p:blipFill>
        <p:spPr>
          <a:xfrm>
            <a:off x="4486680" y="3117960"/>
            <a:ext cx="2492280" cy="895320"/>
          </a:xfrm>
          <a:prstGeom prst="rect">
            <a:avLst/>
          </a:prstGeom>
          <a:noFill/>
          <a:ln w="0">
            <a:noFill/>
          </a:ln>
        </p:spPr>
      </p:pic>
      <p:sp>
        <p:nvSpPr>
          <p:cNvPr id="355" name="Rounded Rectangle 19"/>
          <p:cNvSpPr/>
          <p:nvPr/>
        </p:nvSpPr>
        <p:spPr>
          <a:xfrm>
            <a:off x="567000" y="4316040"/>
            <a:ext cx="6903000" cy="1297800"/>
          </a:xfrm>
          <a:prstGeom prst="roundRect">
            <a:avLst>
              <a:gd name="adj" fmla="val 8000"/>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6" name="TextBox 20"/>
          <p:cNvSpPr/>
          <p:nvPr/>
        </p:nvSpPr>
        <p:spPr>
          <a:xfrm>
            <a:off x="749880" y="4462200"/>
            <a:ext cx="324540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40" b="1" u="none" strike="noStrike">
                <a:solidFill>
                  <a:srgbClr val="0F172A"/>
                </a:solidFill>
                <a:effectLst/>
                <a:uFillTx/>
                <a:latin typeface="Arial"/>
              </a:rPr>
              <a:t>Steven Anthony M. Oquiana</a:t>
            </a:r>
            <a:endParaRPr lang="en-PH" sz="1140" b="0" u="none" strike="noStrike">
              <a:solidFill>
                <a:srgbClr val="000000"/>
              </a:solidFill>
              <a:effectLst/>
              <a:uFillTx/>
              <a:latin typeface="Arial"/>
            </a:endParaRPr>
          </a:p>
        </p:txBody>
      </p:sp>
      <p:sp>
        <p:nvSpPr>
          <p:cNvPr id="357" name="TextBox 21"/>
          <p:cNvSpPr/>
          <p:nvPr/>
        </p:nvSpPr>
        <p:spPr>
          <a:xfrm>
            <a:off x="749880" y="4791600"/>
            <a:ext cx="3245400" cy="49320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880" b="0" u="none" strike="noStrike">
                <a:solidFill>
                  <a:srgbClr val="475569"/>
                </a:solidFill>
                <a:effectLst/>
                <a:uFillTx/>
                <a:latin typeface="Arial"/>
              </a:rPr>
              <a:t>WIT-2024-003   ·   reference 65736</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475569"/>
                </a:solidFill>
                <a:effectLst/>
                <a:uFillTx/>
                <a:latin typeface="Arial"/>
              </a:rPr>
              <a:t>payload 000065736</a:t>
            </a:r>
            <a:endParaRPr lang="en-PH" sz="880" b="0" u="none" strike="noStrike">
              <a:solidFill>
                <a:srgbClr val="000000"/>
              </a:solidFill>
              <a:effectLst/>
              <a:uFillTx/>
              <a:latin typeface="Arial"/>
            </a:endParaRPr>
          </a:p>
        </p:txBody>
      </p:sp>
      <p:sp>
        <p:nvSpPr>
          <p:cNvPr id="358" name="Rectangle 22"/>
          <p:cNvSpPr/>
          <p:nvPr/>
        </p:nvSpPr>
        <p:spPr>
          <a:xfrm>
            <a:off x="4178880" y="4498920"/>
            <a:ext cx="3108240" cy="9320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59" name="Picture 23" descr="barcode_3.png"/>
          <p:cNvPicPr/>
          <p:nvPr/>
        </p:nvPicPr>
        <p:blipFill>
          <a:blip r:embed="rId3"/>
          <a:stretch/>
        </p:blipFill>
        <p:spPr>
          <a:xfrm>
            <a:off x="4547160" y="4517280"/>
            <a:ext cx="2371680" cy="895320"/>
          </a:xfrm>
          <a:prstGeom prst="rect">
            <a:avLst/>
          </a:prstGeom>
          <a:noFill/>
          <a:ln w="0">
            <a:noFill/>
          </a:ln>
        </p:spPr>
      </p:pic>
      <p:sp>
        <p:nvSpPr>
          <p:cNvPr id="360" name="Rounded Rectangle 24"/>
          <p:cNvSpPr/>
          <p:nvPr/>
        </p:nvSpPr>
        <p:spPr>
          <a:xfrm>
            <a:off x="7699320" y="1517760"/>
            <a:ext cx="3912840" cy="40410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1" name="TextBox 25"/>
          <p:cNvSpPr/>
          <p:nvPr/>
        </p:nvSpPr>
        <p:spPr>
          <a:xfrm>
            <a:off x="7900560" y="1700640"/>
            <a:ext cx="351072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80" b="1" u="none" strike="noStrike">
                <a:solidFill>
                  <a:srgbClr val="AD4D05"/>
                </a:solidFill>
                <a:effectLst/>
                <a:uFillTx/>
                <a:latin typeface="Arial"/>
              </a:rPr>
              <a:t>Why CODE39, not CODE128</a:t>
            </a:r>
            <a:endParaRPr lang="en-PH" sz="1180" b="0" u="none" strike="noStrike">
              <a:solidFill>
                <a:srgbClr val="000000"/>
              </a:solidFill>
              <a:effectLst/>
              <a:uFillTx/>
              <a:latin typeface="Arial"/>
            </a:endParaRPr>
          </a:p>
        </p:txBody>
      </p:sp>
      <p:sp>
        <p:nvSpPr>
          <p:cNvPr id="362" name="TextBox 26"/>
          <p:cNvSpPr/>
          <p:nvPr/>
        </p:nvSpPr>
        <p:spPr>
          <a:xfrm>
            <a:off x="7900560" y="2048400"/>
            <a:ext cx="3510720" cy="32911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601"/>
              </a:spcAft>
            </a:pPr>
            <a:r>
              <a:rPr lang="en-US" sz="920" b="1" u="none" strike="noStrike">
                <a:solidFill>
                  <a:srgbClr val="F97316"/>
                </a:solidFill>
                <a:effectLst/>
                <a:uFillTx/>
                <a:latin typeface="Arial"/>
              </a:rPr>
              <a:t>•  </a:t>
            </a:r>
            <a:r>
              <a:rPr lang="en-US" sz="920" b="0" u="none" strike="noStrike">
                <a:solidFill>
                  <a:srgbClr val="0F172A"/>
                </a:solidFill>
                <a:effectLst/>
                <a:uFillTx/>
                <a:latin typeface="Arial"/>
              </a:rPr>
              <a:t>Physical cards already use CODE39; </a:t>
            </a:r>
            <a:r>
              <a:rPr lang="en-US" sz="920" b="0" u="none" strike="noStrike">
                <a:solidFill>
                  <a:srgbClr val="475569"/>
                </a:solidFill>
                <a:effectLst/>
                <a:uFillTx/>
                <a:latin typeface="Arial"/>
              </a:rPr>
              <a:t>the decoder must match them.</a:t>
            </a:r>
            <a:endParaRPr lang="en-PH" sz="920" b="0" u="none" strike="noStrike">
              <a:solidFill>
                <a:srgbClr val="000000"/>
              </a:solidFill>
              <a:effectLst/>
              <a:uFillTx/>
              <a:latin typeface="Arial"/>
            </a:endParaRPr>
          </a:p>
          <a:p>
            <a:pPr defTabSz="457200">
              <a:lnSpc>
                <a:spcPct val="105000"/>
              </a:lnSpc>
              <a:spcAft>
                <a:spcPts val="601"/>
              </a:spcAft>
            </a:pPr>
            <a:r>
              <a:rPr lang="en-US" sz="920" b="1" u="none" strike="noStrike">
                <a:solidFill>
                  <a:srgbClr val="F97316"/>
                </a:solidFill>
                <a:effectLst/>
                <a:uFillTx/>
                <a:latin typeface="Arial"/>
              </a:rPr>
              <a:t>•  </a:t>
            </a:r>
            <a:r>
              <a:rPr lang="en-US" sz="920" b="0" u="none" strike="noStrike">
                <a:solidFill>
                  <a:srgbClr val="0F172A"/>
                </a:solidFill>
                <a:effectLst/>
                <a:uFillTx/>
                <a:latin typeface="Arial"/>
              </a:rPr>
              <a:t>Nine digits at module width 2 </a:t>
            </a:r>
            <a:r>
              <a:rPr lang="en-US" sz="920" b="0" u="none" strike="noStrike">
                <a:solidFill>
                  <a:srgbClr val="475569"/>
                </a:solidFill>
                <a:effectLst/>
                <a:uFillTx/>
                <a:latin typeface="Arial"/>
              </a:rPr>
              <a:t>still fit a CR80 card with a 2 mm quiet zone.</a:t>
            </a:r>
            <a:endParaRPr lang="en-PH" sz="920" b="0" u="none" strike="noStrike">
              <a:solidFill>
                <a:srgbClr val="000000"/>
              </a:solidFill>
              <a:effectLst/>
              <a:uFillTx/>
              <a:latin typeface="Arial"/>
            </a:endParaRPr>
          </a:p>
          <a:p>
            <a:pPr defTabSz="457200">
              <a:lnSpc>
                <a:spcPct val="105000"/>
              </a:lnSpc>
              <a:spcAft>
                <a:spcPts val="601"/>
              </a:spcAft>
            </a:pPr>
            <a:r>
              <a:rPr lang="en-US" sz="920" b="1" u="none" strike="noStrike">
                <a:solidFill>
                  <a:srgbClr val="F97316"/>
                </a:solidFill>
                <a:effectLst/>
                <a:uFillTx/>
                <a:latin typeface="Arial"/>
              </a:rPr>
              <a:t>•  </a:t>
            </a:r>
            <a:r>
              <a:rPr lang="en-US" sz="920" b="0" u="none" strike="noStrike">
                <a:solidFill>
                  <a:srgbClr val="0F172A"/>
                </a:solidFill>
                <a:effectLst/>
                <a:uFillTx/>
                <a:latin typeface="Arial"/>
              </a:rPr>
              <a:t>The payload is the key: </a:t>
            </a:r>
            <a:r>
              <a:rPr lang="en-US" sz="920" b="0" u="none" strike="noStrike">
                <a:solidFill>
                  <a:srgbClr val="475569"/>
                </a:solidFill>
                <a:effectLst/>
                <a:uFillTx/>
                <a:latin typeface="Arial"/>
              </a:rPr>
              <a:t>students.barcode_payload is UNIQUE and is what the scanner queries.</a:t>
            </a:r>
            <a:endParaRPr lang="en-PH" sz="920" b="0" u="none" strike="noStrike">
              <a:solidFill>
                <a:srgbClr val="000000"/>
              </a:solidFill>
              <a:effectLst/>
              <a:uFillTx/>
              <a:latin typeface="Arial"/>
            </a:endParaRPr>
          </a:p>
          <a:p>
            <a:pPr defTabSz="457200">
              <a:lnSpc>
                <a:spcPct val="105000"/>
              </a:lnSpc>
              <a:spcAft>
                <a:spcPts val="601"/>
              </a:spcAft>
            </a:pPr>
            <a:r>
              <a:rPr lang="en-US" sz="920" b="1" u="none" strike="noStrike">
                <a:solidFill>
                  <a:srgbClr val="F97316"/>
                </a:solidFill>
                <a:effectLst/>
                <a:uFillTx/>
                <a:latin typeface="Arial"/>
              </a:rPr>
              <a:t>•  </a:t>
            </a:r>
            <a:r>
              <a:rPr lang="en-US" sz="920" b="0" u="none" strike="noStrike">
                <a:solidFill>
                  <a:srgbClr val="0F172A"/>
                </a:solidFill>
                <a:effectLst/>
                <a:uFillTx/>
                <a:latin typeface="Arial"/>
              </a:rPr>
              <a:t>README mismatch: </a:t>
            </a:r>
            <a:r>
              <a:rPr lang="en-US" sz="920" b="0" u="none" strike="noStrike">
                <a:solidFill>
                  <a:srgbClr val="475569"/>
                </a:solidFill>
                <a:effectLst/>
                <a:uFillTx/>
                <a:latin typeface="Arial"/>
              </a:rPr>
              <a:t>the README still advertises CODE128 and a WIT:STUDENT: prefix; the code and database use CODE39.</a:t>
            </a:r>
            <a:endParaRPr lang="en-PH" sz="920" b="0" u="none" strike="noStrike">
              <a:solidFill>
                <a:srgbClr val="000000"/>
              </a:solidFill>
              <a:effectLst/>
              <a:uFillTx/>
              <a:latin typeface="Arial"/>
            </a:endParaRPr>
          </a:p>
        </p:txBody>
      </p:sp>
      <p:sp>
        <p:nvSpPr>
          <p:cNvPr id="363" name="TextBox 27"/>
          <p:cNvSpPr/>
          <p:nvPr/>
        </p:nvSpPr>
        <p:spPr>
          <a:xfrm>
            <a:off x="567000" y="5888880"/>
            <a:ext cx="109720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i="1" u="none" strike="noStrike">
                <a:solidFill>
                  <a:srgbClr val="64748B"/>
                </a:solidFill>
                <a:effectLst/>
                <a:uFillTx/>
                <a:latin typeface="Arial"/>
              </a:rPr>
              <a:t>BarcodeGeneratorPage is implemented (1,402 lines) but has no sidebar route, so this identity path is used only by pre-existing cards and the ID-card service.</a:t>
            </a:r>
            <a:endParaRPr lang="en-PH" sz="8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4"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365"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366"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WALKTHROUGH</a:t>
            </a:r>
            <a:endParaRPr lang="en-PH" sz="880" b="0" u="none" strike="noStrike">
              <a:solidFill>
                <a:srgbClr val="000000"/>
              </a:solidFill>
              <a:effectLst/>
              <a:uFillTx/>
              <a:latin typeface="Arial"/>
            </a:endParaRPr>
          </a:p>
        </p:txBody>
      </p:sp>
      <p:sp>
        <p:nvSpPr>
          <p:cNvPr id="367"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The scanner experience</a:t>
            </a:r>
            <a:endParaRPr lang="en-PH" sz="2450" b="0" u="none" strike="noStrike">
              <a:solidFill>
                <a:srgbClr val="000000"/>
              </a:solidFill>
              <a:effectLst/>
              <a:uFillTx/>
              <a:latin typeface="Arial"/>
            </a:endParaRPr>
          </a:p>
        </p:txBody>
      </p:sp>
      <p:sp>
        <p:nvSpPr>
          <p:cNvPr id="368"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Live camera and image-upload paths share one pipeline. A verified read fills the student panel and appends a history row.</a:t>
            </a:r>
            <a:endParaRPr lang="en-PH" sz="1080" b="0" u="none" strike="noStrike">
              <a:solidFill>
                <a:srgbClr val="000000"/>
              </a:solidFill>
              <a:effectLst/>
              <a:uFillTx/>
              <a:latin typeface="Arial"/>
            </a:endParaRPr>
          </a:p>
        </p:txBody>
      </p:sp>
      <p:sp>
        <p:nvSpPr>
          <p:cNvPr id="369"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70"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371"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14 / 35</a:t>
            </a:r>
            <a:endParaRPr lang="en-PH" sz="780" b="0" u="none" strike="noStrike">
              <a:solidFill>
                <a:srgbClr val="000000"/>
              </a:solidFill>
              <a:effectLst/>
              <a:uFillTx/>
              <a:latin typeface="Arial"/>
            </a:endParaRPr>
          </a:p>
        </p:txBody>
      </p:sp>
      <p:sp>
        <p:nvSpPr>
          <p:cNvPr id="372" name="Rectangle 9"/>
          <p:cNvSpPr/>
          <p:nvPr/>
        </p:nvSpPr>
        <p:spPr>
          <a:xfrm>
            <a:off x="567000" y="1426320"/>
            <a:ext cx="5394240" cy="34556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73" name="Picture 10" descr="04_scanner_idle.png"/>
          <p:cNvPicPr/>
          <p:nvPr/>
        </p:nvPicPr>
        <p:blipFill>
          <a:blip r:embed="rId1"/>
          <a:stretch/>
        </p:blipFill>
        <p:spPr>
          <a:xfrm>
            <a:off x="594360" y="1485720"/>
            <a:ext cx="5339520" cy="3336840"/>
          </a:xfrm>
          <a:prstGeom prst="rect">
            <a:avLst/>
          </a:prstGeom>
          <a:noFill/>
          <a:ln w="0">
            <a:noFill/>
          </a:ln>
        </p:spPr>
      </p:pic>
      <p:sp>
        <p:nvSpPr>
          <p:cNvPr id="374" name="Rectangle 11"/>
          <p:cNvSpPr/>
          <p:nvPr/>
        </p:nvSpPr>
        <p:spPr>
          <a:xfrm>
            <a:off x="6089760" y="1426320"/>
            <a:ext cx="5504040" cy="34556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75" name="Picture 12" descr="06_scanner_verified.png"/>
          <p:cNvPicPr/>
          <p:nvPr/>
        </p:nvPicPr>
        <p:blipFill>
          <a:blip r:embed="rId2"/>
          <a:stretch/>
        </p:blipFill>
        <p:spPr>
          <a:xfrm>
            <a:off x="6121080" y="1454040"/>
            <a:ext cx="5441760" cy="3400920"/>
          </a:xfrm>
          <a:prstGeom prst="rect">
            <a:avLst/>
          </a:prstGeom>
          <a:noFill/>
          <a:ln w="0">
            <a:noFill/>
          </a:ln>
        </p:spPr>
      </p:pic>
      <p:sp>
        <p:nvSpPr>
          <p:cNvPr id="376" name="TextBox 13"/>
          <p:cNvSpPr/>
          <p:nvPr/>
        </p:nvSpPr>
        <p:spPr>
          <a:xfrm>
            <a:off x="567000" y="4974480"/>
            <a:ext cx="530280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1" u="none" strike="noStrike">
                <a:solidFill>
                  <a:srgbClr val="AD4D05"/>
                </a:solidFill>
                <a:effectLst/>
                <a:uFillTx/>
                <a:latin typeface="Arial"/>
              </a:rPr>
              <a:t>IDLE</a:t>
            </a:r>
            <a:endParaRPr lang="en-PH" sz="860" b="0" u="none" strike="noStrike">
              <a:solidFill>
                <a:srgbClr val="000000"/>
              </a:solidFill>
              <a:effectLst/>
              <a:uFillTx/>
              <a:latin typeface="Arial"/>
            </a:endParaRPr>
          </a:p>
        </p:txBody>
      </p:sp>
      <p:sp>
        <p:nvSpPr>
          <p:cNvPr id="377" name="TextBox 14"/>
          <p:cNvSpPr/>
          <p:nvPr/>
        </p:nvSpPr>
        <p:spPr>
          <a:xfrm>
            <a:off x="6089760" y="4974480"/>
            <a:ext cx="539424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1" u="none" strike="noStrike">
                <a:solidFill>
                  <a:srgbClr val="16A34A"/>
                </a:solidFill>
                <a:effectLst/>
                <a:uFillTx/>
                <a:latin typeface="Arial"/>
              </a:rPr>
              <a:t>VERIFIED</a:t>
            </a:r>
            <a:endParaRPr lang="en-PH" sz="860" b="0" u="none" strike="noStrike">
              <a:solidFill>
                <a:srgbClr val="000000"/>
              </a:solidFill>
              <a:effectLst/>
              <a:uFillTx/>
              <a:latin typeface="Arial"/>
            </a:endParaRPr>
          </a:p>
        </p:txBody>
      </p:sp>
      <p:sp>
        <p:nvSpPr>
          <p:cNvPr id="378" name="TextBox 15"/>
          <p:cNvSpPr/>
          <p:nvPr/>
        </p:nvSpPr>
        <p:spPr>
          <a:xfrm>
            <a:off x="567000" y="5248800"/>
            <a:ext cx="5348520" cy="105984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201"/>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Camera list, YOLO status, live history</a:t>
            </a:r>
            <a:endParaRPr lang="en-PH" sz="880" b="0" u="none" strike="noStrike">
              <a:solidFill>
                <a:srgbClr val="000000"/>
              </a:solidFill>
              <a:effectLst/>
              <a:uFillTx/>
              <a:latin typeface="Arial"/>
            </a:endParaRPr>
          </a:p>
          <a:p>
            <a:pPr defTabSz="457200">
              <a:lnSpc>
                <a:spcPct val="105000"/>
              </a:lnSpc>
              <a:spcAft>
                <a:spcPts val="201"/>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Upload Card Image as a fallback</a:t>
            </a:r>
            <a:endParaRPr lang="en-PH" sz="880" b="0" u="none" strike="noStrike">
              <a:solidFill>
                <a:srgbClr val="000000"/>
              </a:solidFill>
              <a:effectLst/>
              <a:uFillTx/>
              <a:latin typeface="Arial"/>
            </a:endParaRPr>
          </a:p>
          <a:p>
            <a:pPr defTabSz="457200">
              <a:lnSpc>
                <a:spcPct val="105000"/>
              </a:lnSpc>
              <a:spcAft>
                <a:spcPts val="201"/>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Scan Next Student resets the latch</a:t>
            </a:r>
            <a:endParaRPr lang="en-PH" sz="880" b="0" u="none" strike="noStrike">
              <a:solidFill>
                <a:srgbClr val="000000"/>
              </a:solidFill>
              <a:effectLst/>
              <a:uFillTx/>
              <a:latin typeface="Arial"/>
            </a:endParaRPr>
          </a:p>
        </p:txBody>
      </p:sp>
      <p:sp>
        <p:nvSpPr>
          <p:cNvPr id="379" name="TextBox 16"/>
          <p:cNvSpPr/>
          <p:nvPr/>
        </p:nvSpPr>
        <p:spPr>
          <a:xfrm>
            <a:off x="6089760" y="5248800"/>
            <a:ext cx="5439960" cy="105984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201"/>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Decoded 000065412 and matched Javy Danielle N. Caporal</a:t>
            </a:r>
            <a:endParaRPr lang="en-PH" sz="880" b="0" u="none" strike="noStrike">
              <a:solidFill>
                <a:srgbClr val="000000"/>
              </a:solidFill>
              <a:effectLst/>
              <a:uFillTx/>
              <a:latin typeface="Arial"/>
            </a:endParaRPr>
          </a:p>
          <a:p>
            <a:pPr defTabSz="457200">
              <a:lnSpc>
                <a:spcPct val="105000"/>
              </a:lnSpc>
              <a:spcAft>
                <a:spcPts val="201"/>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History row persisted; success tone and result modal fire once</a:t>
            </a:r>
            <a:endParaRPr lang="en-PH" sz="880" b="0" u="none" strike="noStrike">
              <a:solidFill>
                <a:srgbClr val="000000"/>
              </a:solidFill>
              <a:effectLst/>
              <a:uFillTx/>
              <a:latin typeface="Arial"/>
            </a:endParaRPr>
          </a:p>
          <a:p>
            <a:pPr defTabSz="457200">
              <a:lnSpc>
                <a:spcPct val="105000"/>
              </a:lnSpc>
              <a:spcAft>
                <a:spcPts val="201"/>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Yellow guide is a hint; the gate is a separate 0.88×0.88 region</a:t>
            </a:r>
            <a:endParaRPr lang="en-PH" sz="880" b="0" u="none" strike="noStrike">
              <a:solidFill>
                <a:srgbClr val="000000"/>
              </a:solidFill>
              <a:effectLst/>
              <a:uFillTx/>
              <a:latin typeface="Arial"/>
            </a:endParaRPr>
          </a:p>
        </p:txBody>
      </p:sp>
      <p:sp>
        <p:nvSpPr>
          <p:cNvPr id="380" name="TextBox 17"/>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Both frames captured from the running app. The verified frame came from feeding the real Id_1.png through ScanPipeline; the resulting DB row was removed afterwards.</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1"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382"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383"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SCANNER INTERNALS</a:t>
            </a:r>
            <a:endParaRPr lang="en-PH" sz="880" b="0" u="none" strike="noStrike">
              <a:solidFill>
                <a:srgbClr val="000000"/>
              </a:solidFill>
              <a:effectLst/>
              <a:uFillTx/>
              <a:latin typeface="Arial"/>
            </a:endParaRPr>
          </a:p>
        </p:txBody>
      </p:sp>
      <p:sp>
        <p:nvSpPr>
          <p:cNvPr id="384"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Detection, decoding and lookup are separate stages</a:t>
            </a:r>
            <a:endParaRPr lang="en-PH" sz="2450" b="0" u="none" strike="noStrike">
              <a:solidFill>
                <a:srgbClr val="000000"/>
              </a:solidFill>
              <a:effectLst/>
              <a:uFillTx/>
              <a:latin typeface="Arial"/>
            </a:endParaRPr>
          </a:p>
        </p:txBody>
      </p:sp>
      <p:sp>
        <p:nvSpPr>
          <p:cNvPr id="385"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A YOLO hit identifies a region; it says nothing about the payload or the student. Each stage can fail without faking the next.</a:t>
            </a:r>
            <a:endParaRPr lang="en-PH" sz="1080" b="0" u="none" strike="noStrike">
              <a:solidFill>
                <a:srgbClr val="000000"/>
              </a:solidFill>
              <a:effectLst/>
              <a:uFillTx/>
              <a:latin typeface="Arial"/>
            </a:endParaRPr>
          </a:p>
        </p:txBody>
      </p:sp>
      <p:sp>
        <p:nvSpPr>
          <p:cNvPr id="386"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87"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388"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15 / 35</a:t>
            </a:r>
            <a:endParaRPr lang="en-PH" sz="780" b="0" u="none" strike="noStrike">
              <a:solidFill>
                <a:srgbClr val="000000"/>
              </a:solidFill>
              <a:effectLst/>
              <a:uFillTx/>
              <a:latin typeface="Arial"/>
            </a:endParaRPr>
          </a:p>
        </p:txBody>
      </p:sp>
      <p:sp>
        <p:nvSpPr>
          <p:cNvPr id="389" name="Rectangle 9"/>
          <p:cNvSpPr/>
          <p:nvPr/>
        </p:nvSpPr>
        <p:spPr>
          <a:xfrm>
            <a:off x="567000" y="1353240"/>
            <a:ext cx="11045160" cy="468108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90" name="Picture 10" descr="WIT_Barcode_Pipeline.png"/>
          <p:cNvPicPr/>
          <p:nvPr/>
        </p:nvPicPr>
        <p:blipFill>
          <a:blip r:embed="rId1"/>
          <a:stretch/>
        </p:blipFill>
        <p:spPr>
          <a:xfrm>
            <a:off x="1962000" y="1371600"/>
            <a:ext cx="8255160" cy="4644360"/>
          </a:xfrm>
          <a:prstGeom prst="rect">
            <a:avLst/>
          </a:prstGeom>
          <a:noFill/>
          <a:ln w="0">
            <a:noFill/>
          </a:ln>
        </p:spPr>
      </p:pic>
      <p:sp>
        <p:nvSpPr>
          <p:cNvPr id="391" name="TextBox 11"/>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Verified in source: services/scan_pipeline.py, services/yolo_detector.py, services/barcode_decoder.py, database/repositories/student_repository.py. Thresholds are the runtime values in .env.</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2"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393"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394"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DETECTION MODEL</a:t>
            </a:r>
            <a:endParaRPr lang="en-PH" sz="880" b="0" u="none" strike="noStrike">
              <a:solidFill>
                <a:srgbClr val="000000"/>
              </a:solidFill>
              <a:effectLst/>
              <a:uFillTx/>
              <a:latin typeface="Arial"/>
            </a:endParaRPr>
          </a:p>
        </p:txBody>
      </p:sp>
      <p:sp>
        <p:nvSpPr>
          <p:cNvPr id="395"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YOLOv8n fine-tuned for one class: barcode</a:t>
            </a:r>
            <a:endParaRPr lang="en-PH" sz="2450" b="0" u="none" strike="noStrike">
              <a:solidFill>
                <a:srgbClr val="000000"/>
              </a:solidFill>
              <a:effectLst/>
              <a:uFillTx/>
              <a:latin typeface="Arial"/>
            </a:endParaRPr>
          </a:p>
        </p:txBody>
      </p:sp>
      <p:sp>
        <p:nvSpPr>
          <p:cNvPr id="396"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A nano detector keeps the model at 6.48 MB and fast enough for a 12 FPS preview on the available GPU.</a:t>
            </a:r>
            <a:endParaRPr lang="en-PH" sz="1080" b="0" u="none" strike="noStrike">
              <a:solidFill>
                <a:srgbClr val="000000"/>
              </a:solidFill>
              <a:effectLst/>
              <a:uFillTx/>
              <a:latin typeface="Arial"/>
            </a:endParaRPr>
          </a:p>
        </p:txBody>
      </p:sp>
      <p:sp>
        <p:nvSpPr>
          <p:cNvPr id="397"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98"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399"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16 / 35</a:t>
            </a:r>
            <a:endParaRPr lang="en-PH" sz="780" b="0" u="none" strike="noStrike">
              <a:solidFill>
                <a:srgbClr val="000000"/>
              </a:solidFill>
              <a:effectLst/>
              <a:uFillTx/>
              <a:latin typeface="Arial"/>
            </a:endParaRPr>
          </a:p>
        </p:txBody>
      </p:sp>
      <p:sp>
        <p:nvSpPr>
          <p:cNvPr id="400" name="Rectangle 9"/>
          <p:cNvSpPr/>
          <p:nvPr/>
        </p:nvSpPr>
        <p:spPr>
          <a:xfrm>
            <a:off x="567000" y="1389960"/>
            <a:ext cx="7817400" cy="431532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01" name="Picture 10" descr="WIT_YOLO_Architecture.png"/>
          <p:cNvPicPr/>
          <p:nvPr/>
        </p:nvPicPr>
        <p:blipFill>
          <a:blip r:embed="rId1"/>
          <a:stretch/>
        </p:blipFill>
        <p:spPr>
          <a:xfrm>
            <a:off x="673200" y="1408320"/>
            <a:ext cx="7605360" cy="4278600"/>
          </a:xfrm>
          <a:prstGeom prst="rect">
            <a:avLst/>
          </a:prstGeom>
          <a:noFill/>
          <a:ln w="0">
            <a:noFill/>
          </a:ln>
        </p:spPr>
      </p:pic>
      <p:graphicFrame>
        <p:nvGraphicFramePr>
          <p:cNvPr id="402" name="Table 11"/>
          <p:cNvGraphicFramePr/>
          <p:nvPr/>
        </p:nvGraphicFramePr>
        <p:xfrm>
          <a:off x="8558640" y="1444680"/>
          <a:ext cx="3035160" cy="3216960"/>
        </p:xfrm>
        <a:graphic>
          <a:graphicData uri="http://schemas.openxmlformats.org/drawingml/2006/table">
            <a:tbl>
              <a:tblPr/>
              <a:tblGrid>
                <a:gridCol w="1078920"/>
                <a:gridCol w="1956600"/>
              </a:tblGrid>
              <a:tr h="402120">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Property</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Value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402120">
                <a:tc>
                  <a:txBody>
                    <a:bodyPr lIns="63720" tIns="27360" rIns="45720" bIns="27360" anchor="ctr">
                      <a:noAutofit/>
                    </a:bodyPr>
                    <a:p>
                      <a:pPr defTabSz="457200">
                        <a:lnSpc>
                          <a:spcPct val="100000"/>
                        </a:lnSpc>
                      </a:pPr>
                      <a:r>
                        <a:rPr lang="en-US" sz="839" b="0" u="none" strike="noStrike">
                          <a:solidFill>
                            <a:srgbClr val="0F172A"/>
                          </a:solidFill>
                          <a:effectLst/>
                          <a:uFillTx/>
                          <a:latin typeface="Arial"/>
                        </a:rPr>
                        <a:t>Checkpoint</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39" b="0" u="none" strike="noStrike">
                          <a:solidFill>
                            <a:srgbClr val="475569"/>
                          </a:solidFill>
                          <a:effectLst/>
                          <a:uFillTx/>
                          <a:latin typeface="Arial"/>
                        </a:rPr>
                        <a:t>models_yolo/active/best.pt</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2120">
                <a:tc>
                  <a:txBody>
                    <a:bodyPr lIns="63720" tIns="27360" rIns="45720" bIns="27360" anchor="ctr">
                      <a:noAutofit/>
                    </a:bodyPr>
                    <a:p>
                      <a:pPr defTabSz="457200">
                        <a:lnSpc>
                          <a:spcPct val="100000"/>
                        </a:lnSpc>
                      </a:pPr>
                      <a:r>
                        <a:rPr lang="en-US" sz="839" b="0" u="none" strike="noStrike">
                          <a:solidFill>
                            <a:srgbClr val="0F172A"/>
                          </a:solidFill>
                          <a:effectLst/>
                          <a:uFillTx/>
                          <a:latin typeface="Arial"/>
                        </a:rPr>
                        <a:t>Size / parameters</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39" b="0" u="none" strike="noStrike">
                          <a:solidFill>
                            <a:srgbClr val="475569"/>
                          </a:solidFill>
                          <a:effectLst/>
                          <a:uFillTx/>
                          <a:latin typeface="Arial"/>
                        </a:rPr>
                        <a:t>6,484,970 B · 3.2 M</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402120">
                <a:tc>
                  <a:txBody>
                    <a:bodyPr lIns="63720" tIns="27360" rIns="45720" bIns="27360" anchor="ctr">
                      <a:noAutofit/>
                    </a:bodyPr>
                    <a:p>
                      <a:pPr defTabSz="457200">
                        <a:lnSpc>
                          <a:spcPct val="100000"/>
                        </a:lnSpc>
                      </a:pPr>
                      <a:r>
                        <a:rPr lang="en-US" sz="839" b="0" u="none" strike="noStrike">
                          <a:solidFill>
                            <a:srgbClr val="0F172A"/>
                          </a:solidFill>
                          <a:effectLst/>
                          <a:uFillTx/>
                          <a:latin typeface="Arial"/>
                        </a:rPr>
                        <a:t>Classes</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39" b="0" u="none" strike="noStrike">
                          <a:solidFill>
                            <a:srgbClr val="475569"/>
                          </a:solidFill>
                          <a:effectLst/>
                          <a:uFillTx/>
                          <a:latin typeface="Arial"/>
                        </a:rPr>
                        <a:t>1 — barcode</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2120">
                <a:tc>
                  <a:txBody>
                    <a:bodyPr lIns="63720" tIns="27360" rIns="45720" bIns="27360" anchor="ctr">
                      <a:noAutofit/>
                    </a:bodyPr>
                    <a:p>
                      <a:pPr defTabSz="457200">
                        <a:lnSpc>
                          <a:spcPct val="100000"/>
                        </a:lnSpc>
                      </a:pPr>
                      <a:r>
                        <a:rPr lang="en-US" sz="839" b="0" u="none" strike="noStrike">
                          <a:solidFill>
                            <a:srgbClr val="0F172A"/>
                          </a:solidFill>
                          <a:effectLst/>
                          <a:uFillTx/>
                          <a:latin typeface="Arial"/>
                        </a:rPr>
                        <a:t>Input</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39" b="0" u="none" strike="noStrike">
                          <a:solidFill>
                            <a:srgbClr val="475569"/>
                          </a:solidFill>
                          <a:effectLst/>
                          <a:uFillTx/>
                          <a:latin typeface="Arial"/>
                        </a:rPr>
                        <a:t>640 × 640 letterboxed</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402120">
                <a:tc>
                  <a:txBody>
                    <a:bodyPr lIns="63720" tIns="27360" rIns="45720" bIns="27360" anchor="ctr">
                      <a:noAutofit/>
                    </a:bodyPr>
                    <a:p>
                      <a:pPr defTabSz="457200">
                        <a:lnSpc>
                          <a:spcPct val="100000"/>
                        </a:lnSpc>
                      </a:pPr>
                      <a:r>
                        <a:rPr lang="en-US" sz="839" b="0" u="none" strike="noStrike">
                          <a:solidFill>
                            <a:srgbClr val="0F172A"/>
                          </a:solidFill>
                          <a:effectLst/>
                          <a:uFillTx/>
                          <a:latin typeface="Arial"/>
                        </a:rPr>
                        <a:t>Confidence</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39" b="0" u="none" strike="noStrike">
                          <a:solidFill>
                            <a:srgbClr val="475569"/>
                          </a:solidFill>
                          <a:effectLst/>
                          <a:uFillTx/>
                          <a:latin typeface="Arial"/>
                        </a:rPr>
                        <a:t>0.75 (runtime .env)</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2120">
                <a:tc>
                  <a:txBody>
                    <a:bodyPr lIns="63720" tIns="27360" rIns="45720" bIns="27360" anchor="ctr">
                      <a:noAutofit/>
                    </a:bodyPr>
                    <a:p>
                      <a:pPr defTabSz="457200">
                        <a:lnSpc>
                          <a:spcPct val="100000"/>
                        </a:lnSpc>
                      </a:pPr>
                      <a:r>
                        <a:rPr lang="en-US" sz="839" b="0" u="none" strike="noStrike">
                          <a:solidFill>
                            <a:srgbClr val="0F172A"/>
                          </a:solidFill>
                          <a:effectLst/>
                          <a:uFillTx/>
                          <a:latin typeface="Arial"/>
                        </a:rPr>
                        <a:t>NMS IoU</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839" b="0" u="none" strike="noStrike">
                          <a:solidFill>
                            <a:srgbClr val="475569"/>
                          </a:solidFill>
                          <a:effectLst/>
                          <a:uFillTx/>
                          <a:latin typeface="Arial"/>
                        </a:rPr>
                        <a:t>0.45</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402120">
                <a:tc>
                  <a:txBody>
                    <a:bodyPr lIns="63720" tIns="27360" rIns="45720" bIns="27360" anchor="ctr">
                      <a:noAutofit/>
                    </a:bodyPr>
                    <a:p>
                      <a:pPr defTabSz="457200">
                        <a:lnSpc>
                          <a:spcPct val="100000"/>
                        </a:lnSpc>
                      </a:pPr>
                      <a:r>
                        <a:rPr lang="en-US" sz="839" b="0" u="none" strike="noStrike">
                          <a:solidFill>
                            <a:srgbClr val="0F172A"/>
                          </a:solidFill>
                          <a:effectLst/>
                          <a:uFillTx/>
                          <a:latin typeface="Arial"/>
                        </a:rPr>
                        <a:t>Device</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839" b="0" u="none" strike="noStrike">
                          <a:solidFill>
                            <a:srgbClr val="475569"/>
                          </a:solidFill>
                          <a:effectLst/>
                          <a:uFillTx/>
                          <a:latin typeface="Arial"/>
                        </a:rPr>
                        <a:t>CUDA:0 → CPU fallback</a:t>
                      </a:r>
                      <a:endParaRPr lang="en-PH" sz="839"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403" name="TextBox 12"/>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Architecture diagram is conceptual: CBS/C2f/SPPF backbone, PAN-FPN neck, decoupled anchor-free head. Variants confirmed from the checkpoint metadata.</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4"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405"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406"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DETECTION EVIDENCE</a:t>
            </a:r>
            <a:endParaRPr lang="en-PH" sz="880" b="0" u="none" strike="noStrike">
              <a:solidFill>
                <a:srgbClr val="000000"/>
              </a:solidFill>
              <a:effectLst/>
              <a:uFillTx/>
              <a:latin typeface="Arial"/>
            </a:endParaRPr>
          </a:p>
        </p:txBody>
      </p:sp>
      <p:sp>
        <p:nvSpPr>
          <p:cNvPr id="407"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The detector finds all three real cards</a:t>
            </a:r>
            <a:endParaRPr lang="en-PH" sz="2450" b="0" u="none" strike="noStrike">
              <a:solidFill>
                <a:srgbClr val="000000"/>
              </a:solidFill>
              <a:effectLst/>
              <a:uFillTx/>
              <a:latin typeface="Arial"/>
            </a:endParaRPr>
          </a:p>
        </p:txBody>
      </p:sp>
      <p:sp>
        <p:nvSpPr>
          <p:cNvPr id="408"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Inference on the checked-in card images, using the active checkpoint and the runtime threshold.</a:t>
            </a:r>
            <a:endParaRPr lang="en-PH" sz="1080" b="0" u="none" strike="noStrike">
              <a:solidFill>
                <a:srgbClr val="000000"/>
              </a:solidFill>
              <a:effectLst/>
              <a:uFillTx/>
              <a:latin typeface="Arial"/>
            </a:endParaRPr>
          </a:p>
        </p:txBody>
      </p:sp>
      <p:sp>
        <p:nvSpPr>
          <p:cNvPr id="409"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410"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411"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17 / 35</a:t>
            </a:r>
            <a:endParaRPr lang="en-PH" sz="780" b="0" u="none" strike="noStrike">
              <a:solidFill>
                <a:srgbClr val="000000"/>
              </a:solidFill>
              <a:effectLst/>
              <a:uFillTx/>
              <a:latin typeface="Arial"/>
            </a:endParaRPr>
          </a:p>
        </p:txBody>
      </p:sp>
      <p:sp>
        <p:nvSpPr>
          <p:cNvPr id="412" name="Rectangle 9"/>
          <p:cNvSpPr/>
          <p:nvPr/>
        </p:nvSpPr>
        <p:spPr>
          <a:xfrm>
            <a:off x="567000" y="1389960"/>
            <a:ext cx="3309480" cy="49370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13" name="Picture 10" descr="23_yolo_inference_boxes.png"/>
          <p:cNvPicPr/>
          <p:nvPr/>
        </p:nvPicPr>
        <p:blipFill>
          <a:blip r:embed="rId1"/>
          <a:stretch/>
        </p:blipFill>
        <p:spPr>
          <a:xfrm>
            <a:off x="781920" y="1408320"/>
            <a:ext cx="2879280" cy="4900320"/>
          </a:xfrm>
          <a:prstGeom prst="rect">
            <a:avLst/>
          </a:prstGeom>
          <a:noFill/>
          <a:ln w="0">
            <a:noFill/>
          </a:ln>
        </p:spPr>
      </p:pic>
      <p:graphicFrame>
        <p:nvGraphicFramePr>
          <p:cNvPr id="414" name="Table 11"/>
          <p:cNvGraphicFramePr/>
          <p:nvPr/>
        </p:nvGraphicFramePr>
        <p:xfrm>
          <a:off x="4187880" y="1499760"/>
          <a:ext cx="4314600" cy="1463040"/>
        </p:xfrm>
        <a:graphic>
          <a:graphicData uri="http://schemas.openxmlformats.org/drawingml/2006/table">
            <a:tbl>
              <a:tblPr/>
              <a:tblGrid>
                <a:gridCol w="932400"/>
                <a:gridCol w="932400"/>
                <a:gridCol w="1499400"/>
                <a:gridCol w="950760"/>
              </a:tblGrid>
              <a:tr h="365760">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Card</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Frame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Box (x, y, w, h)</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algn="ctr" defTabSz="457200">
                        <a:lnSpc>
                          <a:spcPct val="100000"/>
                        </a:lnSpc>
                      </a:pPr>
                      <a:r>
                        <a:rPr lang="en-US" sz="860" b="1" u="none" strike="noStrike">
                          <a:solidFill>
                            <a:srgbClr val="FFFFFF"/>
                          </a:solidFill>
                          <a:effectLst/>
                          <a:uFillTx/>
                          <a:latin typeface="Arial"/>
                        </a:rPr>
                        <a:t>Confidence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Id_1.png</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00" b="0" u="none" strike="noStrike">
                          <a:solidFill>
                            <a:srgbClr val="475569"/>
                          </a:solidFill>
                          <a:effectLst/>
                          <a:uFillTx/>
                          <a:latin typeface="Arial"/>
                        </a:rPr>
                        <a:t>590 × 1004</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00" b="0" u="none" strike="noStrike">
                          <a:solidFill>
                            <a:srgbClr val="475569"/>
                          </a:solidFill>
                          <a:effectLst/>
                          <a:uFillTx/>
                          <a:latin typeface="Arial"/>
                        </a:rPr>
                        <a:t>19, 789, 540, 111</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900" b="0" u="none" strike="noStrike">
                          <a:solidFill>
                            <a:srgbClr val="475569"/>
                          </a:solidFill>
                          <a:effectLst/>
                          <a:uFillTx/>
                          <a:latin typeface="Arial"/>
                        </a:rPr>
                        <a:t>0.9545</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Id_2.png</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00" b="0" u="none" strike="noStrike">
                          <a:solidFill>
                            <a:srgbClr val="475569"/>
                          </a:solidFill>
                          <a:effectLst/>
                          <a:uFillTx/>
                          <a:latin typeface="Arial"/>
                        </a:rPr>
                        <a:t>590 × 1004</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defTabSz="457200">
                        <a:lnSpc>
                          <a:spcPct val="100000"/>
                        </a:lnSpc>
                      </a:pPr>
                      <a:r>
                        <a:rPr lang="en-US" sz="900" b="0" u="none" strike="noStrike">
                          <a:solidFill>
                            <a:srgbClr val="475569"/>
                          </a:solidFill>
                          <a:effectLst/>
                          <a:uFillTx/>
                          <a:latin typeface="Arial"/>
                        </a:rPr>
                        <a:t>46, 784, 501, 130</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ctr" defTabSz="457200">
                        <a:lnSpc>
                          <a:spcPct val="100000"/>
                        </a:lnSpc>
                      </a:pPr>
                      <a:r>
                        <a:rPr lang="en-US" sz="900" b="0" u="none" strike="noStrike">
                          <a:solidFill>
                            <a:srgbClr val="475569"/>
                          </a:solidFill>
                          <a:effectLst/>
                          <a:uFillTx/>
                          <a:latin typeface="Arial"/>
                        </a:rPr>
                        <a:t>0.9480</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Id_3.png</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00" b="0" u="none" strike="noStrike">
                          <a:solidFill>
                            <a:srgbClr val="475569"/>
                          </a:solidFill>
                          <a:effectLst/>
                          <a:uFillTx/>
                          <a:latin typeface="Arial"/>
                        </a:rPr>
                        <a:t>270 × 459</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defTabSz="457200">
                        <a:lnSpc>
                          <a:spcPct val="100000"/>
                        </a:lnSpc>
                      </a:pPr>
                      <a:r>
                        <a:rPr lang="en-US" sz="900" b="0" u="none" strike="noStrike">
                          <a:solidFill>
                            <a:srgbClr val="475569"/>
                          </a:solidFill>
                          <a:effectLst/>
                          <a:uFillTx/>
                          <a:latin typeface="Arial"/>
                        </a:rPr>
                        <a:t>13, 359, 239, 64</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ctr" defTabSz="457200">
                        <a:lnSpc>
                          <a:spcPct val="100000"/>
                        </a:lnSpc>
                      </a:pPr>
                      <a:r>
                        <a:rPr lang="en-US" sz="900" b="0" u="none" strike="noStrike">
                          <a:solidFill>
                            <a:srgbClr val="475569"/>
                          </a:solidFill>
                          <a:effectLst/>
                          <a:uFillTx/>
                          <a:latin typeface="Arial"/>
                        </a:rPr>
                        <a:t>0.9213</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415" name="TextBox 12"/>
          <p:cNvSpPr/>
          <p:nvPr/>
        </p:nvSpPr>
        <p:spPr>
          <a:xfrm>
            <a:off x="4187880" y="360288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WHAT THE NUMBERS SAY</a:t>
            </a:r>
            <a:endParaRPr lang="en-PH" sz="820" b="0" u="none" strike="noStrike">
              <a:solidFill>
                <a:srgbClr val="000000"/>
              </a:solidFill>
              <a:effectLst/>
              <a:uFillTx/>
              <a:latin typeface="Arial"/>
            </a:endParaRPr>
          </a:p>
        </p:txBody>
      </p:sp>
      <p:sp>
        <p:nvSpPr>
          <p:cNvPr id="416" name="TextBox 13"/>
          <p:cNvSpPr/>
          <p:nvPr/>
        </p:nvSpPr>
        <p:spPr>
          <a:xfrm>
            <a:off x="4187880" y="3858840"/>
            <a:ext cx="4296960" cy="196524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99"/>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Every card clears 0.92 confidence — a wide margin over 0.75.</a:t>
            </a:r>
            <a:endParaRPr lang="en-PH" sz="930" b="0" u="none" strike="noStrike">
              <a:solidFill>
                <a:srgbClr val="000000"/>
              </a:solidFill>
              <a:effectLst/>
              <a:uFillTx/>
              <a:latin typeface="Arial"/>
            </a:endParaRPr>
          </a:p>
          <a:p>
            <a:pPr defTabSz="457200">
              <a:lnSpc>
                <a:spcPct val="105000"/>
              </a:lnSpc>
              <a:spcAft>
                <a:spcPts val="499"/>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Id_3 is the smallest card and still detects cleanly.</a:t>
            </a:r>
            <a:endParaRPr lang="en-PH" sz="930" b="0" u="none" strike="noStrike">
              <a:solidFill>
                <a:srgbClr val="000000"/>
              </a:solidFill>
              <a:effectLst/>
              <a:uFillTx/>
              <a:latin typeface="Arial"/>
            </a:endParaRPr>
          </a:p>
          <a:p>
            <a:pPr defTabSz="457200">
              <a:lnSpc>
                <a:spcPct val="105000"/>
              </a:lnSpc>
              <a:spcAft>
                <a:spcPts val="499"/>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A detection is only a region: decode and SQL lookup are still required.</a:t>
            </a:r>
            <a:endParaRPr lang="en-PH" sz="930" b="0" u="none" strike="noStrike">
              <a:solidFill>
                <a:srgbClr val="000000"/>
              </a:solidFill>
              <a:effectLst/>
              <a:uFillTx/>
              <a:latin typeface="Arial"/>
            </a:endParaRPr>
          </a:p>
          <a:p>
            <a:pPr defTabSz="457200">
              <a:lnSpc>
                <a:spcPct val="105000"/>
              </a:lnSpc>
              <a:spcAft>
                <a:spcPts val="499"/>
              </a:spcAft>
            </a:pPr>
            <a:r>
              <a:rPr lang="en-US" sz="930" b="1" u="none" strike="noStrike">
                <a:solidFill>
                  <a:srgbClr val="F97316"/>
                </a:solidFill>
                <a:effectLst/>
                <a:uFillTx/>
                <a:latin typeface="Arial"/>
              </a:rPr>
              <a:t>•  </a:t>
            </a:r>
            <a:r>
              <a:rPr lang="en-US" sz="930" b="0" u="none" strike="noStrike">
                <a:solidFill>
                  <a:srgbClr val="475569"/>
                </a:solidFill>
                <a:effectLst/>
                <a:uFillTx/>
                <a:latin typeface="Arial"/>
              </a:rPr>
              <a:t>The annotated crop on the left is the real model output, scaled 2× for legibility.</a:t>
            </a:r>
            <a:endParaRPr lang="en-PH" sz="930" b="0" u="none" strike="noStrike">
              <a:solidFill>
                <a:srgbClr val="000000"/>
              </a:solidFill>
              <a:effectLst/>
              <a:uFillTx/>
              <a:latin typeface="Arial"/>
            </a:endParaRPr>
          </a:p>
        </p:txBody>
      </p:sp>
      <p:sp>
        <p:nvSpPr>
          <p:cNvPr id="417" name="Rounded Rectangle 14"/>
          <p:cNvSpPr/>
          <p:nvPr/>
        </p:nvSpPr>
        <p:spPr>
          <a:xfrm>
            <a:off x="8732520" y="1499760"/>
            <a:ext cx="2852280" cy="431532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8" name="TextBox 15"/>
          <p:cNvSpPr/>
          <p:nvPr/>
        </p:nvSpPr>
        <p:spPr>
          <a:xfrm>
            <a:off x="8924400" y="1682640"/>
            <a:ext cx="246816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20" b="1" u="none" strike="noStrike">
                <a:solidFill>
                  <a:srgbClr val="AD4D05"/>
                </a:solidFill>
                <a:effectLst/>
                <a:uFillTx/>
                <a:latin typeface="Arial"/>
              </a:rPr>
              <a:t>Model identity</a:t>
            </a:r>
            <a:endParaRPr lang="en-PH" sz="1120" b="0" u="none" strike="noStrike">
              <a:solidFill>
                <a:srgbClr val="000000"/>
              </a:solidFill>
              <a:effectLst/>
              <a:uFillTx/>
              <a:latin typeface="Arial"/>
            </a:endParaRPr>
          </a:p>
        </p:txBody>
      </p:sp>
      <p:sp>
        <p:nvSpPr>
          <p:cNvPr id="419" name="TextBox 16"/>
          <p:cNvSpPr/>
          <p:nvPr/>
        </p:nvSpPr>
        <p:spPr>
          <a:xfrm>
            <a:off x="8924400" y="2011680"/>
            <a:ext cx="2468160" cy="361116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475569"/>
                </a:solidFill>
                <a:effectLst/>
                <a:uFillTx/>
                <a:latin typeface="Arial"/>
              </a:rPr>
              <a:t>Trained 2026-10-15 22:23</a:t>
            </a:r>
            <a:endParaRPr lang="en-PH" sz="900" b="0" u="none" strike="noStrike">
              <a:solidFill>
                <a:srgbClr val="000000"/>
              </a:solidFill>
              <a:effectLst/>
              <a:uFillTx/>
              <a:latin typeface="Arial"/>
            </a:endParaRPr>
          </a:p>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475569"/>
                </a:solidFill>
                <a:effectLst/>
                <a:uFillTx/>
                <a:latin typeface="Arial"/>
              </a:rPr>
              <a:t>Run: v7-distance</a:t>
            </a:r>
            <a:endParaRPr lang="en-PH" sz="900" b="0" u="none" strike="noStrike">
              <a:solidFill>
                <a:srgbClr val="000000"/>
              </a:solidFill>
              <a:effectLst/>
              <a:uFillTx/>
              <a:latin typeface="Arial"/>
            </a:endParaRPr>
          </a:p>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475569"/>
                </a:solidFill>
                <a:effectLst/>
                <a:uFillTx/>
                <a:latin typeface="Arial"/>
              </a:rPr>
              <a:t>Ultralytics 8.4.177</a:t>
            </a:r>
            <a:endParaRPr lang="en-PH" sz="900" b="0" u="none" strike="noStrike">
              <a:solidFill>
                <a:srgbClr val="000000"/>
              </a:solidFill>
              <a:effectLst/>
              <a:uFillTx/>
              <a:latin typeface="Arial"/>
            </a:endParaRPr>
          </a:p>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475569"/>
                </a:solidFill>
                <a:effectLst/>
                <a:uFillTx/>
                <a:latin typeface="Arial"/>
              </a:rPr>
              <a:t>Best epoch 34 of 64</a:t>
            </a:r>
            <a:endParaRPr lang="en-PH" sz="900" b="0" u="none" strike="noStrike">
              <a:solidFill>
                <a:srgbClr val="000000"/>
              </a:solidFill>
              <a:effectLst/>
              <a:uFillTx/>
              <a:latin typeface="Arial"/>
            </a:endParaRPr>
          </a:p>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475569"/>
                </a:solidFill>
                <a:effectLst/>
                <a:uFillTx/>
                <a:latin typeface="Arial"/>
              </a:rPr>
              <a:t>mAP50 0.995</a:t>
            </a:r>
            <a:endParaRPr lang="en-PH" sz="900" b="0" u="none" strike="noStrike">
              <a:solidFill>
                <a:srgbClr val="000000"/>
              </a:solidFill>
              <a:effectLst/>
              <a:uFillTx/>
              <a:latin typeface="Arial"/>
            </a:endParaRPr>
          </a:p>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475569"/>
                </a:solidFill>
                <a:effectLst/>
                <a:uFillTx/>
                <a:latin typeface="Arial"/>
              </a:rPr>
              <a:t>mAP50-95 0.8075</a:t>
            </a:r>
            <a:endParaRPr lang="en-PH"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0"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421"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422"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DECODING</a:t>
            </a:r>
            <a:endParaRPr lang="en-PH" sz="880" b="0" u="none" strike="noStrike">
              <a:solidFill>
                <a:srgbClr val="000000"/>
              </a:solidFill>
              <a:effectLst/>
              <a:uFillTx/>
              <a:latin typeface="Arial"/>
            </a:endParaRPr>
          </a:p>
        </p:txBody>
      </p:sp>
      <p:sp>
        <p:nvSpPr>
          <p:cNvPr id="423"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From pixels to a payload, with a bounded attempt budget</a:t>
            </a:r>
            <a:endParaRPr lang="en-PH" sz="2450" b="0" u="none" strike="noStrike">
              <a:solidFill>
                <a:srgbClr val="000000"/>
              </a:solidFill>
              <a:effectLst/>
              <a:uFillTx/>
              <a:latin typeface="Arial"/>
            </a:endParaRPr>
          </a:p>
        </p:txBody>
      </p:sp>
      <p:sp>
        <p:nvSpPr>
          <p:cNvPr id="424"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ROI gate decides which detections reach pyzbar; the decoder tries a small ordered set of preparations and records which one worked.</a:t>
            </a:r>
            <a:endParaRPr lang="en-PH" sz="1080" b="0" u="none" strike="noStrike">
              <a:solidFill>
                <a:srgbClr val="000000"/>
              </a:solidFill>
              <a:effectLst/>
              <a:uFillTx/>
              <a:latin typeface="Arial"/>
            </a:endParaRPr>
          </a:p>
        </p:txBody>
      </p:sp>
      <p:sp>
        <p:nvSpPr>
          <p:cNvPr id="425"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426"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427"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18 / 35</a:t>
            </a:r>
            <a:endParaRPr lang="en-PH" sz="780" b="0" u="none" strike="noStrike">
              <a:solidFill>
                <a:srgbClr val="000000"/>
              </a:solidFill>
              <a:effectLst/>
              <a:uFillTx/>
              <a:latin typeface="Arial"/>
            </a:endParaRPr>
          </a:p>
        </p:txBody>
      </p:sp>
      <p:sp>
        <p:nvSpPr>
          <p:cNvPr id="428" name="Rectangle 9"/>
          <p:cNvSpPr/>
          <p:nvPr/>
        </p:nvSpPr>
        <p:spPr>
          <a:xfrm>
            <a:off x="567000" y="1426320"/>
            <a:ext cx="5531400" cy="34556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29" name="Picture 10" descr="05_scanner_detection.png"/>
          <p:cNvPicPr/>
          <p:nvPr/>
        </p:nvPicPr>
        <p:blipFill>
          <a:blip r:embed="rId1"/>
          <a:stretch/>
        </p:blipFill>
        <p:spPr>
          <a:xfrm>
            <a:off x="611640" y="1454040"/>
            <a:ext cx="5441760" cy="3400920"/>
          </a:xfrm>
          <a:prstGeom prst="rect">
            <a:avLst/>
          </a:prstGeom>
          <a:noFill/>
          <a:ln w="0">
            <a:noFill/>
          </a:ln>
        </p:spPr>
      </p:pic>
      <p:sp>
        <p:nvSpPr>
          <p:cNvPr id="430" name="TextBox 11"/>
          <p:cNvSpPr/>
          <p:nvPr/>
        </p:nvSpPr>
        <p:spPr>
          <a:xfrm>
            <a:off x="6327720" y="146304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GATE</a:t>
            </a:r>
            <a:endParaRPr lang="en-PH" sz="820" b="0" u="none" strike="noStrike">
              <a:solidFill>
                <a:srgbClr val="000000"/>
              </a:solidFill>
              <a:effectLst/>
              <a:uFillTx/>
              <a:latin typeface="Arial"/>
            </a:endParaRPr>
          </a:p>
        </p:txBody>
      </p:sp>
      <p:sp>
        <p:nvSpPr>
          <p:cNvPr id="431" name="TextBox 12"/>
          <p:cNvSpPr/>
          <p:nvPr/>
        </p:nvSpPr>
        <p:spPr>
          <a:xfrm>
            <a:off x="6327720" y="1719000"/>
            <a:ext cx="5211360" cy="178236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601"/>
              </a:spcAft>
            </a:pPr>
            <a:r>
              <a:rPr lang="en-US" sz="960" b="1" u="none" strike="noStrike">
                <a:solidFill>
                  <a:srgbClr val="F97316"/>
                </a:solidFill>
                <a:effectLst/>
                <a:uFillTx/>
                <a:latin typeface="Arial"/>
              </a:rPr>
              <a:t>•  </a:t>
            </a:r>
            <a:r>
              <a:rPr lang="en-US" sz="960" b="0" u="none" strike="noStrike">
                <a:solidFill>
                  <a:srgbClr val="0F172A"/>
                </a:solidFill>
                <a:effectLst/>
                <a:uFillTx/>
                <a:latin typeface="Arial"/>
              </a:rPr>
              <a:t>Overlap ≥ 0.65 </a:t>
            </a:r>
            <a:r>
              <a:rPr lang="en-US" sz="960" b="0" u="none" strike="noStrike">
                <a:solidFill>
                  <a:srgbClr val="475569"/>
                </a:solidFill>
                <a:effectLst/>
                <a:uFillTx/>
                <a:latin typeface="Arial"/>
              </a:rPr>
              <a:t>with the scan region, measured as intersection over the detection box.</a:t>
            </a:r>
            <a:endParaRPr lang="en-PH" sz="960" b="0" u="none" strike="noStrike">
              <a:solidFill>
                <a:srgbClr val="000000"/>
              </a:solidFill>
              <a:effectLst/>
              <a:uFillTx/>
              <a:latin typeface="Arial"/>
            </a:endParaRPr>
          </a:p>
          <a:p>
            <a:pPr defTabSz="457200">
              <a:lnSpc>
                <a:spcPct val="105000"/>
              </a:lnSpc>
              <a:spcAft>
                <a:spcPts val="601"/>
              </a:spcAft>
            </a:pPr>
            <a:r>
              <a:rPr lang="en-US" sz="960" b="1" u="none" strike="noStrike">
                <a:solidFill>
                  <a:srgbClr val="F97316"/>
                </a:solidFill>
                <a:effectLst/>
                <a:uFillTx/>
                <a:latin typeface="Arial"/>
              </a:rPr>
              <a:t>•  </a:t>
            </a:r>
            <a:r>
              <a:rPr lang="en-US" sz="960" b="0" u="none" strike="noStrike">
                <a:solidFill>
                  <a:srgbClr val="0F172A"/>
                </a:solidFill>
                <a:effectLst/>
                <a:uFillTx/>
                <a:latin typeface="Arial"/>
              </a:rPr>
              <a:t>Crop margin 0.20, </a:t>
            </a:r>
            <a:r>
              <a:rPr lang="en-US" sz="960" b="0" u="none" strike="noStrike">
                <a:solidFill>
                  <a:srgbClr val="475569"/>
                </a:solidFill>
                <a:effectLst/>
                <a:uFillTx/>
                <a:latin typeface="Arial"/>
              </a:rPr>
              <a:t>minimum 80 × 24 px; unusable crops are skipped rather than decoded.</a:t>
            </a:r>
            <a:endParaRPr lang="en-PH" sz="960" b="0" u="none" strike="noStrike">
              <a:solidFill>
                <a:srgbClr val="000000"/>
              </a:solidFill>
              <a:effectLst/>
              <a:uFillTx/>
              <a:latin typeface="Arial"/>
            </a:endParaRPr>
          </a:p>
          <a:p>
            <a:pPr defTabSz="457200">
              <a:lnSpc>
                <a:spcPct val="105000"/>
              </a:lnSpc>
              <a:spcAft>
                <a:spcPts val="601"/>
              </a:spcAft>
            </a:pPr>
            <a:r>
              <a:rPr lang="en-US" sz="960" b="1" u="none" strike="noStrike">
                <a:solidFill>
                  <a:srgbClr val="F97316"/>
                </a:solidFill>
                <a:effectLst/>
                <a:uFillTx/>
                <a:latin typeface="Arial"/>
              </a:rPr>
              <a:t>•  </a:t>
            </a:r>
            <a:r>
              <a:rPr lang="en-US" sz="960" b="0" u="none" strike="noStrike">
                <a:solidFill>
                  <a:srgbClr val="0F172A"/>
                </a:solidFill>
                <a:effectLst/>
                <a:uFillTx/>
                <a:latin typeface="Arial"/>
              </a:rPr>
              <a:t>Candidate de-duplication </a:t>
            </a:r>
            <a:r>
              <a:rPr lang="en-US" sz="960" b="0" u="none" strike="noStrike">
                <a:solidFill>
                  <a:srgbClr val="475569"/>
                </a:solidFill>
                <a:effectLst/>
                <a:uFillTx/>
                <a:latin typeface="Arial"/>
              </a:rPr>
              <a:t>at IoU 0.70, so one symbol is not decoded repeatedly.</a:t>
            </a:r>
            <a:endParaRPr lang="en-PH" sz="960" b="0" u="none" strike="noStrike">
              <a:solidFill>
                <a:srgbClr val="000000"/>
              </a:solidFill>
              <a:effectLst/>
              <a:uFillTx/>
              <a:latin typeface="Arial"/>
            </a:endParaRPr>
          </a:p>
        </p:txBody>
      </p:sp>
      <p:sp>
        <p:nvSpPr>
          <p:cNvPr id="432" name="TextBox 13"/>
          <p:cNvSpPr/>
          <p:nvPr/>
        </p:nvSpPr>
        <p:spPr>
          <a:xfrm>
            <a:off x="6327720" y="356616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DECODE</a:t>
            </a:r>
            <a:endParaRPr lang="en-PH" sz="820" b="0" u="none" strike="noStrike">
              <a:solidFill>
                <a:srgbClr val="000000"/>
              </a:solidFill>
              <a:effectLst/>
              <a:uFillTx/>
              <a:latin typeface="Arial"/>
            </a:endParaRPr>
          </a:p>
        </p:txBody>
      </p:sp>
      <p:sp>
        <p:nvSpPr>
          <p:cNvPr id="433" name="TextBox 14"/>
          <p:cNvSpPr/>
          <p:nvPr/>
        </p:nvSpPr>
        <p:spPr>
          <a:xfrm>
            <a:off x="6327720" y="3822120"/>
            <a:ext cx="5211360" cy="178236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601"/>
              </a:spcAft>
            </a:pPr>
            <a:r>
              <a:rPr lang="en-US" sz="960" b="1" u="none" strike="noStrike">
                <a:solidFill>
                  <a:srgbClr val="F97316"/>
                </a:solidFill>
                <a:effectLst/>
                <a:uFillTx/>
                <a:latin typeface="Arial"/>
              </a:rPr>
              <a:t>•  </a:t>
            </a:r>
            <a:r>
              <a:rPr lang="en-US" sz="960" b="0" u="none" strike="noStrike">
                <a:solidFill>
                  <a:srgbClr val="0F172A"/>
                </a:solidFill>
                <a:effectLst/>
                <a:uFillTx/>
                <a:latin typeface="Arial"/>
              </a:rPr>
              <a:t>Ordered attempts, ≤ 6: </a:t>
            </a:r>
            <a:r>
              <a:rPr lang="en-US" sz="960" b="0" u="none" strike="noStrike">
                <a:solidFill>
                  <a:srgbClr val="475569"/>
                </a:solidFill>
                <a:effectLst/>
                <a:uFillTx/>
                <a:latin typeface="Arial"/>
              </a:rPr>
              <a:t>original colour, greyscale, CLAHE, Otsu, 2× and 3× upscale variants.</a:t>
            </a:r>
            <a:endParaRPr lang="en-PH" sz="960" b="0" u="none" strike="noStrike">
              <a:solidFill>
                <a:srgbClr val="000000"/>
              </a:solidFill>
              <a:effectLst/>
              <a:uFillTx/>
              <a:latin typeface="Arial"/>
            </a:endParaRPr>
          </a:p>
          <a:p>
            <a:pPr defTabSz="457200">
              <a:lnSpc>
                <a:spcPct val="105000"/>
              </a:lnSpc>
              <a:spcAft>
                <a:spcPts val="601"/>
              </a:spcAft>
            </a:pPr>
            <a:r>
              <a:rPr lang="en-US" sz="960" b="1" u="none" strike="noStrike">
                <a:solidFill>
                  <a:srgbClr val="F97316"/>
                </a:solidFill>
                <a:effectLst/>
                <a:uFillTx/>
                <a:latin typeface="Arial"/>
              </a:rPr>
              <a:t>•  </a:t>
            </a:r>
            <a:r>
              <a:rPr lang="en-US" sz="960" b="0" u="none" strike="noStrike">
                <a:solidFill>
                  <a:srgbClr val="0F172A"/>
                </a:solidFill>
                <a:effectLst/>
                <a:uFillTx/>
                <a:latin typeface="Arial"/>
              </a:rPr>
              <a:t>Every payload is kept, </a:t>
            </a:r>
            <a:r>
              <a:rPr lang="en-US" sz="960" b="0" u="none" strike="noStrike">
                <a:solidFill>
                  <a:srgbClr val="475569"/>
                </a:solidFill>
                <a:effectLst/>
                <a:uFillTx/>
                <a:latin typeface="Arial"/>
              </a:rPr>
              <a:t>not just the first: two distinct values make the read AMBIGUOUS.</a:t>
            </a:r>
            <a:endParaRPr lang="en-PH" sz="960" b="0" u="none" strike="noStrike">
              <a:solidFill>
                <a:srgbClr val="000000"/>
              </a:solidFill>
              <a:effectLst/>
              <a:uFillTx/>
              <a:latin typeface="Arial"/>
            </a:endParaRPr>
          </a:p>
          <a:p>
            <a:pPr defTabSz="457200">
              <a:lnSpc>
                <a:spcPct val="105000"/>
              </a:lnSpc>
              <a:spcAft>
                <a:spcPts val="601"/>
              </a:spcAft>
            </a:pPr>
            <a:r>
              <a:rPr lang="en-US" sz="960" b="1" u="none" strike="noStrike">
                <a:solidFill>
                  <a:srgbClr val="F97316"/>
                </a:solidFill>
                <a:effectLst/>
                <a:uFillTx/>
                <a:latin typeface="Arial"/>
              </a:rPr>
              <a:t>•  </a:t>
            </a:r>
            <a:r>
              <a:rPr lang="en-US" sz="960" b="0" u="none" strike="noStrike">
                <a:solidFill>
                  <a:srgbClr val="0F172A"/>
                </a:solidFill>
                <a:effectLst/>
                <a:uFillTx/>
                <a:latin typeface="Arial"/>
              </a:rPr>
              <a:t>Method and attempt count </a:t>
            </a:r>
            <a:r>
              <a:rPr lang="en-US" sz="960" b="0" u="none" strike="noStrike">
                <a:solidFill>
                  <a:srgbClr val="475569"/>
                </a:solidFill>
                <a:effectLst/>
                <a:uFillTx/>
                <a:latin typeface="Arial"/>
              </a:rPr>
              <a:t>travel with the result, so the UI can be honest about a difficult read.</a:t>
            </a:r>
            <a:endParaRPr lang="en-PH" sz="960" b="0" u="none" strike="noStrike">
              <a:solidFill>
                <a:srgbClr val="000000"/>
              </a:solidFill>
              <a:effectLst/>
              <a:uFillTx/>
              <a:latin typeface="Arial"/>
            </a:endParaRPr>
          </a:p>
        </p:txBody>
      </p:sp>
      <p:sp>
        <p:nvSpPr>
          <p:cNvPr id="434" name="TextBox 15"/>
          <p:cNvSpPr/>
          <p:nvPr/>
        </p:nvSpPr>
        <p:spPr>
          <a:xfrm>
            <a:off x="6327720" y="5706000"/>
            <a:ext cx="5257080" cy="401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i="1" u="none" strike="noStrike">
                <a:solidFill>
                  <a:srgbClr val="AD4D05"/>
                </a:solidFill>
                <a:effectLst/>
                <a:uFillTx/>
                <a:latin typeface="Arial"/>
              </a:rPr>
              <a:t>Why upscaling exists: Id_3.png supplies only ~1.85 px per narrow CODE39 element at native size.</a:t>
            </a:r>
            <a:endParaRPr lang="en-PH" sz="860" b="0" u="none" strike="noStrike">
              <a:solidFill>
                <a:srgbClr val="000000"/>
              </a:solidFill>
              <a:effectLst/>
              <a:uFillTx/>
              <a:latin typeface="Arial"/>
            </a:endParaRPr>
          </a:p>
        </p:txBody>
      </p:sp>
      <p:sp>
        <p:nvSpPr>
          <p:cNvPr id="435" name="TextBox 16"/>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Screenshot: live detection with the bounding box, guide overlay and decoded value 000065412.</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6"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437"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438"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OUTCOMES</a:t>
            </a:r>
            <a:endParaRPr lang="en-PH" sz="880" b="0" u="none" strike="noStrike">
              <a:solidFill>
                <a:srgbClr val="000000"/>
              </a:solidFill>
              <a:effectLst/>
              <a:uFillTx/>
              <a:latin typeface="Arial"/>
            </a:endParaRPr>
          </a:p>
        </p:txBody>
      </p:sp>
      <p:sp>
        <p:nvSpPr>
          <p:cNvPr id="439"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Verified, unknown and ambiguous are different states</a:t>
            </a:r>
            <a:endParaRPr lang="en-PH" sz="2450" b="0" u="none" strike="noStrike">
              <a:solidFill>
                <a:srgbClr val="000000"/>
              </a:solidFill>
              <a:effectLst/>
              <a:uFillTx/>
              <a:latin typeface="Arial"/>
            </a:endParaRPr>
          </a:p>
        </p:txBody>
      </p:sp>
      <p:sp>
        <p:nvSpPr>
          <p:cNvPr id="440"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UI never collapses a failed lookup into a success. The demonstration data records both outcomes.</a:t>
            </a:r>
            <a:endParaRPr lang="en-PH" sz="1080" b="0" u="none" strike="noStrike">
              <a:solidFill>
                <a:srgbClr val="000000"/>
              </a:solidFill>
              <a:effectLst/>
              <a:uFillTx/>
              <a:latin typeface="Arial"/>
            </a:endParaRPr>
          </a:p>
        </p:txBody>
      </p:sp>
      <p:sp>
        <p:nvSpPr>
          <p:cNvPr id="441"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442"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443"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19 / 35</a:t>
            </a:r>
            <a:endParaRPr lang="en-PH" sz="780" b="0" u="none" strike="noStrike">
              <a:solidFill>
                <a:srgbClr val="000000"/>
              </a:solidFill>
              <a:effectLst/>
              <a:uFillTx/>
              <a:latin typeface="Arial"/>
            </a:endParaRPr>
          </a:p>
        </p:txBody>
      </p:sp>
      <p:sp>
        <p:nvSpPr>
          <p:cNvPr id="444" name="Rectangle 9"/>
          <p:cNvSpPr/>
          <p:nvPr/>
        </p:nvSpPr>
        <p:spPr>
          <a:xfrm>
            <a:off x="567000" y="1426320"/>
            <a:ext cx="3656880" cy="261432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45" name="Picture 10" descr="06_scanner_verified.png"/>
          <p:cNvPicPr/>
          <p:nvPr/>
        </p:nvPicPr>
        <p:blipFill>
          <a:blip r:embed="rId1"/>
          <a:stretch/>
        </p:blipFill>
        <p:spPr>
          <a:xfrm>
            <a:off x="594360" y="1608120"/>
            <a:ext cx="3602160" cy="2251080"/>
          </a:xfrm>
          <a:prstGeom prst="rect">
            <a:avLst/>
          </a:prstGeom>
          <a:noFill/>
          <a:ln w="0">
            <a:noFill/>
          </a:ln>
        </p:spPr>
      </p:pic>
      <p:sp>
        <p:nvSpPr>
          <p:cNvPr id="446" name="Rectangle 11"/>
          <p:cNvSpPr/>
          <p:nvPr/>
        </p:nvSpPr>
        <p:spPr>
          <a:xfrm>
            <a:off x="4443840" y="1426320"/>
            <a:ext cx="3656880" cy="261432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47" name="Picture 12" descr="08_scanner_unknown.png"/>
          <p:cNvPicPr/>
          <p:nvPr/>
        </p:nvPicPr>
        <p:blipFill>
          <a:blip r:embed="rId2"/>
          <a:stretch/>
        </p:blipFill>
        <p:spPr>
          <a:xfrm>
            <a:off x="4471560" y="1608120"/>
            <a:ext cx="3602160" cy="2251080"/>
          </a:xfrm>
          <a:prstGeom prst="rect">
            <a:avLst/>
          </a:prstGeom>
          <a:noFill/>
          <a:ln w="0">
            <a:noFill/>
          </a:ln>
        </p:spPr>
      </p:pic>
      <p:sp>
        <p:nvSpPr>
          <p:cNvPr id="448" name="Rectangle 13"/>
          <p:cNvSpPr/>
          <p:nvPr/>
        </p:nvSpPr>
        <p:spPr>
          <a:xfrm>
            <a:off x="8321040" y="1426320"/>
            <a:ext cx="2696760" cy="269676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49" name="Picture 14" descr="07_scan_result_dialog.png"/>
          <p:cNvPicPr/>
          <p:nvPr/>
        </p:nvPicPr>
        <p:blipFill>
          <a:blip r:embed="rId3"/>
          <a:stretch/>
        </p:blipFill>
        <p:spPr>
          <a:xfrm>
            <a:off x="8348400" y="1454040"/>
            <a:ext cx="2642040" cy="2642040"/>
          </a:xfrm>
          <a:prstGeom prst="rect">
            <a:avLst/>
          </a:prstGeom>
          <a:noFill/>
          <a:ln w="0">
            <a:noFill/>
          </a:ln>
        </p:spPr>
      </p:pic>
      <p:sp>
        <p:nvSpPr>
          <p:cNvPr id="450" name="TextBox 15"/>
          <p:cNvSpPr/>
          <p:nvPr/>
        </p:nvSpPr>
        <p:spPr>
          <a:xfrm>
            <a:off x="567000" y="4133160"/>
            <a:ext cx="356544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16A34A"/>
                </a:solidFill>
                <a:effectLst/>
                <a:uFillTx/>
                <a:latin typeface="Arial"/>
              </a:rPr>
              <a:t>VERIFIED — student resolved</a:t>
            </a:r>
            <a:endParaRPr lang="en-PH" sz="880" b="0" u="none" strike="noStrike">
              <a:solidFill>
                <a:srgbClr val="000000"/>
              </a:solidFill>
              <a:effectLst/>
              <a:uFillTx/>
              <a:latin typeface="Arial"/>
            </a:endParaRPr>
          </a:p>
        </p:txBody>
      </p:sp>
      <p:sp>
        <p:nvSpPr>
          <p:cNvPr id="451" name="TextBox 16"/>
          <p:cNvSpPr/>
          <p:nvPr/>
        </p:nvSpPr>
        <p:spPr>
          <a:xfrm>
            <a:off x="4443840" y="4133160"/>
            <a:ext cx="356544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DC2626"/>
                </a:solidFill>
                <a:effectLst/>
                <a:uFillTx/>
                <a:latin typeface="Arial"/>
              </a:rPr>
              <a:t>UNKNOWN — decoded, no DB row</a:t>
            </a:r>
            <a:endParaRPr lang="en-PH" sz="880" b="0" u="none" strike="noStrike">
              <a:solidFill>
                <a:srgbClr val="000000"/>
              </a:solidFill>
              <a:effectLst/>
              <a:uFillTx/>
              <a:latin typeface="Arial"/>
            </a:endParaRPr>
          </a:p>
        </p:txBody>
      </p:sp>
      <p:sp>
        <p:nvSpPr>
          <p:cNvPr id="452" name="TextBox 17"/>
          <p:cNvSpPr/>
          <p:nvPr/>
        </p:nvSpPr>
        <p:spPr>
          <a:xfrm>
            <a:off x="8321040" y="4133160"/>
            <a:ext cx="269676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RESULT MODAL</a:t>
            </a:r>
            <a:endParaRPr lang="en-PH" sz="880" b="0" u="none" strike="noStrike">
              <a:solidFill>
                <a:srgbClr val="000000"/>
              </a:solidFill>
              <a:effectLst/>
              <a:uFillTx/>
              <a:latin typeface="Arial"/>
            </a:endParaRPr>
          </a:p>
        </p:txBody>
      </p:sp>
      <p:sp>
        <p:nvSpPr>
          <p:cNvPr id="453" name="TextBox 18"/>
          <p:cNvSpPr/>
          <p:nvPr/>
        </p:nvSpPr>
        <p:spPr>
          <a:xfrm>
            <a:off x="567000" y="4425840"/>
            <a:ext cx="3565440" cy="164520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300"/>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Student panel, portrait and reference</a:t>
            </a:r>
            <a:endParaRPr lang="en-PH" sz="880" b="0" u="none" strike="noStrike">
              <a:solidFill>
                <a:srgbClr val="000000"/>
              </a:solidFill>
              <a:effectLst/>
              <a:uFillTx/>
              <a:latin typeface="Arial"/>
            </a:endParaRPr>
          </a:p>
          <a:p>
            <a:pPr defTabSz="457200">
              <a:lnSpc>
                <a:spcPct val="105000"/>
              </a:lnSpc>
              <a:spcAft>
                <a:spcPts val="300"/>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Success tone + one history insert</a:t>
            </a:r>
            <a:endParaRPr lang="en-PH" sz="880" b="0" u="none" strike="noStrike">
              <a:solidFill>
                <a:srgbClr val="000000"/>
              </a:solidFill>
              <a:effectLst/>
              <a:uFillTx/>
              <a:latin typeface="Arial"/>
            </a:endParaRPr>
          </a:p>
          <a:p>
            <a:pPr defTabSz="457200">
              <a:lnSpc>
                <a:spcPct val="105000"/>
              </a:lnSpc>
              <a:spcAft>
                <a:spcPts val="300"/>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COM and financial tabs open</a:t>
            </a:r>
            <a:endParaRPr lang="en-PH" sz="880" b="0" u="none" strike="noStrike">
              <a:solidFill>
                <a:srgbClr val="000000"/>
              </a:solidFill>
              <a:effectLst/>
              <a:uFillTx/>
              <a:latin typeface="Arial"/>
            </a:endParaRPr>
          </a:p>
        </p:txBody>
      </p:sp>
      <p:sp>
        <p:nvSpPr>
          <p:cNvPr id="454" name="TextBox 19"/>
          <p:cNvSpPr/>
          <p:nvPr/>
        </p:nvSpPr>
        <p:spPr>
          <a:xfrm>
            <a:off x="4443840" y="4425840"/>
            <a:ext cx="3656880" cy="164520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300"/>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Decoded value is shown</a:t>
            </a:r>
            <a:endParaRPr lang="en-PH" sz="880" b="0" u="none" strike="noStrike">
              <a:solidFill>
                <a:srgbClr val="000000"/>
              </a:solidFill>
              <a:effectLst/>
              <a:uFillTx/>
              <a:latin typeface="Arial"/>
            </a:endParaRPr>
          </a:p>
          <a:p>
            <a:pPr defTabSz="457200">
              <a:lnSpc>
                <a:spcPct val="105000"/>
              </a:lnSpc>
              <a:spcAft>
                <a:spcPts val="300"/>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not_found row is written</a:t>
            </a:r>
            <a:endParaRPr lang="en-PH" sz="880" b="0" u="none" strike="noStrike">
              <a:solidFill>
                <a:srgbClr val="000000"/>
              </a:solidFill>
              <a:effectLst/>
              <a:uFillTx/>
              <a:latin typeface="Arial"/>
            </a:endParaRPr>
          </a:p>
          <a:p>
            <a:pPr defTabSz="457200">
              <a:lnSpc>
                <a:spcPct val="105000"/>
              </a:lnSpc>
              <a:spcAft>
                <a:spcPts val="300"/>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No student panel, no success tone</a:t>
            </a:r>
            <a:endParaRPr lang="en-PH" sz="880" b="0" u="none" strike="noStrike">
              <a:solidFill>
                <a:srgbClr val="000000"/>
              </a:solidFill>
              <a:effectLst/>
              <a:uFillTx/>
              <a:latin typeface="Arial"/>
            </a:endParaRPr>
          </a:p>
          <a:p>
            <a:pPr defTabSz="457200">
              <a:lnSpc>
                <a:spcPct val="105000"/>
              </a:lnSpc>
              <a:spcAft>
                <a:spcPts val="300"/>
              </a:spcAft>
            </a:pPr>
            <a:r>
              <a:rPr lang="en-US" sz="880" b="1" u="none" strike="noStrike">
                <a:solidFill>
                  <a:srgbClr val="F97316"/>
                </a:solidFill>
                <a:effectLst/>
                <a:uFillTx/>
                <a:latin typeface="Arial"/>
              </a:rPr>
              <a:t>•  </a:t>
            </a:r>
            <a:r>
              <a:rPr lang="en-US" sz="880" b="0" u="none" strike="noStrike">
                <a:solidFill>
                  <a:srgbClr val="475569"/>
                </a:solidFill>
                <a:effectLst/>
                <a:uFillTx/>
                <a:latin typeface="Arial"/>
              </a:rPr>
              <a:t>Database failure is a separate ERROR state</a:t>
            </a:r>
            <a:endParaRPr lang="en-PH" sz="880" b="0" u="none" strike="noStrike">
              <a:solidFill>
                <a:srgbClr val="000000"/>
              </a:solidFill>
              <a:effectLst/>
              <a:uFillTx/>
              <a:latin typeface="Arial"/>
            </a:endParaRPr>
          </a:p>
        </p:txBody>
      </p:sp>
      <p:sp>
        <p:nvSpPr>
          <p:cNvPr id="455" name="Rounded Rectangle 20"/>
          <p:cNvSpPr/>
          <p:nvPr/>
        </p:nvSpPr>
        <p:spPr>
          <a:xfrm>
            <a:off x="8321040" y="4462200"/>
            <a:ext cx="2696760" cy="14256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6" name="TextBox 21"/>
          <p:cNvSpPr/>
          <p:nvPr/>
        </p:nvSpPr>
        <p:spPr>
          <a:xfrm>
            <a:off x="8449200" y="4553640"/>
            <a:ext cx="2449800" cy="1242720"/>
          </a:xfrm>
          <a:prstGeom prst="rect">
            <a:avLst/>
          </a:prstGeom>
          <a:noFill/>
          <a:ln w="0">
            <a:noFill/>
          </a:ln>
        </p:spPr>
        <p:style>
          <a:lnRef idx="0"/>
          <a:fillRef idx="0"/>
          <a:effectRef idx="0"/>
          <a:fontRef idx="minor"/>
        </p:style>
        <p:txBody>
          <a:bodyPr lIns="0" tIns="0" rIns="0" bIns="0" anchor="t">
            <a:spAutoFit/>
          </a:bodyPr>
          <a:p>
            <a:pPr defTabSz="457200">
              <a:lnSpc>
                <a:spcPct val="108000"/>
              </a:lnSpc>
            </a:pPr>
            <a:r>
              <a:rPr lang="en-US" sz="839" b="0" u="none" strike="noStrike">
                <a:solidFill>
                  <a:srgbClr val="475569"/>
                </a:solidFill>
                <a:effectLst/>
                <a:uFillTx/>
                <a:latin typeface="Arial"/>
              </a:rPr>
              <a:t>65 scans on file</a:t>
            </a:r>
            <a:endParaRPr lang="en-PH" sz="839" b="0" u="none" strike="noStrike">
              <a:solidFill>
                <a:srgbClr val="000000"/>
              </a:solidFill>
              <a:effectLst/>
              <a:uFillTx/>
              <a:latin typeface="Arial"/>
            </a:endParaRPr>
          </a:p>
          <a:p>
            <a:pPr defTabSz="457200">
              <a:lnSpc>
                <a:spcPct val="108000"/>
              </a:lnSpc>
            </a:pPr>
            <a:r>
              <a:rPr lang="en-US" sz="839" b="0" u="none" strike="noStrike">
                <a:solidFill>
                  <a:srgbClr val="475569"/>
                </a:solidFill>
                <a:effectLst/>
                <a:uFillTx/>
                <a:latin typeface="Arial"/>
              </a:rPr>
              <a:t>41 success · 24 not found</a:t>
            </a:r>
            <a:endParaRPr lang="en-PH" sz="839" b="0" u="none" strike="noStrike">
              <a:solidFill>
                <a:srgbClr val="000000"/>
              </a:solidFill>
              <a:effectLst/>
              <a:uFillTx/>
              <a:latin typeface="Arial"/>
            </a:endParaRPr>
          </a:p>
          <a:p>
            <a:pPr defTabSz="457200">
              <a:lnSpc>
                <a:spcPct val="108000"/>
              </a:lnSpc>
            </a:pPr>
            <a:endParaRPr lang="en-PH" sz="839" b="0" u="none" strike="noStrike">
              <a:solidFill>
                <a:srgbClr val="000000"/>
              </a:solidFill>
              <a:effectLst/>
              <a:uFillTx/>
              <a:latin typeface="Arial"/>
            </a:endParaRPr>
          </a:p>
          <a:p>
            <a:pPr defTabSz="457200">
              <a:lnSpc>
                <a:spcPct val="108000"/>
              </a:lnSpc>
            </a:pPr>
            <a:r>
              <a:rPr lang="en-US" sz="839" b="0" u="none" strike="noStrike">
                <a:solidFill>
                  <a:srgbClr val="475569"/>
                </a:solidFill>
                <a:effectLst/>
                <a:uFillTx/>
                <a:latin typeface="Arial"/>
              </a:rPr>
              <a:t>The not-found rows are test reads against unknown payloads, not silent failures.</a:t>
            </a:r>
            <a:endParaRPr lang="en-PH" sz="839" b="0" u="none" strike="noStrike">
              <a:solidFill>
                <a:srgbClr val="000000"/>
              </a:solidFill>
              <a:effectLst/>
              <a:uFillTx/>
              <a:latin typeface="Arial"/>
            </a:endParaRPr>
          </a:p>
        </p:txBody>
      </p:sp>
      <p:sp>
        <p:nvSpPr>
          <p:cNvPr id="457" name="TextBox 22"/>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Scan counts are the live barcode_scans table after removing the one capture scan. Success rate is 63.1%.</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8"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459"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460"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END-TO-END FLOW</a:t>
            </a:r>
            <a:endParaRPr lang="en-PH" sz="880" b="0" u="none" strike="noStrike">
              <a:solidFill>
                <a:srgbClr val="000000"/>
              </a:solidFill>
              <a:effectLst/>
              <a:uFillTx/>
              <a:latin typeface="Arial"/>
            </a:endParaRPr>
          </a:p>
        </p:txBody>
      </p:sp>
      <p:sp>
        <p:nvSpPr>
          <p:cNvPr id="461"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Complete scan workflow, including failure branches</a:t>
            </a:r>
            <a:endParaRPr lang="en-PH" sz="2450" b="0" u="none" strike="noStrike">
              <a:solidFill>
                <a:srgbClr val="000000"/>
              </a:solidFill>
              <a:effectLst/>
              <a:uFillTx/>
              <a:latin typeface="Arial"/>
            </a:endParaRPr>
          </a:p>
        </p:txBody>
      </p:sp>
      <p:sp>
        <p:nvSpPr>
          <p:cNvPr id="462"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Green is the verified path; red branches are implemented failure handling, not hypothetical edge cases.</a:t>
            </a:r>
            <a:endParaRPr lang="en-PH" sz="1080" b="0" u="none" strike="noStrike">
              <a:solidFill>
                <a:srgbClr val="000000"/>
              </a:solidFill>
              <a:effectLst/>
              <a:uFillTx/>
              <a:latin typeface="Arial"/>
            </a:endParaRPr>
          </a:p>
        </p:txBody>
      </p:sp>
      <p:sp>
        <p:nvSpPr>
          <p:cNvPr id="463"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464"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465"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20 / 35</a:t>
            </a:r>
            <a:endParaRPr lang="en-PH" sz="780" b="0" u="none" strike="noStrike">
              <a:solidFill>
                <a:srgbClr val="000000"/>
              </a:solidFill>
              <a:effectLst/>
              <a:uFillTx/>
              <a:latin typeface="Arial"/>
            </a:endParaRPr>
          </a:p>
        </p:txBody>
      </p:sp>
      <p:sp>
        <p:nvSpPr>
          <p:cNvPr id="466" name="Rectangle 9"/>
          <p:cNvSpPr/>
          <p:nvPr/>
        </p:nvSpPr>
        <p:spPr>
          <a:xfrm>
            <a:off x="567000" y="1353240"/>
            <a:ext cx="11045160" cy="468108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67" name="Picture 10" descr="WIT_System_Flowchart.png"/>
          <p:cNvPicPr/>
          <p:nvPr/>
        </p:nvPicPr>
        <p:blipFill>
          <a:blip r:embed="rId1"/>
          <a:stretch/>
        </p:blipFill>
        <p:spPr>
          <a:xfrm>
            <a:off x="1962000" y="1371600"/>
            <a:ext cx="8255160" cy="464436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8"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469"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470"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WALKTHROUGH</a:t>
            </a:r>
            <a:endParaRPr lang="en-PH" sz="880" b="0" u="none" strike="noStrike">
              <a:solidFill>
                <a:srgbClr val="000000"/>
              </a:solidFill>
              <a:effectLst/>
              <a:uFillTx/>
              <a:latin typeface="Arial"/>
            </a:endParaRPr>
          </a:p>
        </p:txBody>
      </p:sp>
      <p:sp>
        <p:nvSpPr>
          <p:cNvPr id="471"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Subject enrollment</a:t>
            </a:r>
            <a:endParaRPr lang="en-PH" sz="2450" b="0" u="none" strike="noStrike">
              <a:solidFill>
                <a:srgbClr val="000000"/>
              </a:solidFill>
              <a:effectLst/>
              <a:uFillTx/>
              <a:latin typeface="Arial"/>
            </a:endParaRPr>
          </a:p>
        </p:txBody>
      </p:sp>
      <p:sp>
        <p:nvSpPr>
          <p:cNvPr id="472"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A student is selected once, then every enrollment for that student is shown as a tab with subject lines and fees.</a:t>
            </a:r>
            <a:endParaRPr lang="en-PH" sz="1080" b="0" u="none" strike="noStrike">
              <a:solidFill>
                <a:srgbClr val="000000"/>
              </a:solidFill>
              <a:effectLst/>
              <a:uFillTx/>
              <a:latin typeface="Arial"/>
            </a:endParaRPr>
          </a:p>
        </p:txBody>
      </p:sp>
      <p:sp>
        <p:nvSpPr>
          <p:cNvPr id="473"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474"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475"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21 / 35</a:t>
            </a:r>
            <a:endParaRPr lang="en-PH" sz="780" b="0" u="none" strike="noStrike">
              <a:solidFill>
                <a:srgbClr val="000000"/>
              </a:solidFill>
              <a:effectLst/>
              <a:uFillTx/>
              <a:latin typeface="Arial"/>
            </a:endParaRPr>
          </a:p>
        </p:txBody>
      </p:sp>
      <p:sp>
        <p:nvSpPr>
          <p:cNvPr id="476" name="Rectangle 9"/>
          <p:cNvSpPr/>
          <p:nvPr/>
        </p:nvSpPr>
        <p:spPr>
          <a:xfrm>
            <a:off x="567000" y="1426320"/>
            <a:ext cx="7588800" cy="45896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77" name="Picture 10" descr="09_enrollment.png"/>
          <p:cNvPicPr/>
          <p:nvPr/>
        </p:nvPicPr>
        <p:blipFill>
          <a:blip r:embed="rId1"/>
          <a:stretch/>
        </p:blipFill>
        <p:spPr>
          <a:xfrm>
            <a:off x="733320" y="1454040"/>
            <a:ext cx="7255800" cy="4534560"/>
          </a:xfrm>
          <a:prstGeom prst="rect">
            <a:avLst/>
          </a:prstGeom>
          <a:noFill/>
          <a:ln w="0">
            <a:noFill/>
          </a:ln>
        </p:spPr>
      </p:pic>
      <p:sp>
        <p:nvSpPr>
          <p:cNvPr id="478" name="TextBox 11"/>
          <p:cNvSpPr/>
          <p:nvPr/>
        </p:nvSpPr>
        <p:spPr>
          <a:xfrm>
            <a:off x="8321040" y="148140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LIVE RECORD</a:t>
            </a:r>
            <a:endParaRPr lang="en-PH" sz="820" b="0" u="none" strike="noStrike">
              <a:solidFill>
                <a:srgbClr val="000000"/>
              </a:solidFill>
              <a:effectLst/>
              <a:uFillTx/>
              <a:latin typeface="Arial"/>
            </a:endParaRPr>
          </a:p>
        </p:txBody>
      </p:sp>
      <p:sp>
        <p:nvSpPr>
          <p:cNvPr id="479" name="Rounded Rectangle 12"/>
          <p:cNvSpPr/>
          <p:nvPr/>
        </p:nvSpPr>
        <p:spPr>
          <a:xfrm>
            <a:off x="8321040" y="1737360"/>
            <a:ext cx="1553760" cy="9504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0" name="Rectangle 13"/>
          <p:cNvSpPr/>
          <p:nvPr/>
        </p:nvSpPr>
        <p:spPr>
          <a:xfrm>
            <a:off x="8321040" y="1847160"/>
            <a:ext cx="54000" cy="73080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481" name="TextBox 14"/>
          <p:cNvSpPr/>
          <p:nvPr/>
        </p:nvSpPr>
        <p:spPr>
          <a:xfrm>
            <a:off x="8503920" y="1901880"/>
            <a:ext cx="123372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3</a:t>
            </a:r>
            <a:endParaRPr lang="en-PH" sz="2500" b="0" u="none" strike="noStrike">
              <a:solidFill>
                <a:srgbClr val="000000"/>
              </a:solidFill>
              <a:effectLst/>
              <a:uFillTx/>
              <a:latin typeface="Arial"/>
            </a:endParaRPr>
          </a:p>
        </p:txBody>
      </p:sp>
      <p:sp>
        <p:nvSpPr>
          <p:cNvPr id="482" name="TextBox 15"/>
          <p:cNvSpPr/>
          <p:nvPr/>
        </p:nvSpPr>
        <p:spPr>
          <a:xfrm>
            <a:off x="8503920" y="2377440"/>
            <a:ext cx="123372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ENROLLMENTS</a:t>
            </a:r>
            <a:endParaRPr lang="en-PH" sz="839" b="0" u="none" strike="noStrike">
              <a:solidFill>
                <a:srgbClr val="000000"/>
              </a:solidFill>
              <a:effectLst/>
              <a:uFillTx/>
              <a:latin typeface="Arial"/>
            </a:endParaRPr>
          </a:p>
        </p:txBody>
      </p:sp>
      <p:sp>
        <p:nvSpPr>
          <p:cNvPr id="483" name="Rounded Rectangle 16"/>
          <p:cNvSpPr/>
          <p:nvPr/>
        </p:nvSpPr>
        <p:spPr>
          <a:xfrm>
            <a:off x="10003680" y="1737360"/>
            <a:ext cx="1553760" cy="9504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4" name="Rectangle 17"/>
          <p:cNvSpPr/>
          <p:nvPr/>
        </p:nvSpPr>
        <p:spPr>
          <a:xfrm>
            <a:off x="10003680" y="1847160"/>
            <a:ext cx="54000" cy="73080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485" name="TextBox 18"/>
          <p:cNvSpPr/>
          <p:nvPr/>
        </p:nvSpPr>
        <p:spPr>
          <a:xfrm>
            <a:off x="10186560" y="1901880"/>
            <a:ext cx="123372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21</a:t>
            </a:r>
            <a:endParaRPr lang="en-PH" sz="2500" b="0" u="none" strike="noStrike">
              <a:solidFill>
                <a:srgbClr val="000000"/>
              </a:solidFill>
              <a:effectLst/>
              <a:uFillTx/>
              <a:latin typeface="Arial"/>
            </a:endParaRPr>
          </a:p>
        </p:txBody>
      </p:sp>
      <p:sp>
        <p:nvSpPr>
          <p:cNvPr id="486" name="TextBox 19"/>
          <p:cNvSpPr/>
          <p:nvPr/>
        </p:nvSpPr>
        <p:spPr>
          <a:xfrm>
            <a:off x="10186560" y="2377440"/>
            <a:ext cx="123372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SUBJECT LINES</a:t>
            </a:r>
            <a:endParaRPr lang="en-PH" sz="839" b="0" u="none" strike="noStrike">
              <a:solidFill>
                <a:srgbClr val="000000"/>
              </a:solidFill>
              <a:effectLst/>
              <a:uFillTx/>
              <a:latin typeface="Arial"/>
            </a:endParaRPr>
          </a:p>
        </p:txBody>
      </p:sp>
      <p:sp>
        <p:nvSpPr>
          <p:cNvPr id="487" name="TextBox 20"/>
          <p:cNvSpPr/>
          <p:nvPr/>
        </p:nvSpPr>
        <p:spPr>
          <a:xfrm>
            <a:off x="8321040" y="2853000"/>
            <a:ext cx="3245400" cy="28339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Steven Anthony M. Oquiana </a:t>
            </a:r>
            <a:r>
              <a:rPr lang="en-US" sz="930" b="0" u="none" strike="noStrike">
                <a:solidFill>
                  <a:srgbClr val="475569"/>
                </a:solidFill>
                <a:effectLst/>
                <a:uFillTx/>
                <a:latin typeface="Arial"/>
              </a:rPr>
              <a:t>is enrolled in 2024–2025, 1st Semester.</a:t>
            </a:r>
            <a:endParaRPr lang="en-PH" sz="930" b="0" u="none" strike="noStrike">
              <a:solidFill>
                <a:srgbClr val="000000"/>
              </a:solidFill>
              <a:effectLst/>
              <a:uFillTx/>
              <a:latin typeface="Arial"/>
            </a:endParaRPr>
          </a:p>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7 subjects, 20 credits, </a:t>
            </a:r>
            <a:r>
              <a:rPr lang="en-US" sz="930" b="0" u="none" strike="noStrike">
                <a:solidFill>
                  <a:srgbClr val="475569"/>
                </a:solidFill>
                <a:effectLst/>
                <a:uFillTx/>
                <a:latin typeface="Arial"/>
              </a:rPr>
              <a:t>with section, room, days, time and period.</a:t>
            </a:r>
            <a:endParaRPr lang="en-PH" sz="930" b="0" u="none" strike="noStrike">
              <a:solidFill>
                <a:srgbClr val="000000"/>
              </a:solidFill>
              <a:effectLst/>
              <a:uFillTx/>
              <a:latin typeface="Arial"/>
            </a:endParaRPr>
          </a:p>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Status and per-subject fees </a:t>
            </a:r>
            <a:r>
              <a:rPr lang="en-US" sz="930" b="0" u="none" strike="noStrike">
                <a:solidFill>
                  <a:srgbClr val="475569"/>
                </a:solidFill>
                <a:effectLst/>
                <a:uFillTx/>
                <a:latin typeface="Arial"/>
              </a:rPr>
              <a:t>are persisted, not computed in the widget.</a:t>
            </a:r>
            <a:endParaRPr lang="en-PH" sz="930" b="0" u="none" strike="noStrike">
              <a:solidFill>
                <a:srgbClr val="000000"/>
              </a:solidFill>
              <a:effectLst/>
              <a:uFillTx/>
              <a:latin typeface="Arial"/>
            </a:endParaRPr>
          </a:p>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New Enrollment and Add Subject </a:t>
            </a:r>
            <a:r>
              <a:rPr lang="en-US" sz="930" b="0" u="none" strike="noStrike">
                <a:solidFill>
                  <a:srgbClr val="475569"/>
                </a:solidFill>
                <a:effectLst/>
                <a:uFillTx/>
                <a:latin typeface="Arial"/>
              </a:rPr>
              <a:t>open modal dialogs backed by the same service.</a:t>
            </a:r>
            <a:endParaRPr lang="en-PH" sz="930" b="0" u="none" strike="noStrike">
              <a:solidFill>
                <a:srgbClr val="000000"/>
              </a:solidFill>
              <a:effectLst/>
              <a:uFillTx/>
              <a:latin typeface="Arial"/>
            </a:endParaRPr>
          </a:p>
        </p:txBody>
      </p:sp>
      <p:sp>
        <p:nvSpPr>
          <p:cNvPr id="488" name="TextBox 21"/>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The screenshot is populated by selecting the first row of the real student list; the earlier capture showed the unselected empty state.</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9"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490"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491"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WALKTHROUGH</a:t>
            </a:r>
            <a:endParaRPr lang="en-PH" sz="880" b="0" u="none" strike="noStrike">
              <a:solidFill>
                <a:srgbClr val="000000"/>
              </a:solidFill>
              <a:effectLst/>
              <a:uFillTx/>
              <a:latin typeface="Arial"/>
            </a:endParaRPr>
          </a:p>
        </p:txBody>
      </p:sp>
      <p:sp>
        <p:nvSpPr>
          <p:cNvPr id="492"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Assessment, fees and balances</a:t>
            </a:r>
            <a:endParaRPr lang="en-PH" sz="2450" b="0" u="none" strike="noStrike">
              <a:solidFill>
                <a:srgbClr val="000000"/>
              </a:solidFill>
              <a:effectLst/>
              <a:uFillTx/>
              <a:latin typeface="Arial"/>
            </a:endParaRPr>
          </a:p>
        </p:txBody>
      </p:sp>
      <p:sp>
        <p:nvSpPr>
          <p:cNvPr id="493"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Charges, discounts, payments and installment schedules are separate tables joined to one assessment per term.</a:t>
            </a:r>
            <a:endParaRPr lang="en-PH" sz="1080" b="0" u="none" strike="noStrike">
              <a:solidFill>
                <a:srgbClr val="000000"/>
              </a:solidFill>
              <a:effectLst/>
              <a:uFillTx/>
              <a:latin typeface="Arial"/>
            </a:endParaRPr>
          </a:p>
        </p:txBody>
      </p:sp>
      <p:sp>
        <p:nvSpPr>
          <p:cNvPr id="494"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495"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496"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22 / 35</a:t>
            </a:r>
            <a:endParaRPr lang="en-PH" sz="780" b="0" u="none" strike="noStrike">
              <a:solidFill>
                <a:srgbClr val="000000"/>
              </a:solidFill>
              <a:effectLst/>
              <a:uFillTx/>
              <a:latin typeface="Arial"/>
            </a:endParaRPr>
          </a:p>
        </p:txBody>
      </p:sp>
      <p:sp>
        <p:nvSpPr>
          <p:cNvPr id="497" name="Rectangle 9"/>
          <p:cNvSpPr/>
          <p:nvPr/>
        </p:nvSpPr>
        <p:spPr>
          <a:xfrm>
            <a:off x="567000" y="1426320"/>
            <a:ext cx="7634520" cy="45896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98" name="Picture 10" descr="11_assessment_fees.png"/>
          <p:cNvPicPr/>
          <p:nvPr/>
        </p:nvPicPr>
        <p:blipFill>
          <a:blip r:embed="rId1"/>
          <a:stretch/>
        </p:blipFill>
        <p:spPr>
          <a:xfrm>
            <a:off x="756360" y="1454040"/>
            <a:ext cx="7255800" cy="4534560"/>
          </a:xfrm>
          <a:prstGeom prst="rect">
            <a:avLst/>
          </a:prstGeom>
          <a:noFill/>
          <a:ln w="0">
            <a:noFill/>
          </a:ln>
        </p:spPr>
      </p:pic>
      <p:sp>
        <p:nvSpPr>
          <p:cNvPr id="499" name="Rounded Rectangle 11"/>
          <p:cNvSpPr/>
          <p:nvPr/>
        </p:nvSpPr>
        <p:spPr>
          <a:xfrm>
            <a:off x="8394120" y="1481400"/>
            <a:ext cx="3181320" cy="105984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0" name="Rectangle 12"/>
          <p:cNvSpPr/>
          <p:nvPr/>
        </p:nvSpPr>
        <p:spPr>
          <a:xfrm>
            <a:off x="8394120" y="1591200"/>
            <a:ext cx="54000" cy="84060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501" name="TextBox 13"/>
          <p:cNvSpPr/>
          <p:nvPr/>
        </p:nvSpPr>
        <p:spPr>
          <a:xfrm>
            <a:off x="8577000" y="1645920"/>
            <a:ext cx="286128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PHP 82,899.93</a:t>
            </a:r>
            <a:endParaRPr lang="en-PH" sz="2500" b="0" u="none" strike="noStrike">
              <a:solidFill>
                <a:srgbClr val="000000"/>
              </a:solidFill>
              <a:effectLst/>
              <a:uFillTx/>
              <a:latin typeface="Arial"/>
            </a:endParaRPr>
          </a:p>
        </p:txBody>
      </p:sp>
      <p:sp>
        <p:nvSpPr>
          <p:cNvPr id="502" name="TextBox 14"/>
          <p:cNvSpPr/>
          <p:nvPr/>
        </p:nvSpPr>
        <p:spPr>
          <a:xfrm>
            <a:off x="8577000" y="2121480"/>
            <a:ext cx="2861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ASSESSED ACROSS 3 STUDENTS</a:t>
            </a:r>
            <a:endParaRPr lang="en-PH" sz="839" b="0" u="none" strike="noStrike">
              <a:solidFill>
                <a:srgbClr val="000000"/>
              </a:solidFill>
              <a:effectLst/>
              <a:uFillTx/>
              <a:latin typeface="Arial"/>
            </a:endParaRPr>
          </a:p>
        </p:txBody>
      </p:sp>
      <p:sp>
        <p:nvSpPr>
          <p:cNvPr id="503" name="TextBox 15"/>
          <p:cNvSpPr/>
          <p:nvPr/>
        </p:nvSpPr>
        <p:spPr>
          <a:xfrm>
            <a:off x="8577000" y="2377440"/>
            <a:ext cx="2861280" cy="1274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33 assessment items</a:t>
            </a:r>
            <a:endParaRPr lang="en-PH" sz="860" b="0" u="none" strike="noStrike">
              <a:solidFill>
                <a:srgbClr val="000000"/>
              </a:solidFill>
              <a:effectLst/>
              <a:uFillTx/>
              <a:latin typeface="Arial"/>
            </a:endParaRPr>
          </a:p>
        </p:txBody>
      </p:sp>
      <p:sp>
        <p:nvSpPr>
          <p:cNvPr id="504" name="Rounded Rectangle 16"/>
          <p:cNvSpPr/>
          <p:nvPr/>
        </p:nvSpPr>
        <p:spPr>
          <a:xfrm>
            <a:off x="8394120" y="2688480"/>
            <a:ext cx="3181320" cy="1059840"/>
          </a:xfrm>
          <a:prstGeom prst="roundRect">
            <a:avLst>
              <a:gd name="adj" fmla="val 8000"/>
            </a:avLst>
          </a:prstGeom>
          <a:solidFill>
            <a:srgbClr val="FEE2E2"/>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5" name="Rectangle 17"/>
          <p:cNvSpPr/>
          <p:nvPr/>
        </p:nvSpPr>
        <p:spPr>
          <a:xfrm>
            <a:off x="8394120" y="2797920"/>
            <a:ext cx="54000" cy="840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506" name="TextBox 18"/>
          <p:cNvSpPr/>
          <p:nvPr/>
        </p:nvSpPr>
        <p:spPr>
          <a:xfrm>
            <a:off x="8577000" y="2853000"/>
            <a:ext cx="286128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PHP 0.00</a:t>
            </a:r>
            <a:endParaRPr lang="en-PH" sz="2500" b="0" u="none" strike="noStrike">
              <a:solidFill>
                <a:srgbClr val="000000"/>
              </a:solidFill>
              <a:effectLst/>
              <a:uFillTx/>
              <a:latin typeface="Arial"/>
            </a:endParaRPr>
          </a:p>
        </p:txBody>
      </p:sp>
      <p:sp>
        <p:nvSpPr>
          <p:cNvPr id="507" name="TextBox 19"/>
          <p:cNvSpPr/>
          <p:nvPr/>
        </p:nvSpPr>
        <p:spPr>
          <a:xfrm>
            <a:off x="8577000" y="3328560"/>
            <a:ext cx="2861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PAYMENTS RECORDED</a:t>
            </a:r>
            <a:endParaRPr lang="en-PH" sz="839" b="0" u="none" strike="noStrike">
              <a:solidFill>
                <a:srgbClr val="000000"/>
              </a:solidFill>
              <a:effectLst/>
              <a:uFillTx/>
              <a:latin typeface="Arial"/>
            </a:endParaRPr>
          </a:p>
        </p:txBody>
      </p:sp>
      <p:sp>
        <p:nvSpPr>
          <p:cNvPr id="508" name="TextBox 20"/>
          <p:cNvSpPr/>
          <p:nvPr/>
        </p:nvSpPr>
        <p:spPr>
          <a:xfrm>
            <a:off x="8577000" y="3584520"/>
            <a:ext cx="2861280" cy="1274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12 schedules, all pending</a:t>
            </a:r>
            <a:endParaRPr lang="en-PH" sz="860" b="0" u="none" strike="noStrike">
              <a:solidFill>
                <a:srgbClr val="000000"/>
              </a:solidFill>
              <a:effectLst/>
              <a:uFillTx/>
              <a:latin typeface="Arial"/>
            </a:endParaRPr>
          </a:p>
        </p:txBody>
      </p:sp>
      <p:sp>
        <p:nvSpPr>
          <p:cNvPr id="509" name="TextBox 21"/>
          <p:cNvSpPr/>
          <p:nvPr/>
        </p:nvSpPr>
        <p:spPr>
          <a:xfrm>
            <a:off x="8394120" y="3950280"/>
            <a:ext cx="3153960" cy="19195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99"/>
              </a:spcAft>
            </a:pPr>
            <a:r>
              <a:rPr lang="en-US" sz="920" b="1" u="none" strike="noStrike">
                <a:solidFill>
                  <a:srgbClr val="F97316"/>
                </a:solidFill>
                <a:effectLst/>
                <a:uFillTx/>
                <a:latin typeface="Arial"/>
              </a:rPr>
              <a:t>•  </a:t>
            </a:r>
            <a:r>
              <a:rPr lang="en-US" sz="920" b="0" u="none" strike="noStrike">
                <a:solidFill>
                  <a:srgbClr val="475569"/>
                </a:solidFill>
                <a:effectLst/>
                <a:uFillTx/>
                <a:latin typeface="Arial"/>
              </a:rPr>
              <a:t>Tuition, miscellaneous and lab fees are verified line items</a:t>
            </a:r>
            <a:endParaRPr lang="en-PH" sz="920" b="0" u="none" strike="noStrike">
              <a:solidFill>
                <a:srgbClr val="000000"/>
              </a:solidFill>
              <a:effectLst/>
              <a:uFillTx/>
              <a:latin typeface="Arial"/>
            </a:endParaRPr>
          </a:p>
          <a:p>
            <a:pPr defTabSz="457200">
              <a:lnSpc>
                <a:spcPct val="105000"/>
              </a:lnSpc>
              <a:spcAft>
                <a:spcPts val="499"/>
              </a:spcAft>
            </a:pPr>
            <a:r>
              <a:rPr lang="en-US" sz="920" b="1" u="none" strike="noStrike">
                <a:solidFill>
                  <a:srgbClr val="F97316"/>
                </a:solidFill>
                <a:effectLst/>
                <a:uFillTx/>
                <a:latin typeface="Arial"/>
              </a:rPr>
              <a:t>•  </a:t>
            </a:r>
            <a:r>
              <a:rPr lang="en-US" sz="920" b="0" u="none" strike="noStrike">
                <a:solidFill>
                  <a:srgbClr val="475569"/>
                </a:solidFill>
                <a:effectLst/>
                <a:uFillTx/>
                <a:latin typeface="Arial"/>
              </a:rPr>
              <a:t>Outstanding balance is persisted on assessments</a:t>
            </a:r>
            <a:endParaRPr lang="en-PH" sz="920" b="0" u="none" strike="noStrike">
              <a:solidFill>
                <a:srgbClr val="000000"/>
              </a:solidFill>
              <a:effectLst/>
              <a:uFillTx/>
              <a:latin typeface="Arial"/>
            </a:endParaRPr>
          </a:p>
          <a:p>
            <a:pPr defTabSz="457200">
              <a:lnSpc>
                <a:spcPct val="105000"/>
              </a:lnSpc>
              <a:spcAft>
                <a:spcPts val="499"/>
              </a:spcAft>
            </a:pPr>
            <a:r>
              <a:rPr lang="en-US" sz="920" b="1" u="none" strike="noStrike">
                <a:solidFill>
                  <a:srgbClr val="F97316"/>
                </a:solidFill>
                <a:effectLst/>
                <a:uFillTx/>
                <a:latin typeface="Arial"/>
              </a:rPr>
              <a:t>•  </a:t>
            </a:r>
            <a:r>
              <a:rPr lang="en-US" sz="920" b="0" u="none" strike="noStrike">
                <a:solidFill>
                  <a:srgbClr val="475569"/>
                </a:solidFill>
                <a:effectLst/>
                <a:uFillTx/>
                <a:latin typeface="Arial"/>
              </a:rPr>
              <a:t>Schedule table drives due dates and status</a:t>
            </a:r>
            <a:endParaRPr lang="en-PH" sz="920" b="0" u="none" strike="noStrike">
              <a:solidFill>
                <a:srgbClr val="000000"/>
              </a:solidFill>
              <a:effectLst/>
              <a:uFillTx/>
              <a:latin typeface="Arial"/>
            </a:endParaRPr>
          </a:p>
          <a:p>
            <a:pPr defTabSz="457200">
              <a:lnSpc>
                <a:spcPct val="105000"/>
              </a:lnSpc>
              <a:spcAft>
                <a:spcPts val="499"/>
              </a:spcAft>
            </a:pPr>
            <a:r>
              <a:rPr lang="en-US" sz="920" b="1" u="none" strike="noStrike">
                <a:solidFill>
                  <a:srgbClr val="F97316"/>
                </a:solidFill>
                <a:effectLst/>
                <a:uFillTx/>
                <a:latin typeface="Arial"/>
              </a:rPr>
              <a:t>•  </a:t>
            </a:r>
            <a:r>
              <a:rPr lang="en-US" sz="920" b="0" u="none" strike="noStrike">
                <a:solidFill>
                  <a:srgbClr val="475569"/>
                </a:solidFill>
                <a:effectLst/>
                <a:uFillTx/>
                <a:latin typeface="Arial"/>
              </a:rPr>
              <a:t>Payment dialog exists; demo data has no payments</a:t>
            </a:r>
            <a:endParaRPr lang="en-PH" sz="920" b="0" u="none" strike="noStrike">
              <a:solidFill>
                <a:srgbClr val="000000"/>
              </a:solidFill>
              <a:effectLst/>
              <a:uFillTx/>
              <a:latin typeface="Arial"/>
            </a:endParaRPr>
          </a:p>
        </p:txBody>
      </p:sp>
      <p:sp>
        <p:nvSpPr>
          <p:cNvPr id="510" name="TextBox 22"/>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The visible student is Steven Anthony M. Oquiana; his assessment totals PHP 27,633.31. Database totals cover all three students.</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1"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512"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513"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WALKTHROUGH</a:t>
            </a:r>
            <a:endParaRPr lang="en-PH" sz="880" b="0" u="none" strike="noStrike">
              <a:solidFill>
                <a:srgbClr val="000000"/>
              </a:solidFill>
              <a:effectLst/>
              <a:uFillTx/>
              <a:latin typeface="Arial"/>
            </a:endParaRPr>
          </a:p>
        </p:txBody>
      </p:sp>
      <p:sp>
        <p:nvSpPr>
          <p:cNvPr id="514"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Certificate of Matriculation</a:t>
            </a:r>
            <a:endParaRPr lang="en-PH" sz="2450" b="0" u="none" strike="noStrike">
              <a:solidFill>
                <a:srgbClr val="000000"/>
              </a:solidFill>
              <a:effectLst/>
              <a:uFillTx/>
              <a:latin typeface="Arial"/>
            </a:endParaRPr>
          </a:p>
        </p:txBody>
      </p:sp>
      <p:sp>
        <p:nvSpPr>
          <p:cNvPr id="515"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certificate is rendered from the same enrollment and subject rows the page displays, then saved as A4 PDF or printed.</a:t>
            </a:r>
            <a:endParaRPr lang="en-PH" sz="1080" b="0" u="none" strike="noStrike">
              <a:solidFill>
                <a:srgbClr val="000000"/>
              </a:solidFill>
              <a:effectLst/>
              <a:uFillTx/>
              <a:latin typeface="Arial"/>
            </a:endParaRPr>
          </a:p>
        </p:txBody>
      </p:sp>
      <p:sp>
        <p:nvSpPr>
          <p:cNvPr id="516"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517"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518"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23 / 35</a:t>
            </a:r>
            <a:endParaRPr lang="en-PH" sz="780" b="0" u="none" strike="noStrike">
              <a:solidFill>
                <a:srgbClr val="000000"/>
              </a:solidFill>
              <a:effectLst/>
              <a:uFillTx/>
              <a:latin typeface="Arial"/>
            </a:endParaRPr>
          </a:p>
        </p:txBody>
      </p:sp>
      <p:sp>
        <p:nvSpPr>
          <p:cNvPr id="519" name="Rectangle 9"/>
          <p:cNvSpPr/>
          <p:nvPr/>
        </p:nvSpPr>
        <p:spPr>
          <a:xfrm>
            <a:off x="567000" y="1426320"/>
            <a:ext cx="7497360" cy="46170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520" name="Picture 10" descr="15_certificate_com.png"/>
          <p:cNvPicPr/>
          <p:nvPr/>
        </p:nvPicPr>
        <p:blipFill>
          <a:blip r:embed="rId1"/>
          <a:stretch/>
        </p:blipFill>
        <p:spPr>
          <a:xfrm>
            <a:off x="665640" y="1454040"/>
            <a:ext cx="7299720" cy="4562280"/>
          </a:xfrm>
          <a:prstGeom prst="rect">
            <a:avLst/>
          </a:prstGeom>
          <a:noFill/>
          <a:ln w="0">
            <a:noFill/>
          </a:ln>
        </p:spPr>
      </p:pic>
      <p:sp>
        <p:nvSpPr>
          <p:cNvPr id="521" name="TextBox 11"/>
          <p:cNvSpPr/>
          <p:nvPr/>
        </p:nvSpPr>
        <p:spPr>
          <a:xfrm>
            <a:off x="8247960" y="148140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DOCUMENT FACTS</a:t>
            </a:r>
            <a:endParaRPr lang="en-PH" sz="820" b="0" u="none" strike="noStrike">
              <a:solidFill>
                <a:srgbClr val="000000"/>
              </a:solidFill>
              <a:effectLst/>
              <a:uFillTx/>
              <a:latin typeface="Arial"/>
            </a:endParaRPr>
          </a:p>
        </p:txBody>
      </p:sp>
      <p:sp>
        <p:nvSpPr>
          <p:cNvPr id="522" name="TextBox 12"/>
          <p:cNvSpPr/>
          <p:nvPr/>
        </p:nvSpPr>
        <p:spPr>
          <a:xfrm>
            <a:off x="8247960" y="1737360"/>
            <a:ext cx="3336840" cy="32911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Live student: </a:t>
            </a:r>
            <a:r>
              <a:rPr lang="en-US" sz="930" b="0" u="none" strike="noStrike">
                <a:solidFill>
                  <a:srgbClr val="475569"/>
                </a:solidFill>
                <a:effectLst/>
                <a:uFillTx/>
                <a:latin typeface="Arial"/>
              </a:rPr>
              <a:t>Steven Anthony M. Oquiana, reference 65736.</a:t>
            </a:r>
            <a:endParaRPr lang="en-PH" sz="930" b="0" u="none" strike="noStrike">
              <a:solidFill>
                <a:srgbClr val="000000"/>
              </a:solidFill>
              <a:effectLst/>
              <a:uFillTx/>
              <a:latin typeface="Arial"/>
            </a:endParaRPr>
          </a:p>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7 subjects, 20 credits, </a:t>
            </a:r>
            <a:r>
              <a:rPr lang="en-US" sz="930" b="0" u="none" strike="noStrike">
                <a:solidFill>
                  <a:srgbClr val="475569"/>
                </a:solidFill>
                <a:effectLst/>
                <a:uFillTx/>
                <a:latin typeface="Arial"/>
              </a:rPr>
              <a:t>with code, schedule, room, periods and fees.</a:t>
            </a:r>
            <a:endParaRPr lang="en-PH" sz="930" b="0" u="none" strike="noStrike">
              <a:solidFill>
                <a:srgbClr val="000000"/>
              </a:solidFill>
              <a:effectLst/>
              <a:uFillTx/>
              <a:latin typeface="Arial"/>
            </a:endParaRPr>
          </a:p>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Actions: </a:t>
            </a:r>
            <a:r>
              <a:rPr lang="en-US" sz="930" b="0" u="none" strike="noStrike">
                <a:solidFill>
                  <a:srgbClr val="475569"/>
                </a:solidFill>
                <a:effectLst/>
                <a:uFillTx/>
                <a:latin typeface="Arial"/>
              </a:rPr>
              <a:t>Save PDF, Print COM, and a student-profile jump.</a:t>
            </a:r>
            <a:endParaRPr lang="en-PH" sz="930" b="0" u="none" strike="noStrike">
              <a:solidFill>
                <a:srgbClr val="000000"/>
              </a:solidFill>
              <a:effectLst/>
              <a:uFillTx/>
              <a:latin typeface="Arial"/>
            </a:endParaRPr>
          </a:p>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Artifact: </a:t>
            </a:r>
            <a:r>
              <a:rPr lang="en-US" sz="930" b="0" u="none" strike="noStrike">
                <a:solidFill>
                  <a:srgbClr val="475569"/>
                </a:solidFill>
                <a:effectLst/>
                <a:uFillTx/>
                <a:latin typeface="Arial"/>
              </a:rPr>
              <a:t>reports/certificate_65412_20261017_112221.pdf was produced by the same service.</a:t>
            </a:r>
            <a:endParaRPr lang="en-PH" sz="930" b="0" u="none" strike="noStrike">
              <a:solidFill>
                <a:srgbClr val="000000"/>
              </a:solidFill>
              <a:effectLst/>
              <a:uFillTx/>
              <a:latin typeface="Arial"/>
            </a:endParaRPr>
          </a:p>
          <a:p>
            <a:pPr defTabSz="457200">
              <a:lnSpc>
                <a:spcPct val="105000"/>
              </a:lnSpc>
              <a:spcAft>
                <a:spcPts val="601"/>
              </a:spcAft>
            </a:pPr>
            <a:r>
              <a:rPr lang="en-US" sz="930" b="1" u="none" strike="noStrike">
                <a:solidFill>
                  <a:srgbClr val="F97316"/>
                </a:solidFill>
                <a:effectLst/>
                <a:uFillTx/>
                <a:latin typeface="Arial"/>
              </a:rPr>
              <a:t>•  </a:t>
            </a:r>
            <a:r>
              <a:rPr lang="en-US" sz="930" b="0" u="none" strike="noStrike">
                <a:solidFill>
                  <a:srgbClr val="0F172A"/>
                </a:solidFill>
                <a:effectLst/>
                <a:uFillTx/>
                <a:latin typeface="Arial"/>
              </a:rPr>
              <a:t>Threading: </a:t>
            </a:r>
            <a:r>
              <a:rPr lang="en-US" sz="930" b="0" u="none" strike="noStrike">
                <a:solidFill>
                  <a:srgbClr val="475569"/>
                </a:solidFill>
                <a:effectLst/>
                <a:uFillTx/>
                <a:latin typeface="Arial"/>
              </a:rPr>
              <a:t>report builds run off the GUI thread and surface write failures.</a:t>
            </a:r>
            <a:endParaRPr lang="en-PH" sz="930" b="0" u="none" strike="noStrike">
              <a:solidFill>
                <a:srgbClr val="000000"/>
              </a:solidFill>
              <a:effectLst/>
              <a:uFillTx/>
              <a:latin typeface="Arial"/>
            </a:endParaRPr>
          </a:p>
        </p:txBody>
      </p:sp>
      <p:sp>
        <p:nvSpPr>
          <p:cNvPr id="523" name="Rounded Rectangle 13"/>
          <p:cNvSpPr/>
          <p:nvPr/>
        </p:nvSpPr>
        <p:spPr>
          <a:xfrm>
            <a:off x="8247960" y="5139000"/>
            <a:ext cx="3336840" cy="1005120"/>
          </a:xfrm>
          <a:prstGeom prst="roundRect">
            <a:avLst>
              <a:gd name="adj" fmla="val 8000"/>
            </a:avLst>
          </a:prstGeom>
          <a:solidFill>
            <a:srgbClr val="DCFCE7"/>
          </a:solidFill>
          <a:ln w="10160">
            <a:solidFill>
              <a:srgbClr val="BBF7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4" name="TextBox 14"/>
          <p:cNvSpPr/>
          <p:nvPr/>
        </p:nvSpPr>
        <p:spPr>
          <a:xfrm>
            <a:off x="8394120" y="5248800"/>
            <a:ext cx="3062520" cy="803880"/>
          </a:xfrm>
          <a:prstGeom prst="rect">
            <a:avLst/>
          </a:prstGeom>
          <a:noFill/>
          <a:ln w="0">
            <a:noFill/>
          </a:ln>
        </p:spPr>
        <p:style>
          <a:lnRef idx="0"/>
          <a:fillRef idx="0"/>
          <a:effectRef idx="0"/>
          <a:fontRef idx="minor"/>
        </p:style>
        <p:txBody>
          <a:bodyPr lIns="0" tIns="0" rIns="0" bIns="0" anchor="t">
            <a:spAutoFit/>
          </a:bodyPr>
          <a:p>
            <a:pPr defTabSz="457200">
              <a:lnSpc>
                <a:spcPct val="106000"/>
              </a:lnSpc>
            </a:pPr>
            <a:r>
              <a:rPr lang="en-US" sz="860" b="0" u="none" strike="noStrike">
                <a:solidFill>
                  <a:srgbClr val="166534"/>
                </a:solidFill>
                <a:effectLst/>
                <a:uFillTx/>
                <a:latin typeface="Arial"/>
              </a:rPr>
              <a:t>The certificate is not a separate data entry form. It reads enrollment and assessment records by student ID.</a:t>
            </a:r>
            <a:endParaRPr lang="en-PH" sz="860" b="0" u="none" strike="noStrike">
              <a:solidFill>
                <a:srgbClr val="000000"/>
              </a:solidFill>
              <a:effectLst/>
              <a:uFillTx/>
              <a:latin typeface="Arial"/>
            </a:endParaRPr>
          </a:p>
        </p:txBody>
      </p:sp>
      <p:sp>
        <p:nvSpPr>
          <p:cNvPr id="525" name="TextBox 15"/>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Screenshot shows the live preview, not a PDF opened in a viewer.</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6"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527"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528"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03 · WALKTHROUGH</a:t>
            </a:r>
            <a:endParaRPr lang="en-PH" sz="880" b="0" u="none" strike="noStrike">
              <a:solidFill>
                <a:srgbClr val="000000"/>
              </a:solidFill>
              <a:effectLst/>
              <a:uFillTx/>
              <a:latin typeface="Arial"/>
            </a:endParaRPr>
          </a:p>
        </p:txBody>
      </p:sp>
      <p:sp>
        <p:nvSpPr>
          <p:cNvPr id="529"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Reports and analytics</a:t>
            </a:r>
            <a:endParaRPr lang="en-PH" sz="2450" b="0" u="none" strike="noStrike">
              <a:solidFill>
                <a:srgbClr val="000000"/>
              </a:solidFill>
              <a:effectLst/>
              <a:uFillTx/>
              <a:latin typeface="Arial"/>
            </a:endParaRPr>
          </a:p>
        </p:txBody>
      </p:sp>
      <p:sp>
        <p:nvSpPr>
          <p:cNvPr id="530"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Five report cards, each backed by a generator that writes a file and reports failure instead of silently doing nothing.</a:t>
            </a:r>
            <a:endParaRPr lang="en-PH" sz="1080" b="0" u="none" strike="noStrike">
              <a:solidFill>
                <a:srgbClr val="000000"/>
              </a:solidFill>
              <a:effectLst/>
              <a:uFillTx/>
              <a:latin typeface="Arial"/>
            </a:endParaRPr>
          </a:p>
        </p:txBody>
      </p:sp>
      <p:sp>
        <p:nvSpPr>
          <p:cNvPr id="531"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532"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533"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25 / 35</a:t>
            </a:r>
            <a:endParaRPr lang="en-PH" sz="780" b="0" u="none" strike="noStrike">
              <a:solidFill>
                <a:srgbClr val="000000"/>
              </a:solidFill>
              <a:effectLst/>
              <a:uFillTx/>
              <a:latin typeface="Arial"/>
            </a:endParaRPr>
          </a:p>
        </p:txBody>
      </p:sp>
      <p:sp>
        <p:nvSpPr>
          <p:cNvPr id="534" name="Rectangle 9"/>
          <p:cNvSpPr/>
          <p:nvPr/>
        </p:nvSpPr>
        <p:spPr>
          <a:xfrm>
            <a:off x="567000" y="1426320"/>
            <a:ext cx="7497360" cy="46170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535" name="Picture 10" descr="12_reports.png"/>
          <p:cNvPicPr/>
          <p:nvPr/>
        </p:nvPicPr>
        <p:blipFill>
          <a:blip r:embed="rId1"/>
          <a:stretch/>
        </p:blipFill>
        <p:spPr>
          <a:xfrm>
            <a:off x="665640" y="1454040"/>
            <a:ext cx="7299720" cy="4562280"/>
          </a:xfrm>
          <a:prstGeom prst="rect">
            <a:avLst/>
          </a:prstGeom>
          <a:noFill/>
          <a:ln w="0">
            <a:noFill/>
          </a:ln>
        </p:spPr>
      </p:pic>
      <p:sp>
        <p:nvSpPr>
          <p:cNvPr id="536" name="TextBox 11"/>
          <p:cNvSpPr/>
          <p:nvPr/>
        </p:nvSpPr>
        <p:spPr>
          <a:xfrm>
            <a:off x="8247960" y="148140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CATALOGUE</a:t>
            </a:r>
            <a:endParaRPr lang="en-PH" sz="820" b="0" u="none" strike="noStrike">
              <a:solidFill>
                <a:srgbClr val="000000"/>
              </a:solidFill>
              <a:effectLst/>
              <a:uFillTx/>
              <a:latin typeface="Arial"/>
            </a:endParaRPr>
          </a:p>
        </p:txBody>
      </p:sp>
      <p:sp>
        <p:nvSpPr>
          <p:cNvPr id="537" name="TextBox 12"/>
          <p:cNvSpPr/>
          <p:nvPr/>
        </p:nvSpPr>
        <p:spPr>
          <a:xfrm>
            <a:off x="8247960" y="1737360"/>
            <a:ext cx="3291120" cy="324540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Certificate of Matriculation </a:t>
            </a:r>
            <a:r>
              <a:rPr lang="en-US" sz="939" b="0" u="none" strike="noStrike">
                <a:solidFill>
                  <a:srgbClr val="475569"/>
                </a:solidFill>
                <a:effectLst/>
                <a:uFillTx/>
                <a:latin typeface="Arial"/>
              </a:rPr>
              <a:t>→ A4 PDF / print.</a:t>
            </a:r>
            <a:endParaRPr lang="en-PH" sz="939" b="0" u="none" strike="noStrike">
              <a:solidFill>
                <a:srgbClr val="000000"/>
              </a:solidFill>
              <a:effectLst/>
              <a:uFillTx/>
              <a:latin typeface="Arial"/>
            </a:endParaRPr>
          </a:p>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Enrollment Summary </a:t>
            </a:r>
            <a:r>
              <a:rPr lang="en-US" sz="939" b="0" u="none" strike="noStrike">
                <a:solidFill>
                  <a:srgbClr val="475569"/>
                </a:solidFill>
                <a:effectLst/>
                <a:uFillTx/>
                <a:latin typeface="Arial"/>
              </a:rPr>
              <a:t>→ students for a chosen term.</a:t>
            </a:r>
            <a:endParaRPr lang="en-PH" sz="939" b="0" u="none" strike="noStrike">
              <a:solidFill>
                <a:srgbClr val="000000"/>
              </a:solidFill>
              <a:effectLst/>
              <a:uFillTx/>
              <a:latin typeface="Arial"/>
            </a:endParaRPr>
          </a:p>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Student Barcode Report </a:t>
            </a:r>
            <a:r>
              <a:rPr lang="en-US" sz="939" b="0" u="none" strike="noStrike">
                <a:solidFill>
                  <a:srgbClr val="475569"/>
                </a:solidFill>
                <a:effectLst/>
                <a:uFillTx/>
                <a:latin typeface="Arial"/>
              </a:rPr>
              <a:t>→ identity, payload, symbol.</a:t>
            </a:r>
            <a:endParaRPr lang="en-PH" sz="939" b="0" u="none" strike="noStrike">
              <a:solidFill>
                <a:srgbClr val="000000"/>
              </a:solidFill>
              <a:effectLst/>
              <a:uFillTx/>
              <a:latin typeface="Arial"/>
            </a:endParaRPr>
          </a:p>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Assessment Report </a:t>
            </a:r>
            <a:r>
              <a:rPr lang="en-US" sz="939" b="0" u="none" strike="noStrike">
                <a:solidFill>
                  <a:srgbClr val="475569"/>
                </a:solidFill>
                <a:effectLst/>
                <a:uFillTx/>
                <a:latin typeface="Arial"/>
              </a:rPr>
              <a:t>→ charges, schedule, payments.</a:t>
            </a:r>
            <a:endParaRPr lang="en-PH" sz="939" b="0" u="none" strike="noStrike">
              <a:solidFill>
                <a:srgbClr val="000000"/>
              </a:solidFill>
              <a:effectLst/>
              <a:uFillTx/>
              <a:latin typeface="Arial"/>
            </a:endParaRPr>
          </a:p>
          <a:p>
            <a:pPr defTabSz="457200">
              <a:lnSpc>
                <a:spcPct val="105000"/>
              </a:lnSpc>
              <a:spcAft>
                <a:spcPts val="700"/>
              </a:spcAft>
            </a:pPr>
            <a:r>
              <a:rPr lang="en-US" sz="939" b="1" u="none" strike="noStrike">
                <a:solidFill>
                  <a:srgbClr val="F97316"/>
                </a:solidFill>
                <a:effectLst/>
                <a:uFillTx/>
                <a:latin typeface="Arial"/>
              </a:rPr>
              <a:t>•  </a:t>
            </a:r>
            <a:r>
              <a:rPr lang="en-US" sz="939" b="0" u="none" strike="noStrike">
                <a:solidFill>
                  <a:srgbClr val="0F172A"/>
                </a:solidFill>
                <a:effectLst/>
                <a:uFillTx/>
                <a:latin typeface="Arial"/>
              </a:rPr>
              <a:t>Barcode Scan Log </a:t>
            </a:r>
            <a:r>
              <a:rPr lang="en-US" sz="939" b="0" u="none" strike="noStrike">
                <a:solidFill>
                  <a:srgbClr val="475569"/>
                </a:solidFill>
                <a:effectLst/>
                <a:uFillTx/>
                <a:latin typeface="Arial"/>
              </a:rPr>
              <a:t>→ CSV of history with resolved student.</a:t>
            </a:r>
            <a:endParaRPr lang="en-PH" sz="939" b="0" u="none" strike="noStrike">
              <a:solidFill>
                <a:srgbClr val="000000"/>
              </a:solidFill>
              <a:effectLst/>
              <a:uFillTx/>
              <a:latin typeface="Arial"/>
            </a:endParaRPr>
          </a:p>
        </p:txBody>
      </p:sp>
      <p:sp>
        <p:nvSpPr>
          <p:cNvPr id="538" name="Rounded Rectangle 13"/>
          <p:cNvSpPr/>
          <p:nvPr/>
        </p:nvSpPr>
        <p:spPr>
          <a:xfrm>
            <a:off x="8247960" y="5047560"/>
            <a:ext cx="3309480" cy="105984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9" name="TextBox 14"/>
          <p:cNvSpPr/>
          <p:nvPr/>
        </p:nvSpPr>
        <p:spPr>
          <a:xfrm>
            <a:off x="8394120" y="5148000"/>
            <a:ext cx="3016800" cy="858960"/>
          </a:xfrm>
          <a:prstGeom prst="rect">
            <a:avLst/>
          </a:prstGeom>
          <a:noFill/>
          <a:ln w="0">
            <a:noFill/>
          </a:ln>
        </p:spPr>
        <p:style>
          <a:lnRef idx="0"/>
          <a:fillRef idx="0"/>
          <a:effectRef idx="0"/>
          <a:fontRef idx="minor"/>
        </p:style>
        <p:txBody>
          <a:bodyPr lIns="0" tIns="0" rIns="0" bIns="0" anchor="t">
            <a:spAutoFit/>
          </a:bodyPr>
          <a:p>
            <a:pPr defTabSz="457200">
              <a:lnSpc>
                <a:spcPct val="106000"/>
              </a:lnSpc>
            </a:pPr>
            <a:r>
              <a:rPr lang="en-US" sz="860" b="0" u="none" strike="noStrike">
                <a:solidFill>
                  <a:srgbClr val="475569"/>
                </a:solidFill>
                <a:effectLst/>
                <a:uFillTx/>
                <a:latin typeface="Arial"/>
              </a:rPr>
              <a:t>Generation runs in a worker thread. A missing file or a write failure is shown as an error, not a success toast.</a:t>
            </a:r>
            <a:endParaRPr lang="en-PH" sz="860" b="0" u="none" strike="noStrike">
              <a:solidFill>
                <a:srgbClr val="000000"/>
              </a:solidFill>
              <a:effectLst/>
              <a:uFillTx/>
              <a:latin typeface="Arial"/>
            </a:endParaRPr>
          </a:p>
        </p:txBody>
      </p:sp>
      <p:sp>
        <p:nvSpPr>
          <p:cNvPr id="540" name="TextBox 15"/>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Screenshots of the report cards; generated PDFs and CSV are in reports/ and were produced by ReportService.</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1"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542"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543"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04 · DATA</a:t>
            </a:r>
            <a:endParaRPr lang="en-PH" sz="880" b="0" u="none" strike="noStrike">
              <a:solidFill>
                <a:srgbClr val="000000"/>
              </a:solidFill>
              <a:effectLst/>
              <a:uFillTx/>
              <a:latin typeface="Arial"/>
            </a:endParaRPr>
          </a:p>
        </p:txBody>
      </p:sp>
      <p:sp>
        <p:nvSpPr>
          <p:cNvPr id="544"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The live database at a glance</a:t>
            </a:r>
            <a:endParaRPr lang="en-PH" sz="2450" b="0" u="none" strike="noStrike">
              <a:solidFill>
                <a:srgbClr val="000000"/>
              </a:solidFill>
              <a:effectLst/>
              <a:uFillTx/>
              <a:latin typeface="Arial"/>
            </a:endParaRPr>
          </a:p>
        </p:txBody>
      </p:sp>
      <p:sp>
        <p:nvSpPr>
          <p:cNvPr id="545"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MySQL 8.4.11, InnoDB, utf8mb4_unicode_ci. Nineteen tables, 230 columns and 33 foreign keys.</a:t>
            </a:r>
            <a:endParaRPr lang="en-PH" sz="1080" b="0" u="none" strike="noStrike">
              <a:solidFill>
                <a:srgbClr val="000000"/>
              </a:solidFill>
              <a:effectLst/>
              <a:uFillTx/>
              <a:latin typeface="Arial"/>
            </a:endParaRPr>
          </a:p>
        </p:txBody>
      </p:sp>
      <p:sp>
        <p:nvSpPr>
          <p:cNvPr id="546"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547"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548"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26 / 35</a:t>
            </a:r>
            <a:endParaRPr lang="en-PH" sz="780" b="0" u="none" strike="noStrike">
              <a:solidFill>
                <a:srgbClr val="000000"/>
              </a:solidFill>
              <a:effectLst/>
              <a:uFillTx/>
              <a:latin typeface="Arial"/>
            </a:endParaRPr>
          </a:p>
        </p:txBody>
      </p:sp>
      <p:sp>
        <p:nvSpPr>
          <p:cNvPr id="549" name="Rectangle 9"/>
          <p:cNvSpPr/>
          <p:nvPr/>
        </p:nvSpPr>
        <p:spPr>
          <a:xfrm>
            <a:off x="567000" y="1426320"/>
            <a:ext cx="6765840" cy="453456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550" name="Picture 10" descr="chart_db_inventory.png"/>
          <p:cNvPicPr/>
          <p:nvPr/>
        </p:nvPicPr>
        <p:blipFill>
          <a:blip r:embed="rId1"/>
          <a:stretch/>
        </p:blipFill>
        <p:spPr>
          <a:xfrm>
            <a:off x="621720" y="2088720"/>
            <a:ext cx="6656040" cy="3210120"/>
          </a:xfrm>
          <a:prstGeom prst="rect">
            <a:avLst/>
          </a:prstGeom>
          <a:noFill/>
          <a:ln w="0">
            <a:noFill/>
          </a:ln>
        </p:spPr>
      </p:pic>
      <p:graphicFrame>
        <p:nvGraphicFramePr>
          <p:cNvPr id="551" name="Table 11"/>
          <p:cNvGraphicFramePr/>
          <p:nvPr/>
        </p:nvGraphicFramePr>
        <p:xfrm>
          <a:off x="7571160" y="1481400"/>
          <a:ext cx="4023000" cy="3657600"/>
        </p:xfrm>
        <a:graphic>
          <a:graphicData uri="http://schemas.openxmlformats.org/drawingml/2006/table">
            <a:tbl>
              <a:tblPr/>
              <a:tblGrid>
                <a:gridCol w="2286000"/>
                <a:gridCol w="1737360"/>
              </a:tblGrid>
              <a:tr h="365760">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Measure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algn="r" defTabSz="457200">
                        <a:lnSpc>
                          <a:spcPct val="100000"/>
                        </a:lnSpc>
                      </a:pPr>
                      <a:r>
                        <a:rPr lang="en-US" sz="860" b="1" u="none" strike="noStrike">
                          <a:solidFill>
                            <a:srgbClr val="FFFFFF"/>
                          </a:solidFill>
                          <a:effectLst/>
                          <a:uFillTx/>
                          <a:latin typeface="Arial"/>
                        </a:rPr>
                        <a:t>Value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Tables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19</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Columns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230</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Foreign keys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33</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Rows (all 19 tables)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188</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Students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3</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Enrollments / subject lines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3 / 21</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Assessments / items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3 / 33</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Scan records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65</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6576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Users / ID cards / models</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0 / 0 / 0</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552" name="Rounded Rectangle 12"/>
          <p:cNvSpPr/>
          <p:nvPr/>
        </p:nvSpPr>
        <p:spPr>
          <a:xfrm>
            <a:off x="7571160" y="5285160"/>
            <a:ext cx="4022640" cy="840600"/>
          </a:xfrm>
          <a:prstGeom prst="roundRect">
            <a:avLst>
              <a:gd name="adj" fmla="val 8000"/>
            </a:avLst>
          </a:prstGeom>
          <a:solidFill>
            <a:srgbClr val="FEE2E2"/>
          </a:solidFill>
          <a:ln w="10160">
            <a:solidFill>
              <a:srgbClr val="FECAC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3" name="TextBox 13"/>
          <p:cNvSpPr/>
          <p:nvPr/>
        </p:nvSpPr>
        <p:spPr>
          <a:xfrm>
            <a:off x="7717680" y="5376600"/>
            <a:ext cx="3729960" cy="6577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850" b="0" u="none" strike="noStrike">
                <a:solidFill>
                  <a:srgbClr val="991B1B"/>
                </a:solidFill>
                <a:effectLst/>
                <a:uFillTx/>
                <a:latin typeface="Arial"/>
              </a:rPr>
              <a:t>Empty tables are real: no login users, no saved ID cards, no model registry rows, no dataset rows.</a:t>
            </a:r>
            <a:endParaRPr lang="en-PH" sz="850" b="0" u="none" strike="noStrike">
              <a:solidFill>
                <a:srgbClr val="000000"/>
              </a:solidFill>
              <a:effectLst/>
              <a:uFillTx/>
              <a:latin typeface="Arial"/>
            </a:endParaRPr>
          </a:p>
        </p:txBody>
      </p:sp>
      <p:sp>
        <p:nvSpPr>
          <p:cNvPr id="554" name="TextBox 14"/>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Row counts are live after removing the screenshot-inserted scan. Chart label is generated from the same query; the 188-row total includes reference data (assessment categories, courses, subjects, settings).</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5"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556"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557"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04 · DATA MODEL</a:t>
            </a:r>
            <a:endParaRPr lang="en-PH" sz="880" b="0" u="none" strike="noStrike">
              <a:solidFill>
                <a:srgbClr val="000000"/>
              </a:solidFill>
              <a:effectLst/>
              <a:uFillTx/>
              <a:latin typeface="Arial"/>
            </a:endParaRPr>
          </a:p>
        </p:txBody>
      </p:sp>
      <p:sp>
        <p:nvSpPr>
          <p:cNvPr id="558"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Entity-relationship diagram</a:t>
            </a:r>
            <a:endParaRPr lang="en-PH" sz="2450" b="0" u="none" strike="noStrike">
              <a:solidFill>
                <a:srgbClr val="000000"/>
              </a:solidFill>
              <a:effectLst/>
              <a:uFillTx/>
              <a:latin typeface="Arial"/>
            </a:endParaRPr>
          </a:p>
        </p:txBody>
      </p:sp>
      <p:sp>
        <p:nvSpPr>
          <p:cNvPr id="559"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Key fields shown for all 19 tables. PK/FK roles and the 1..N relationships are marked; 18 paths are drawn for legibility.</a:t>
            </a:r>
            <a:endParaRPr lang="en-PH" sz="1080" b="0" u="none" strike="noStrike">
              <a:solidFill>
                <a:srgbClr val="000000"/>
              </a:solidFill>
              <a:effectLst/>
              <a:uFillTx/>
              <a:latin typeface="Arial"/>
            </a:endParaRPr>
          </a:p>
        </p:txBody>
      </p:sp>
      <p:sp>
        <p:nvSpPr>
          <p:cNvPr id="560"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561"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562"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27 / 35</a:t>
            </a:r>
            <a:endParaRPr lang="en-PH" sz="780" b="0" u="none" strike="noStrike">
              <a:solidFill>
                <a:srgbClr val="000000"/>
              </a:solidFill>
              <a:effectLst/>
              <a:uFillTx/>
              <a:latin typeface="Arial"/>
            </a:endParaRPr>
          </a:p>
        </p:txBody>
      </p:sp>
      <p:sp>
        <p:nvSpPr>
          <p:cNvPr id="563" name="Rectangle 9"/>
          <p:cNvSpPr/>
          <p:nvPr/>
        </p:nvSpPr>
        <p:spPr>
          <a:xfrm>
            <a:off x="567000" y="1334880"/>
            <a:ext cx="11045160" cy="48456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564" name="Picture 10" descr="WIT_Database_ERD.png"/>
          <p:cNvPicPr/>
          <p:nvPr/>
        </p:nvPicPr>
        <p:blipFill>
          <a:blip r:embed="rId1"/>
          <a:stretch/>
        </p:blipFill>
        <p:spPr>
          <a:xfrm>
            <a:off x="1814400" y="1353240"/>
            <a:ext cx="8550000" cy="4808880"/>
          </a:xfrm>
          <a:prstGeom prst="rect">
            <a:avLst/>
          </a:prstGeom>
          <a:noFill/>
          <a:ln w="0">
            <a:noFill/>
          </a:ln>
        </p:spPr>
      </p:pic>
      <p:sp>
        <p:nvSpPr>
          <p:cNvPr id="565" name="TextBox 11"/>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Verified with SHOW CREATE TABLE against the live schema. Every table uses InnoDB and utf8mb4_unicode_ci; barcode_scans is append-only and its student/barcode FKs are nullable so a deleted student does not erase history.</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6"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567"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568"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04 · DATA FLOW</a:t>
            </a:r>
            <a:endParaRPr lang="en-PH" sz="880" b="0" u="none" strike="noStrike">
              <a:solidFill>
                <a:srgbClr val="000000"/>
              </a:solidFill>
              <a:effectLst/>
              <a:uFillTx/>
              <a:latin typeface="Arial"/>
            </a:endParaRPr>
          </a:p>
        </p:txBody>
      </p:sp>
      <p:sp>
        <p:nvSpPr>
          <p:cNvPr id="569"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Level 1 data flow diagram</a:t>
            </a:r>
            <a:endParaRPr lang="en-PH" sz="2450" b="0" u="none" strike="noStrike">
              <a:solidFill>
                <a:srgbClr val="000000"/>
              </a:solidFill>
              <a:effectLst/>
              <a:uFillTx/>
              <a:latin typeface="Arial"/>
            </a:endParaRPr>
          </a:p>
        </p:txBody>
      </p:sp>
      <p:sp>
        <p:nvSpPr>
          <p:cNvPr id="570"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Four processes, four data stores and the external inputs/outputs that feed them.</a:t>
            </a:r>
            <a:endParaRPr lang="en-PH" sz="1080" b="0" u="none" strike="noStrike">
              <a:solidFill>
                <a:srgbClr val="000000"/>
              </a:solidFill>
              <a:effectLst/>
              <a:uFillTx/>
              <a:latin typeface="Arial"/>
            </a:endParaRPr>
          </a:p>
        </p:txBody>
      </p:sp>
      <p:sp>
        <p:nvSpPr>
          <p:cNvPr id="571"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572"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573"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28 / 35</a:t>
            </a:r>
            <a:endParaRPr lang="en-PH" sz="780" b="0" u="none" strike="noStrike">
              <a:solidFill>
                <a:srgbClr val="000000"/>
              </a:solidFill>
              <a:effectLst/>
              <a:uFillTx/>
              <a:latin typeface="Arial"/>
            </a:endParaRPr>
          </a:p>
        </p:txBody>
      </p:sp>
      <p:sp>
        <p:nvSpPr>
          <p:cNvPr id="574" name="Rectangle 9"/>
          <p:cNvSpPr/>
          <p:nvPr/>
        </p:nvSpPr>
        <p:spPr>
          <a:xfrm>
            <a:off x="567000" y="1334880"/>
            <a:ext cx="11045160" cy="48456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575" name="Picture 10" descr="WIT_Data_Flow_Diagram.png"/>
          <p:cNvPicPr/>
          <p:nvPr/>
        </p:nvPicPr>
        <p:blipFill>
          <a:blip r:embed="rId1"/>
          <a:stretch/>
        </p:blipFill>
        <p:spPr>
          <a:xfrm>
            <a:off x="1815480" y="1353240"/>
            <a:ext cx="8547840" cy="4808880"/>
          </a:xfrm>
          <a:prstGeom prst="rect">
            <a:avLst/>
          </a:prstGeom>
          <a:noFill/>
          <a:ln w="0">
            <a:noFill/>
          </a:ln>
        </p:spPr>
      </p:pic>
      <p:sp>
        <p:nvSpPr>
          <p:cNvPr id="576" name="TextBox 11"/>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Process numbers are explanatory, not a formal DFD leveling. The data dictionary strip names the key columns and the uniqueness rules that make the scan lookup deterministic.</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7"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578"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579"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04 · DATASET</a:t>
            </a:r>
            <a:endParaRPr lang="en-PH" sz="880" b="0" u="none" strike="noStrike">
              <a:solidFill>
                <a:srgbClr val="000000"/>
              </a:solidFill>
              <a:effectLst/>
              <a:uFillTx/>
              <a:latin typeface="Arial"/>
            </a:endParaRPr>
          </a:p>
        </p:txBody>
      </p:sp>
      <p:sp>
        <p:nvSpPr>
          <p:cNvPr id="580"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Eight dataset variants, one measured inventory</a:t>
            </a:r>
            <a:endParaRPr lang="en-PH" sz="2450" b="0" u="none" strike="noStrike">
              <a:solidFill>
                <a:srgbClr val="000000"/>
              </a:solidFill>
              <a:effectLst/>
              <a:uFillTx/>
              <a:latin typeface="Arial"/>
            </a:endParaRPr>
          </a:p>
        </p:txBody>
      </p:sp>
      <p:sp>
        <p:nvSpPr>
          <p:cNvPr id="581"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A filesystem scan of datasets/ counted images, labels, boxes and negative samples. Nothing is estimated from a data.yaml comment.</a:t>
            </a:r>
            <a:endParaRPr lang="en-PH" sz="1080" b="0" u="none" strike="noStrike">
              <a:solidFill>
                <a:srgbClr val="000000"/>
              </a:solidFill>
              <a:effectLst/>
              <a:uFillTx/>
              <a:latin typeface="Arial"/>
            </a:endParaRPr>
          </a:p>
        </p:txBody>
      </p:sp>
      <p:sp>
        <p:nvSpPr>
          <p:cNvPr id="582"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583"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584"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29 / 35</a:t>
            </a:r>
            <a:endParaRPr lang="en-PH" sz="780" b="0" u="none" strike="noStrike">
              <a:solidFill>
                <a:srgbClr val="000000"/>
              </a:solidFill>
              <a:effectLst/>
              <a:uFillTx/>
              <a:latin typeface="Arial"/>
            </a:endParaRPr>
          </a:p>
        </p:txBody>
      </p:sp>
      <p:sp>
        <p:nvSpPr>
          <p:cNvPr id="585" name="Rectangle 9"/>
          <p:cNvSpPr/>
          <p:nvPr/>
        </p:nvSpPr>
        <p:spPr>
          <a:xfrm>
            <a:off x="567000" y="1408320"/>
            <a:ext cx="6720120" cy="41598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586" name="Picture 10" descr="chart_dataset_inventory.png"/>
          <p:cNvPicPr/>
          <p:nvPr/>
        </p:nvPicPr>
        <p:blipFill>
          <a:blip r:embed="rId1"/>
          <a:stretch/>
        </p:blipFill>
        <p:spPr>
          <a:xfrm>
            <a:off x="621720" y="1945440"/>
            <a:ext cx="6610320" cy="3085200"/>
          </a:xfrm>
          <a:prstGeom prst="rect">
            <a:avLst/>
          </a:prstGeom>
          <a:noFill/>
          <a:ln w="0">
            <a:noFill/>
          </a:ln>
        </p:spPr>
      </p:pic>
      <p:graphicFrame>
        <p:nvGraphicFramePr>
          <p:cNvPr id="587" name="Table 11"/>
          <p:cNvGraphicFramePr/>
          <p:nvPr/>
        </p:nvGraphicFramePr>
        <p:xfrm>
          <a:off x="7498080" y="1444680"/>
          <a:ext cx="4096080" cy="3794400"/>
        </p:xfrm>
        <a:graphic>
          <a:graphicData uri="http://schemas.openxmlformats.org/drawingml/2006/table">
            <a:tbl>
              <a:tblPr/>
              <a:tblGrid>
                <a:gridCol w="1920240"/>
                <a:gridCol w="1078920"/>
                <a:gridCol w="1097280"/>
              </a:tblGrid>
              <a:tr h="379440">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Variant</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algn="r" defTabSz="457200">
                        <a:lnSpc>
                          <a:spcPct val="100000"/>
                        </a:lnSpc>
                      </a:pPr>
                      <a:r>
                        <a:rPr lang="en-US" sz="860" b="1" u="none" strike="noStrike">
                          <a:solidFill>
                            <a:srgbClr val="FFFFFF"/>
                          </a:solidFill>
                          <a:effectLst/>
                          <a:uFillTx/>
                          <a:latin typeface="Arial"/>
                        </a:rPr>
                        <a:t>Images</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algn="r" defTabSz="457200">
                        <a:lnSpc>
                          <a:spcPct val="100000"/>
                        </a:lnSpc>
                      </a:pPr>
                      <a:r>
                        <a:rPr lang="en-US" sz="860" b="1" u="none" strike="noStrike">
                          <a:solidFill>
                            <a:srgbClr val="FFFFFF"/>
                          </a:solidFill>
                          <a:effectLst/>
                          <a:uFillTx/>
                          <a:latin typeface="Arial"/>
                        </a:rPr>
                        <a:t>Boxes</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barcode</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4</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2</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barcode_all_students</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8</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6</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barcode_aug</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44</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42</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barcode_aug_all</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108</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106</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barcode_detection</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136</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134</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barcode_detection_all</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197</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195</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barcode_distance</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828</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812</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barcode_distance_all</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1,226</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1,218</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79440">
                <a:tc>
                  <a:txBody>
                    <a:bodyPr lIns="63720" tIns="27360" rIns="45720" bIns="27360" anchor="ctr">
                      <a:noAutofit/>
                    </a:bodyPr>
                    <a:p>
                      <a:pPr defTabSz="457200">
                        <a:lnSpc>
                          <a:spcPct val="100000"/>
                        </a:lnSpc>
                      </a:pPr>
                      <a:r>
                        <a:rPr lang="en-US" sz="850" b="0" u="none" strike="noStrike">
                          <a:solidFill>
                            <a:srgbClr val="0F172A"/>
                          </a:solidFill>
                          <a:effectLst/>
                          <a:uFillTx/>
                          <a:latin typeface="Arial"/>
                        </a:rPr>
                        <a:t>Total</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2,551</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850" b="0" u="none" strike="noStrike">
                          <a:solidFill>
                            <a:srgbClr val="475569"/>
                          </a:solidFill>
                          <a:effectLst/>
                          <a:uFillTx/>
                          <a:latin typeface="Arial"/>
                        </a:rPr>
                        <a:t>2,515</a:t>
                      </a:r>
                      <a:endParaRPr lang="en-PH" sz="85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588" name="TextBox 12"/>
          <p:cNvSpPr/>
          <p:nvPr/>
        </p:nvSpPr>
        <p:spPr>
          <a:xfrm>
            <a:off x="7498080" y="5788080"/>
            <a:ext cx="40957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1" u="none" strike="noStrike">
                <a:solidFill>
                  <a:srgbClr val="AD4D05"/>
                </a:solidFill>
                <a:effectLst/>
                <a:uFillTx/>
                <a:latin typeface="Arial"/>
              </a:rPr>
              <a:t>2.77 GB · 36 negative images · 43 distinct resolutions</a:t>
            </a:r>
            <a:endParaRPr lang="en-PH" sz="860" b="0" u="none" strike="noStrike">
              <a:solidFill>
                <a:srgbClr val="000000"/>
              </a:solidFill>
              <a:effectLst/>
              <a:uFillTx/>
              <a:latin typeface="Arial"/>
            </a:endParaRPr>
          </a:p>
        </p:txBody>
      </p:sp>
      <p:sp>
        <p:nvSpPr>
          <p:cNvPr id="589" name="TextBox 13"/>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barcode_distance_all is the largest pool; barcode_distance is the variant named by the active model's data.yaml.</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0"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591"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592"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04 · DATASET QUALITY</a:t>
            </a:r>
            <a:endParaRPr lang="en-PH" sz="880" b="0" u="none" strike="noStrike">
              <a:solidFill>
                <a:srgbClr val="000000"/>
              </a:solidFill>
              <a:effectLst/>
              <a:uFillTx/>
              <a:latin typeface="Arial"/>
            </a:endParaRPr>
          </a:p>
        </p:txBody>
      </p:sp>
      <p:sp>
        <p:nvSpPr>
          <p:cNvPr id="593"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Labels are clean; the split strategy is not</a:t>
            </a:r>
            <a:endParaRPr lang="en-PH" sz="2450" b="0" u="none" strike="noStrike">
              <a:solidFill>
                <a:srgbClr val="000000"/>
              </a:solidFill>
              <a:effectLst/>
              <a:uFillTx/>
              <a:latin typeface="Arial"/>
            </a:endParaRPr>
          </a:p>
        </p:txBody>
      </p:sp>
      <p:sp>
        <p:nvSpPr>
          <p:cNvPr id="594"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Zero missing label files and zero malformed boxes, but the core training variant has no test split and eight duplicate files.</a:t>
            </a:r>
            <a:endParaRPr lang="en-PH" sz="1080" b="0" u="none" strike="noStrike">
              <a:solidFill>
                <a:srgbClr val="000000"/>
              </a:solidFill>
              <a:effectLst/>
              <a:uFillTx/>
              <a:latin typeface="Arial"/>
            </a:endParaRPr>
          </a:p>
        </p:txBody>
      </p:sp>
      <p:sp>
        <p:nvSpPr>
          <p:cNvPr id="595"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596"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597"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30 / 35</a:t>
            </a:r>
            <a:endParaRPr lang="en-PH" sz="780" b="0" u="none" strike="noStrike">
              <a:solidFill>
                <a:srgbClr val="000000"/>
              </a:solidFill>
              <a:effectLst/>
              <a:uFillTx/>
              <a:latin typeface="Arial"/>
            </a:endParaRPr>
          </a:p>
        </p:txBody>
      </p:sp>
      <p:sp>
        <p:nvSpPr>
          <p:cNvPr id="598" name="Rectangle 9"/>
          <p:cNvSpPr/>
          <p:nvPr/>
        </p:nvSpPr>
        <p:spPr>
          <a:xfrm>
            <a:off x="567000" y="1426320"/>
            <a:ext cx="6628680" cy="30168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599" name="Picture 10" descr="chart_bbox_distribution.png"/>
          <p:cNvPicPr/>
          <p:nvPr/>
        </p:nvPicPr>
        <p:blipFill>
          <a:blip r:embed="rId1"/>
          <a:stretch/>
        </p:blipFill>
        <p:spPr>
          <a:xfrm>
            <a:off x="902160" y="1472040"/>
            <a:ext cx="5958000" cy="2925360"/>
          </a:xfrm>
          <a:prstGeom prst="rect">
            <a:avLst/>
          </a:prstGeom>
          <a:noFill/>
          <a:ln w="0">
            <a:noFill/>
          </a:ln>
        </p:spPr>
      </p:pic>
      <p:sp>
        <p:nvSpPr>
          <p:cNvPr id="600" name="Rectangle 11"/>
          <p:cNvSpPr/>
          <p:nvPr/>
        </p:nvSpPr>
        <p:spPr>
          <a:xfrm>
            <a:off x="7333560" y="1426320"/>
            <a:ext cx="4251240" cy="30168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601" name="Picture 12" descr="24_dataset_gallery.png"/>
          <p:cNvPicPr/>
          <p:nvPr/>
        </p:nvPicPr>
        <p:blipFill>
          <a:blip r:embed="rId2"/>
          <a:stretch/>
        </p:blipFill>
        <p:spPr>
          <a:xfrm>
            <a:off x="7888680" y="1463040"/>
            <a:ext cx="3140640" cy="2943720"/>
          </a:xfrm>
          <a:prstGeom prst="rect">
            <a:avLst/>
          </a:prstGeom>
          <a:noFill/>
          <a:ln w="0">
            <a:noFill/>
          </a:ln>
        </p:spPr>
      </p:pic>
      <p:sp>
        <p:nvSpPr>
          <p:cNvPr id="602" name="Rounded Rectangle 13"/>
          <p:cNvSpPr/>
          <p:nvPr/>
        </p:nvSpPr>
        <p:spPr>
          <a:xfrm>
            <a:off x="567000" y="4645080"/>
            <a:ext cx="5321160" cy="1499040"/>
          </a:xfrm>
          <a:prstGeom prst="roundRect">
            <a:avLst>
              <a:gd name="adj" fmla="val 8000"/>
            </a:avLst>
          </a:prstGeom>
          <a:solidFill>
            <a:srgbClr val="DCFCE7"/>
          </a:solidFill>
          <a:ln w="10160">
            <a:solidFill>
              <a:srgbClr val="BBF7D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3" name="TextBox 14"/>
          <p:cNvSpPr/>
          <p:nvPr/>
        </p:nvSpPr>
        <p:spPr>
          <a:xfrm>
            <a:off x="713160" y="4736520"/>
            <a:ext cx="5028480" cy="133416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880" b="0" u="none" strike="noStrike">
                <a:solidFill>
                  <a:srgbClr val="166534"/>
                </a:solidFill>
                <a:effectLst/>
                <a:uFillTx/>
                <a:latin typeface="Arial"/>
              </a:rPr>
              <a:t>Clean signals</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166534"/>
                </a:solidFill>
                <a:effectLst/>
                <a:uFillTx/>
                <a:latin typeface="Arial"/>
              </a:rPr>
              <a:t>• 0 missing labels · 0 invalid boxes</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166534"/>
                </a:solidFill>
                <a:effectLst/>
                <a:uFillTx/>
                <a:latin typeface="Arial"/>
              </a:rPr>
              <a:t>• 1 class, 2,515 boxes</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166534"/>
                </a:solidFill>
                <a:effectLst/>
                <a:uFillTx/>
                <a:latin typeface="Arial"/>
              </a:rPr>
              <a:t>• 36 deliberate negatives teach 'no barcode here'</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166534"/>
                </a:solidFill>
                <a:effectLst/>
                <a:uFillTx/>
                <a:latin typeface="Arial"/>
              </a:rPr>
              <a:t>• median box 50.4% × 17.4% of frame</a:t>
            </a:r>
            <a:endParaRPr lang="en-PH" sz="880" b="0" u="none" strike="noStrike">
              <a:solidFill>
                <a:srgbClr val="000000"/>
              </a:solidFill>
              <a:effectLst/>
              <a:uFillTx/>
              <a:latin typeface="Arial"/>
            </a:endParaRPr>
          </a:p>
        </p:txBody>
      </p:sp>
      <p:sp>
        <p:nvSpPr>
          <p:cNvPr id="604" name="Rounded Rectangle 15"/>
          <p:cNvSpPr/>
          <p:nvPr/>
        </p:nvSpPr>
        <p:spPr>
          <a:xfrm>
            <a:off x="5449680" y="4645080"/>
            <a:ext cx="6125760" cy="1499040"/>
          </a:xfrm>
          <a:prstGeom prst="roundRect">
            <a:avLst>
              <a:gd name="adj" fmla="val 8000"/>
            </a:avLst>
          </a:prstGeom>
          <a:solidFill>
            <a:srgbClr val="FEE2E2"/>
          </a:solidFill>
          <a:ln w="10160">
            <a:solidFill>
              <a:srgbClr val="FECAC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5" name="TextBox 16"/>
          <p:cNvSpPr/>
          <p:nvPr/>
        </p:nvSpPr>
        <p:spPr>
          <a:xfrm>
            <a:off x="5596200" y="4736520"/>
            <a:ext cx="5833080" cy="1334160"/>
          </a:xfrm>
          <a:prstGeom prst="rect">
            <a:avLst/>
          </a:prstGeom>
          <a:noFill/>
          <a:ln w="0">
            <a:noFill/>
          </a:ln>
        </p:spPr>
        <p:style>
          <a:lnRef idx="0"/>
          <a:fillRef idx="0"/>
          <a:effectRef idx="0"/>
          <a:fontRef idx="minor"/>
        </p:style>
        <p:txBody>
          <a:bodyPr lIns="0" tIns="0" rIns="0" bIns="0" anchor="t">
            <a:spAutoFit/>
          </a:bodyPr>
          <a:p>
            <a:pPr defTabSz="457200">
              <a:lnSpc>
                <a:spcPct val="112000"/>
              </a:lnSpc>
            </a:pPr>
            <a:r>
              <a:rPr lang="en-US" sz="880" b="0" u="none" strike="noStrike">
                <a:solidFill>
                  <a:srgbClr val="991B1B"/>
                </a:solidFill>
                <a:effectLst/>
                <a:uFillTx/>
                <a:latin typeface="Arial"/>
              </a:rPr>
              <a:t>Risk signals</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991B1B"/>
                </a:solidFill>
                <a:effectLst/>
                <a:uFillTx/>
                <a:latin typeface="Arial"/>
              </a:rPr>
              <a:t>• barcode_distance has 0 test images — selection used validation only</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991B1B"/>
                </a:solidFill>
                <a:effectLst/>
                <a:uFillTx/>
                <a:latin typeface="Arial"/>
              </a:rPr>
              <a:t>• 8 duplicate files inside barcode_distance</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991B1B"/>
                </a:solidFill>
                <a:effectLst/>
                <a:uFillTx/>
                <a:latin typeface="Arial"/>
              </a:rPr>
              <a:t>• 43 resolutions, so scale variance is high</a:t>
            </a:r>
            <a:endParaRPr lang="en-PH" sz="880" b="0" u="none" strike="noStrike">
              <a:solidFill>
                <a:srgbClr val="000000"/>
              </a:solidFill>
              <a:effectLst/>
              <a:uFillTx/>
              <a:latin typeface="Arial"/>
            </a:endParaRPr>
          </a:p>
          <a:p>
            <a:pPr defTabSz="457200">
              <a:lnSpc>
                <a:spcPct val="112000"/>
              </a:lnSpc>
            </a:pPr>
            <a:r>
              <a:rPr lang="en-US" sz="880" b="0" u="none" strike="noStrike">
                <a:solidFill>
                  <a:srgbClr val="991B1B"/>
                </a:solidFill>
                <a:effectLst/>
                <a:uFillTx/>
                <a:latin typeface="Arial"/>
              </a:rPr>
              <a:t>• 20 near-identical distance frames per source card inflate the count</a:t>
            </a:r>
            <a:endParaRPr lang="en-PH" sz="880" b="0" u="none" strike="noStrike">
              <a:solidFill>
                <a:srgbClr val="000000"/>
              </a:solidFill>
              <a:effectLst/>
              <a:uFillTx/>
              <a:latin typeface="Arial"/>
            </a:endParaRPr>
          </a:p>
        </p:txBody>
      </p:sp>
      <p:sp>
        <p:nvSpPr>
          <p:cNvPr id="606" name="TextBox 17"/>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Box geometry from all 2,515 labels. Gallery crops the annotated region only; no student data is shown.</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7"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608"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609"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04 · TRAINING</a:t>
            </a:r>
            <a:endParaRPr lang="en-PH" sz="880" b="0" u="none" strike="noStrike">
              <a:solidFill>
                <a:srgbClr val="000000"/>
              </a:solidFill>
              <a:effectLst/>
              <a:uFillTx/>
              <a:latin typeface="Arial"/>
            </a:endParaRPr>
          </a:p>
        </p:txBody>
      </p:sp>
      <p:sp>
        <p:nvSpPr>
          <p:cNvPr id="610"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Training pipeline and recorded configuration</a:t>
            </a:r>
            <a:endParaRPr lang="en-PH" sz="2450" b="0" u="none" strike="noStrike">
              <a:solidFill>
                <a:srgbClr val="000000"/>
              </a:solidFill>
              <a:effectLst/>
              <a:uFillTx/>
              <a:latin typeface="Arial"/>
            </a:endParaRPr>
          </a:p>
        </p:txBody>
      </p:sp>
      <p:sp>
        <p:nvSpPr>
          <p:cNvPr id="611"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Six candidate runs were kept. The active checkpoint is the v7-distance run, trained at 640 px on the distance dataset.</a:t>
            </a:r>
            <a:endParaRPr lang="en-PH" sz="1080" b="0" u="none" strike="noStrike">
              <a:solidFill>
                <a:srgbClr val="000000"/>
              </a:solidFill>
              <a:effectLst/>
              <a:uFillTx/>
              <a:latin typeface="Arial"/>
            </a:endParaRPr>
          </a:p>
        </p:txBody>
      </p:sp>
      <p:sp>
        <p:nvSpPr>
          <p:cNvPr id="612"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613"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614"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31 / 35</a:t>
            </a:r>
            <a:endParaRPr lang="en-PH" sz="780" b="0" u="none" strike="noStrike">
              <a:solidFill>
                <a:srgbClr val="000000"/>
              </a:solidFill>
              <a:effectLst/>
              <a:uFillTx/>
              <a:latin typeface="Arial"/>
            </a:endParaRPr>
          </a:p>
        </p:txBody>
      </p:sp>
      <p:sp>
        <p:nvSpPr>
          <p:cNvPr id="615" name="Rectangle 9"/>
          <p:cNvSpPr/>
          <p:nvPr/>
        </p:nvSpPr>
        <p:spPr>
          <a:xfrm>
            <a:off x="567000" y="1353240"/>
            <a:ext cx="11045160" cy="437004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616" name="Picture 10" descr="WIT_YOLO_Training_Pipeline.png"/>
          <p:cNvPicPr/>
          <p:nvPr/>
        </p:nvPicPr>
        <p:blipFill>
          <a:blip r:embed="rId1"/>
          <a:stretch/>
        </p:blipFill>
        <p:spPr>
          <a:xfrm>
            <a:off x="2238120" y="1371600"/>
            <a:ext cx="7702560" cy="4333680"/>
          </a:xfrm>
          <a:prstGeom prst="rect">
            <a:avLst/>
          </a:prstGeom>
          <a:noFill/>
          <a:ln w="0">
            <a:noFill/>
          </a:ln>
        </p:spPr>
      </p:pic>
      <p:sp>
        <p:nvSpPr>
          <p:cNvPr id="617" name="Rounded Rectangle 11"/>
          <p:cNvSpPr/>
          <p:nvPr/>
        </p:nvSpPr>
        <p:spPr>
          <a:xfrm>
            <a:off x="567000" y="5879520"/>
            <a:ext cx="1626840" cy="2736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8" name="TextBox 12"/>
          <p:cNvSpPr/>
          <p:nvPr/>
        </p:nvSpPr>
        <p:spPr>
          <a:xfrm>
            <a:off x="612720" y="5920920"/>
            <a:ext cx="15354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10" b="1" u="none" strike="noStrike">
                <a:solidFill>
                  <a:srgbClr val="AD4D05"/>
                </a:solidFill>
                <a:effectLst/>
                <a:uFillTx/>
                <a:latin typeface="Arial"/>
              </a:rPr>
              <a:t>100 epochs requested</a:t>
            </a:r>
            <a:endParaRPr lang="en-PH" sz="810" b="0" u="none" strike="noStrike">
              <a:solidFill>
                <a:srgbClr val="000000"/>
              </a:solidFill>
              <a:effectLst/>
              <a:uFillTx/>
              <a:latin typeface="Arial"/>
            </a:endParaRPr>
          </a:p>
        </p:txBody>
      </p:sp>
      <p:sp>
        <p:nvSpPr>
          <p:cNvPr id="619" name="Rounded Rectangle 13"/>
          <p:cNvSpPr/>
          <p:nvPr/>
        </p:nvSpPr>
        <p:spPr>
          <a:xfrm>
            <a:off x="2331720" y="5879520"/>
            <a:ext cx="1626840" cy="2736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0" name="TextBox 14"/>
          <p:cNvSpPr/>
          <p:nvPr/>
        </p:nvSpPr>
        <p:spPr>
          <a:xfrm>
            <a:off x="2377440" y="5920920"/>
            <a:ext cx="15354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10" b="1" u="none" strike="noStrike">
                <a:solidFill>
                  <a:srgbClr val="AD4D05"/>
                </a:solidFill>
                <a:effectLst/>
                <a:uFillTx/>
                <a:latin typeface="Arial"/>
              </a:rPr>
              <a:t>64 recorded</a:t>
            </a:r>
            <a:endParaRPr lang="en-PH" sz="810" b="0" u="none" strike="noStrike">
              <a:solidFill>
                <a:srgbClr val="000000"/>
              </a:solidFill>
              <a:effectLst/>
              <a:uFillTx/>
              <a:latin typeface="Arial"/>
            </a:endParaRPr>
          </a:p>
        </p:txBody>
      </p:sp>
      <p:sp>
        <p:nvSpPr>
          <p:cNvPr id="621" name="Rounded Rectangle 15"/>
          <p:cNvSpPr/>
          <p:nvPr/>
        </p:nvSpPr>
        <p:spPr>
          <a:xfrm>
            <a:off x="3730680" y="5879520"/>
            <a:ext cx="1626840" cy="2736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2" name="TextBox 16"/>
          <p:cNvSpPr/>
          <p:nvPr/>
        </p:nvSpPr>
        <p:spPr>
          <a:xfrm>
            <a:off x="3776400" y="5920920"/>
            <a:ext cx="15354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10" b="1" u="none" strike="noStrike">
                <a:solidFill>
                  <a:srgbClr val="AD4D05"/>
                </a:solidFill>
                <a:effectLst/>
                <a:uFillTx/>
                <a:latin typeface="Arial"/>
              </a:rPr>
              <a:t>batch 16</a:t>
            </a:r>
            <a:endParaRPr lang="en-PH" sz="810" b="0" u="none" strike="noStrike">
              <a:solidFill>
                <a:srgbClr val="000000"/>
              </a:solidFill>
              <a:effectLst/>
              <a:uFillTx/>
              <a:latin typeface="Arial"/>
            </a:endParaRPr>
          </a:p>
        </p:txBody>
      </p:sp>
      <p:sp>
        <p:nvSpPr>
          <p:cNvPr id="623" name="Rounded Rectangle 17"/>
          <p:cNvSpPr/>
          <p:nvPr/>
        </p:nvSpPr>
        <p:spPr>
          <a:xfrm>
            <a:off x="4937760" y="5879520"/>
            <a:ext cx="1626840" cy="2736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4" name="TextBox 18"/>
          <p:cNvSpPr/>
          <p:nvPr/>
        </p:nvSpPr>
        <p:spPr>
          <a:xfrm>
            <a:off x="4983480" y="5920920"/>
            <a:ext cx="15354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10" b="1" u="none" strike="noStrike">
                <a:solidFill>
                  <a:srgbClr val="AD4D05"/>
                </a:solidFill>
                <a:effectLst/>
                <a:uFillTx/>
                <a:latin typeface="Arial"/>
              </a:rPr>
              <a:t>imgsz 640</a:t>
            </a:r>
            <a:endParaRPr lang="en-PH" sz="810" b="0" u="none" strike="noStrike">
              <a:solidFill>
                <a:srgbClr val="000000"/>
              </a:solidFill>
              <a:effectLst/>
              <a:uFillTx/>
              <a:latin typeface="Arial"/>
            </a:endParaRPr>
          </a:p>
        </p:txBody>
      </p:sp>
      <p:sp>
        <p:nvSpPr>
          <p:cNvPr id="625" name="Rounded Rectangle 19"/>
          <p:cNvSpPr/>
          <p:nvPr/>
        </p:nvSpPr>
        <p:spPr>
          <a:xfrm>
            <a:off x="6199560" y="5879520"/>
            <a:ext cx="1626840" cy="2736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6" name="TextBox 20"/>
          <p:cNvSpPr/>
          <p:nvPr/>
        </p:nvSpPr>
        <p:spPr>
          <a:xfrm>
            <a:off x="6245280" y="5920920"/>
            <a:ext cx="15354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10" b="1" u="none" strike="noStrike">
                <a:solidFill>
                  <a:srgbClr val="AD4D05"/>
                </a:solidFill>
                <a:effectLst/>
                <a:uFillTx/>
                <a:latin typeface="Arial"/>
              </a:rPr>
              <a:t>AdamW · lr0 0.002</a:t>
            </a:r>
            <a:endParaRPr lang="en-PH" sz="810" b="0" u="none" strike="noStrike">
              <a:solidFill>
                <a:srgbClr val="000000"/>
              </a:solidFill>
              <a:effectLst/>
              <a:uFillTx/>
              <a:latin typeface="Arial"/>
            </a:endParaRPr>
          </a:p>
        </p:txBody>
      </p:sp>
      <p:sp>
        <p:nvSpPr>
          <p:cNvPr id="627" name="Rounded Rectangle 21"/>
          <p:cNvSpPr/>
          <p:nvPr/>
        </p:nvSpPr>
        <p:spPr>
          <a:xfrm>
            <a:off x="8174880" y="5879520"/>
            <a:ext cx="1626840" cy="2736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8" name="TextBox 22"/>
          <p:cNvSpPr/>
          <p:nvPr/>
        </p:nvSpPr>
        <p:spPr>
          <a:xfrm>
            <a:off x="8220600" y="5920920"/>
            <a:ext cx="15354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10" b="1" u="none" strike="noStrike">
                <a:solidFill>
                  <a:srgbClr val="AD4D05"/>
                </a:solidFill>
                <a:effectLst/>
                <a:uFillTx/>
                <a:latin typeface="Arial"/>
              </a:rPr>
              <a:t>patience 30</a:t>
            </a:r>
            <a:endParaRPr lang="en-PH" sz="810" b="0" u="none" strike="noStrike">
              <a:solidFill>
                <a:srgbClr val="000000"/>
              </a:solidFill>
              <a:effectLst/>
              <a:uFillTx/>
              <a:latin typeface="Arial"/>
            </a:endParaRPr>
          </a:p>
        </p:txBody>
      </p:sp>
      <p:sp>
        <p:nvSpPr>
          <p:cNvPr id="629" name="Rounded Rectangle 23"/>
          <p:cNvSpPr/>
          <p:nvPr/>
        </p:nvSpPr>
        <p:spPr>
          <a:xfrm>
            <a:off x="9509760" y="5879520"/>
            <a:ext cx="1626840" cy="27360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0" name="TextBox 24"/>
          <p:cNvSpPr/>
          <p:nvPr/>
        </p:nvSpPr>
        <p:spPr>
          <a:xfrm>
            <a:off x="9555480" y="5920920"/>
            <a:ext cx="1535400" cy="200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10" b="1" u="none" strike="noStrike">
                <a:solidFill>
                  <a:srgbClr val="AD4D05"/>
                </a:solidFill>
                <a:effectLst/>
                <a:uFillTx/>
                <a:latin typeface="Arial"/>
              </a:rPr>
              <a:t>device CUDA:0</a:t>
            </a:r>
            <a:endParaRPr lang="en-PH" sz="810" b="0" u="none" strike="noStrike">
              <a:solidFill>
                <a:srgbClr val="000000"/>
              </a:solidFill>
              <a:effectLst/>
              <a:uFillTx/>
              <a:latin typeface="Arial"/>
            </a:endParaRPr>
          </a:p>
        </p:txBody>
      </p:sp>
      <p:sp>
        <p:nvSpPr>
          <p:cNvPr id="631" name="TextBox 25"/>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Configuration read from best.pt train_args and results.csv. The run stopped after 64 recorded epochs; the checkpoint is the best epoch (34), not the last.</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2"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633"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634"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04 · TRAINING</a:t>
            </a:r>
            <a:endParaRPr lang="en-PH" sz="880" b="0" u="none" strike="noStrike">
              <a:solidFill>
                <a:srgbClr val="000000"/>
              </a:solidFill>
              <a:effectLst/>
              <a:uFillTx/>
              <a:latin typeface="Arial"/>
            </a:endParaRPr>
          </a:p>
        </p:txBody>
      </p:sp>
      <p:sp>
        <p:nvSpPr>
          <p:cNvPr id="635"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Validation curves and the active model's scores</a:t>
            </a:r>
            <a:endParaRPr lang="en-PH" sz="2450" b="0" u="none" strike="noStrike">
              <a:solidFill>
                <a:srgbClr val="000000"/>
              </a:solidFill>
              <a:effectLst/>
              <a:uFillTx/>
              <a:latin typeface="Arial"/>
            </a:endParaRPr>
          </a:p>
        </p:txBody>
      </p:sp>
      <p:sp>
        <p:nvSpPr>
          <p:cNvPr id="636"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v7-distance run reaches mAP50 0.995 and mAP50-95 0.8075 at its best epoch, with precision 0.9975 and recall 0.9987.</a:t>
            </a:r>
            <a:endParaRPr lang="en-PH" sz="1080" b="0" u="none" strike="noStrike">
              <a:solidFill>
                <a:srgbClr val="000000"/>
              </a:solidFill>
              <a:effectLst/>
              <a:uFillTx/>
              <a:latin typeface="Arial"/>
            </a:endParaRPr>
          </a:p>
        </p:txBody>
      </p:sp>
      <p:sp>
        <p:nvSpPr>
          <p:cNvPr id="637"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638"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639"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32 / 35</a:t>
            </a:r>
            <a:endParaRPr lang="en-PH" sz="780" b="0" u="none" strike="noStrike">
              <a:solidFill>
                <a:srgbClr val="000000"/>
              </a:solidFill>
              <a:effectLst/>
              <a:uFillTx/>
              <a:latin typeface="Arial"/>
            </a:endParaRPr>
          </a:p>
        </p:txBody>
      </p:sp>
      <p:sp>
        <p:nvSpPr>
          <p:cNvPr id="640" name="Rectangle 9"/>
          <p:cNvSpPr/>
          <p:nvPr/>
        </p:nvSpPr>
        <p:spPr>
          <a:xfrm>
            <a:off x="567000" y="1408320"/>
            <a:ext cx="6903000" cy="246816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641" name="Picture 10" descr="chart_training_map.png"/>
          <p:cNvPicPr/>
          <p:nvPr/>
        </p:nvPicPr>
        <p:blipFill>
          <a:blip r:embed="rId1"/>
          <a:stretch/>
        </p:blipFill>
        <p:spPr>
          <a:xfrm>
            <a:off x="1465920" y="1444680"/>
            <a:ext cx="5105160" cy="2395080"/>
          </a:xfrm>
          <a:prstGeom prst="rect">
            <a:avLst/>
          </a:prstGeom>
          <a:noFill/>
          <a:ln w="0">
            <a:noFill/>
          </a:ln>
        </p:spPr>
      </p:pic>
      <p:sp>
        <p:nvSpPr>
          <p:cNvPr id="642" name="Rectangle 11"/>
          <p:cNvSpPr/>
          <p:nvPr/>
        </p:nvSpPr>
        <p:spPr>
          <a:xfrm>
            <a:off x="567000" y="3950280"/>
            <a:ext cx="6903000" cy="213912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643" name="Picture 12" descr="chart_training_losses.png"/>
          <p:cNvPicPr/>
          <p:nvPr/>
        </p:nvPicPr>
        <p:blipFill>
          <a:blip r:embed="rId2"/>
          <a:stretch/>
        </p:blipFill>
        <p:spPr>
          <a:xfrm>
            <a:off x="1804680" y="3986640"/>
            <a:ext cx="4427640" cy="2065680"/>
          </a:xfrm>
          <a:prstGeom prst="rect">
            <a:avLst/>
          </a:prstGeom>
          <a:noFill/>
          <a:ln w="0">
            <a:noFill/>
          </a:ln>
        </p:spPr>
      </p:pic>
      <p:sp>
        <p:nvSpPr>
          <p:cNvPr id="644" name="Rounded Rectangle 13"/>
          <p:cNvSpPr/>
          <p:nvPr/>
        </p:nvSpPr>
        <p:spPr>
          <a:xfrm>
            <a:off x="7699320" y="1408320"/>
            <a:ext cx="3912840" cy="426024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5" name="TextBox 14"/>
          <p:cNvSpPr/>
          <p:nvPr/>
        </p:nvSpPr>
        <p:spPr>
          <a:xfrm>
            <a:off x="7900560" y="1591200"/>
            <a:ext cx="351072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AD4D05"/>
                </a:solidFill>
                <a:effectLst/>
                <a:uFillTx/>
                <a:latin typeface="Arial"/>
              </a:rPr>
              <a:t>Active checkpoint (v7)</a:t>
            </a:r>
            <a:endParaRPr lang="en-PH" sz="1200" b="0" u="none" strike="noStrike">
              <a:solidFill>
                <a:srgbClr val="000000"/>
              </a:solidFill>
              <a:effectLst/>
              <a:uFillTx/>
              <a:latin typeface="Arial"/>
            </a:endParaRPr>
          </a:p>
        </p:txBody>
      </p:sp>
      <p:graphicFrame>
        <p:nvGraphicFramePr>
          <p:cNvPr id="646" name="Table 15"/>
          <p:cNvGraphicFramePr/>
          <p:nvPr/>
        </p:nvGraphicFramePr>
        <p:xfrm>
          <a:off x="7900560" y="1956960"/>
          <a:ext cx="3510720" cy="1864080"/>
        </p:xfrm>
        <a:graphic>
          <a:graphicData uri="http://schemas.openxmlformats.org/drawingml/2006/table">
            <a:tbl>
              <a:tblPr/>
              <a:tblGrid>
                <a:gridCol w="1554480"/>
                <a:gridCol w="1956600"/>
              </a:tblGrid>
              <a:tr h="310680">
                <a:tc>
                  <a:txBody>
                    <a:bodyPr lIns="63720" tIns="27360" rIns="45720" bIns="27360" anchor="ctr">
                      <a:noAutofit/>
                    </a:bodyPr>
                    <a:p>
                      <a:pPr defTabSz="457200">
                        <a:lnSpc>
                          <a:spcPct val="100000"/>
                        </a:lnSpc>
                      </a:pPr>
                      <a:r>
                        <a:rPr lang="en-US" sz="860" b="1" u="none" strike="noStrike">
                          <a:solidFill>
                            <a:srgbClr val="FFFFFF"/>
                          </a:solidFill>
                          <a:effectLst/>
                          <a:uFillTx/>
                          <a:latin typeface="Arial"/>
                        </a:rPr>
                        <a:t>Metric</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lIns="63720" tIns="27360" rIns="45720" bIns="27360" anchor="ctr">
                      <a:noAutofit/>
                    </a:bodyPr>
                    <a:p>
                      <a:pPr algn="r" defTabSz="457200">
                        <a:lnSpc>
                          <a:spcPct val="100000"/>
                        </a:lnSpc>
                      </a:pPr>
                      <a:r>
                        <a:rPr lang="en-US" sz="860" b="1" u="none" strike="noStrike">
                          <a:solidFill>
                            <a:srgbClr val="FFFFFF"/>
                          </a:solidFill>
                          <a:effectLst/>
                          <a:uFillTx/>
                          <a:latin typeface="Arial"/>
                        </a:rPr>
                        <a:t>Value</a:t>
                      </a:r>
                      <a:endParaRPr lang="en-PH" sz="860" b="0" u="none" strike="noStrike">
                        <a:solidFill>
                          <a:srgbClr val="FFFFFF"/>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31068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Best epoch</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34 / 64</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1068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Precision</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0.9975</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1068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Recall</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0.9987</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1068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mAP@0.50</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0.9950</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10680">
                <a:tc>
                  <a:txBody>
                    <a:bodyPr lIns="63720" tIns="27360" rIns="45720" bIns="27360" anchor="ctr">
                      <a:noAutofit/>
                    </a:bodyPr>
                    <a:p>
                      <a:pPr defTabSz="457200">
                        <a:lnSpc>
                          <a:spcPct val="100000"/>
                        </a:lnSpc>
                      </a:pPr>
                      <a:r>
                        <a:rPr lang="en-US" sz="900" b="0" u="none" strike="noStrike">
                          <a:solidFill>
                            <a:srgbClr val="0F172A"/>
                          </a:solidFill>
                          <a:effectLst/>
                          <a:uFillTx/>
                          <a:latin typeface="Arial"/>
                        </a:rPr>
                        <a:t>mAP@0.50:0.95</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63720" tIns="27360" rIns="45720" bIns="27360" anchor="ctr">
                      <a:noAutofit/>
                    </a:bodyPr>
                    <a:p>
                      <a:pPr algn="r" defTabSz="457200">
                        <a:lnSpc>
                          <a:spcPct val="100000"/>
                        </a:lnSpc>
                      </a:pPr>
                      <a:r>
                        <a:rPr lang="en-US" sz="900" b="0" u="none" strike="noStrike">
                          <a:solidFill>
                            <a:srgbClr val="475569"/>
                          </a:solidFill>
                          <a:effectLst/>
                          <a:uFillTx/>
                          <a:latin typeface="Arial"/>
                        </a:rPr>
                        <a:t>0.8075</a:t>
                      </a:r>
                      <a:endParaRPr lang="en-PH" sz="900" b="0" u="none" strike="noStrike">
                        <a:solidFill>
                          <a:srgbClr val="000000"/>
                        </a:solidFill>
                        <a:effectLst/>
                        <a:uFillTx/>
                        <a:latin typeface="Arial"/>
                      </a:endParaRPr>
                    </a:p>
                  </a:txBody>
                  <a:tcPr anchor="ctr" marL="63720" marR="45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647" name="TextBox 16"/>
          <p:cNvSpPr/>
          <p:nvPr/>
        </p:nvSpPr>
        <p:spPr>
          <a:xfrm>
            <a:off x="7900560" y="4279320"/>
            <a:ext cx="3510720" cy="1206360"/>
          </a:xfrm>
          <a:prstGeom prst="rect">
            <a:avLst/>
          </a:prstGeom>
          <a:noFill/>
          <a:ln w="0">
            <a:noFill/>
          </a:ln>
        </p:spPr>
        <p:style>
          <a:lnRef idx="0"/>
          <a:fillRef idx="0"/>
          <a:effectRef idx="0"/>
          <a:fontRef idx="minor"/>
        </p:style>
        <p:txBody>
          <a:bodyPr lIns="0" tIns="0" rIns="0" bIns="0" anchor="t">
            <a:spAutoFit/>
          </a:bodyPr>
          <a:p>
            <a:pPr defTabSz="457200">
              <a:lnSpc>
                <a:spcPct val="108000"/>
              </a:lnSpc>
            </a:pPr>
            <a:r>
              <a:rPr lang="en-US" sz="839" b="0" u="none" strike="noStrike">
                <a:solidFill>
                  <a:srgbClr val="475569"/>
                </a:solidFill>
                <a:effectLst/>
                <a:uFillTx/>
                <a:latin typeface="Arial"/>
              </a:rPr>
              <a:t>Losses fall smoothly through the run. The strict run is excluded from comparison: its log records only epochs 41–60 and duplicates v3's metrics, so it is not independent evidence.</a:t>
            </a:r>
            <a:endParaRPr lang="en-PH" sz="839" b="0" u="none" strike="noStrike">
              <a:solidFill>
                <a:srgbClr val="000000"/>
              </a:solidFill>
              <a:effectLst/>
              <a:uFillTx/>
              <a:latin typeface="Arial"/>
            </a:endParaRPr>
          </a:p>
        </p:txBody>
      </p:sp>
      <p:sp>
        <p:nvSpPr>
          <p:cNvPr id="648" name="TextBox 17"/>
          <p:cNvSpPr/>
          <p:nvPr/>
        </p:nvSpPr>
        <p:spPr>
          <a:xfrm>
            <a:off x="7900560" y="5376600"/>
            <a:ext cx="351072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60" b="0" i="1" u="none" strike="noStrike">
                <a:solidFill>
                  <a:srgbClr val="64748B"/>
                </a:solidFill>
                <a:effectLst/>
                <a:uFillTx/>
                <a:latin typeface="Arial"/>
              </a:rPr>
              <a:t>Source: results.csv + best.pt train_metrics</a:t>
            </a:r>
            <a:endParaRPr lang="en-PH" sz="760" b="0" u="none" strike="noStrike">
              <a:solidFill>
                <a:srgbClr val="000000"/>
              </a:solidFill>
              <a:effectLst/>
              <a:uFillTx/>
              <a:latin typeface="Arial"/>
            </a:endParaRPr>
          </a:p>
        </p:txBody>
      </p:sp>
      <p:sp>
        <p:nvSpPr>
          <p:cNvPr id="649" name="TextBox 18"/>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Curves are plotted directly from results.csv; no smoothing or interpolation. Validation uses the same label set for every run.</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0"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651"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652"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04 · MODEL SELECTION</a:t>
            </a:r>
            <a:endParaRPr lang="en-PH" sz="880" b="0" u="none" strike="noStrike">
              <a:solidFill>
                <a:srgbClr val="000000"/>
              </a:solidFill>
              <a:effectLst/>
              <a:uFillTx/>
              <a:latin typeface="Arial"/>
            </a:endParaRPr>
          </a:p>
        </p:txBody>
      </p:sp>
      <p:sp>
        <p:nvSpPr>
          <p:cNvPr id="653"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Six runs compared; GPU inference is 17× faster than CPU</a:t>
            </a:r>
            <a:endParaRPr lang="en-PH" sz="2450" b="0" u="none" strike="noStrike">
              <a:solidFill>
                <a:srgbClr val="000000"/>
              </a:solidFill>
              <a:effectLst/>
              <a:uFillTx/>
              <a:latin typeface="Arial"/>
            </a:endParaRPr>
          </a:p>
        </p:txBody>
      </p:sp>
      <p:sp>
        <p:nvSpPr>
          <p:cNvPr id="654"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Best validation scores per run from results.csv, plus a 12-run latency measurement on a 1280×720 frame.</a:t>
            </a:r>
            <a:endParaRPr lang="en-PH" sz="1080" b="0" u="none" strike="noStrike">
              <a:solidFill>
                <a:srgbClr val="000000"/>
              </a:solidFill>
              <a:effectLst/>
              <a:uFillTx/>
              <a:latin typeface="Arial"/>
            </a:endParaRPr>
          </a:p>
        </p:txBody>
      </p:sp>
      <p:sp>
        <p:nvSpPr>
          <p:cNvPr id="655"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656"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657"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33 / 35</a:t>
            </a:r>
            <a:endParaRPr lang="en-PH" sz="780" b="0" u="none" strike="noStrike">
              <a:solidFill>
                <a:srgbClr val="000000"/>
              </a:solidFill>
              <a:effectLst/>
              <a:uFillTx/>
              <a:latin typeface="Arial"/>
            </a:endParaRPr>
          </a:p>
        </p:txBody>
      </p:sp>
      <p:sp>
        <p:nvSpPr>
          <p:cNvPr id="658" name="Rectangle 9"/>
          <p:cNvSpPr/>
          <p:nvPr/>
        </p:nvSpPr>
        <p:spPr>
          <a:xfrm>
            <a:off x="567000" y="1408320"/>
            <a:ext cx="6811560" cy="29070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659" name="Picture 10" descr="chart_model_comparison.png"/>
          <p:cNvPicPr/>
          <p:nvPr/>
        </p:nvPicPr>
        <p:blipFill>
          <a:blip r:embed="rId1"/>
          <a:stretch/>
        </p:blipFill>
        <p:spPr>
          <a:xfrm>
            <a:off x="960120" y="1454040"/>
            <a:ext cx="6025320" cy="2815560"/>
          </a:xfrm>
          <a:prstGeom prst="rect">
            <a:avLst/>
          </a:prstGeom>
          <a:noFill/>
          <a:ln w="0">
            <a:noFill/>
          </a:ln>
        </p:spPr>
      </p:pic>
      <p:sp>
        <p:nvSpPr>
          <p:cNvPr id="660" name="Rectangle 11"/>
          <p:cNvSpPr/>
          <p:nvPr/>
        </p:nvSpPr>
        <p:spPr>
          <a:xfrm>
            <a:off x="7516440" y="1408320"/>
            <a:ext cx="4095720" cy="210240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661" name="Picture 12" descr="chart_inference_latency.png"/>
          <p:cNvPicPr/>
          <p:nvPr/>
        </p:nvPicPr>
        <p:blipFill>
          <a:blip r:embed="rId2"/>
          <a:stretch/>
        </p:blipFill>
        <p:spPr>
          <a:xfrm>
            <a:off x="7562160" y="1505880"/>
            <a:ext cx="4004280" cy="1906920"/>
          </a:xfrm>
          <a:prstGeom prst="rect">
            <a:avLst/>
          </a:prstGeom>
          <a:noFill/>
          <a:ln w="0">
            <a:noFill/>
          </a:ln>
        </p:spPr>
      </p:pic>
      <p:sp>
        <p:nvSpPr>
          <p:cNvPr id="662" name="TextBox 13"/>
          <p:cNvSpPr/>
          <p:nvPr/>
        </p:nvSpPr>
        <p:spPr>
          <a:xfrm>
            <a:off x="567000" y="4572000"/>
            <a:ext cx="182808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20" b="1" u="none" strike="noStrike">
                <a:solidFill>
                  <a:srgbClr val="F97316"/>
                </a:solidFill>
                <a:effectLst/>
                <a:uFillTx/>
                <a:latin typeface="Arial"/>
              </a:rPr>
              <a:t>HOW TO READ THIS</a:t>
            </a:r>
            <a:endParaRPr lang="en-PH" sz="820" b="0" u="none" strike="noStrike">
              <a:solidFill>
                <a:srgbClr val="000000"/>
              </a:solidFill>
              <a:effectLst/>
              <a:uFillTx/>
              <a:latin typeface="Arial"/>
            </a:endParaRPr>
          </a:p>
        </p:txBody>
      </p:sp>
      <p:sp>
        <p:nvSpPr>
          <p:cNvPr id="663" name="TextBox 14"/>
          <p:cNvSpPr/>
          <p:nvPr/>
        </p:nvSpPr>
        <p:spPr>
          <a:xfrm>
            <a:off x="567000" y="4827960"/>
            <a:ext cx="6765840" cy="141660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0F172A"/>
                </a:solidFill>
                <a:effectLst/>
                <a:uFillTx/>
                <a:latin typeface="Arial"/>
              </a:rPr>
              <a:t>v5-aug and v7-distance both reach mAP50 0.995; </a:t>
            </a:r>
            <a:r>
              <a:rPr lang="en-US" sz="900" b="0" u="none" strike="noStrike">
                <a:solidFill>
                  <a:srgbClr val="475569"/>
                </a:solidFill>
                <a:effectLst/>
                <a:uFillTx/>
                <a:latin typeface="Arial"/>
              </a:rPr>
              <a:t>v5 has the higher mAP50-95 (0.8736 vs 0.8075).</a:t>
            </a:r>
            <a:endParaRPr lang="en-PH" sz="900" b="0" u="none" strike="noStrike">
              <a:solidFill>
                <a:srgbClr val="000000"/>
              </a:solidFill>
              <a:effectLst/>
              <a:uFillTx/>
              <a:latin typeface="Arial"/>
            </a:endParaRPr>
          </a:p>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0F172A"/>
                </a:solidFill>
                <a:effectLst/>
                <a:uFillTx/>
                <a:latin typeface="Arial"/>
              </a:rPr>
              <a:t>v7 was promoted for the distance dataset, </a:t>
            </a:r>
            <a:r>
              <a:rPr lang="en-US" sz="900" b="0" u="none" strike="noStrike">
                <a:solidFill>
                  <a:srgbClr val="475569"/>
                </a:solidFill>
                <a:effectLst/>
                <a:uFillTx/>
                <a:latin typeface="Arial"/>
              </a:rPr>
              <a:t>not because it wins every metric.</a:t>
            </a:r>
            <a:endParaRPr lang="en-PH" sz="900" b="0" u="none" strike="noStrike">
              <a:solidFill>
                <a:srgbClr val="000000"/>
              </a:solidFill>
              <a:effectLst/>
              <a:uFillTx/>
              <a:latin typeface="Arial"/>
            </a:endParaRPr>
          </a:p>
          <a:p>
            <a:pPr defTabSz="457200">
              <a:lnSpc>
                <a:spcPct val="105000"/>
              </a:lnSpc>
              <a:spcAft>
                <a:spcPts val="400"/>
              </a:spcAft>
            </a:pPr>
            <a:r>
              <a:rPr lang="en-US" sz="900" b="1" u="none" strike="noStrike">
                <a:solidFill>
                  <a:srgbClr val="F97316"/>
                </a:solidFill>
                <a:effectLst/>
                <a:uFillTx/>
                <a:latin typeface="Arial"/>
              </a:rPr>
              <a:t>•  </a:t>
            </a:r>
            <a:r>
              <a:rPr lang="en-US" sz="900" b="0" u="none" strike="noStrike">
                <a:solidFill>
                  <a:srgbClr val="0F172A"/>
                </a:solidFill>
                <a:effectLst/>
                <a:uFillTx/>
                <a:latin typeface="Arial"/>
              </a:rPr>
              <a:t>v4-tame collapsed to 0.0585 mAP50; </a:t>
            </a:r>
            <a:r>
              <a:rPr lang="en-US" sz="900" b="0" u="none" strike="noStrike">
                <a:solidFill>
                  <a:srgbClr val="475569"/>
                </a:solidFill>
                <a:effectLst/>
                <a:uFillTx/>
                <a:latin typeface="Arial"/>
              </a:rPr>
              <a:t>it is kept as evidence of an unsuccessful augmentation strategy.</a:t>
            </a:r>
            <a:endParaRPr lang="en-PH" sz="900" b="0" u="none" strike="noStrike">
              <a:solidFill>
                <a:srgbClr val="000000"/>
              </a:solidFill>
              <a:effectLst/>
              <a:uFillTx/>
              <a:latin typeface="Arial"/>
            </a:endParaRPr>
          </a:p>
        </p:txBody>
      </p:sp>
      <p:sp>
        <p:nvSpPr>
          <p:cNvPr id="664" name="Rounded Rectangle 15"/>
          <p:cNvSpPr/>
          <p:nvPr/>
        </p:nvSpPr>
        <p:spPr>
          <a:xfrm>
            <a:off x="7516440" y="3675960"/>
            <a:ext cx="4095720" cy="239508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5" name="TextBox 16"/>
          <p:cNvSpPr/>
          <p:nvPr/>
        </p:nvSpPr>
        <p:spPr>
          <a:xfrm>
            <a:off x="7699320" y="3803760"/>
            <a:ext cx="372996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20" b="1" u="none" strike="noStrike">
                <a:solidFill>
                  <a:srgbClr val="AD4D05"/>
                </a:solidFill>
                <a:effectLst/>
                <a:uFillTx/>
                <a:latin typeface="Arial"/>
              </a:rPr>
              <a:t>Measured latency</a:t>
            </a:r>
            <a:endParaRPr lang="en-PH" sz="1120" b="0" u="none" strike="noStrike">
              <a:solidFill>
                <a:srgbClr val="000000"/>
              </a:solidFill>
              <a:effectLst/>
              <a:uFillTx/>
              <a:latin typeface="Arial"/>
            </a:endParaRPr>
          </a:p>
        </p:txBody>
      </p:sp>
      <p:sp>
        <p:nvSpPr>
          <p:cNvPr id="666" name="TextBox 17"/>
          <p:cNvSpPr/>
          <p:nvPr/>
        </p:nvSpPr>
        <p:spPr>
          <a:xfrm>
            <a:off x="7699320" y="4133160"/>
            <a:ext cx="3729960" cy="566280"/>
          </a:xfrm>
          <a:prstGeom prst="rect">
            <a:avLst/>
          </a:prstGeom>
          <a:noFill/>
          <a:ln w="0">
            <a:noFill/>
          </a:ln>
        </p:spPr>
        <p:style>
          <a:lnRef idx="0"/>
          <a:fillRef idx="0"/>
          <a:effectRef idx="0"/>
          <a:fontRef idx="minor"/>
        </p:style>
        <p:txBody>
          <a:bodyPr lIns="0" tIns="0" rIns="0" bIns="0" anchor="t">
            <a:spAutoFit/>
          </a:bodyPr>
          <a:p>
            <a:pPr defTabSz="457200">
              <a:lnSpc>
                <a:spcPct val="96000"/>
              </a:lnSpc>
            </a:pPr>
            <a:r>
              <a:rPr lang="en-US" sz="1500" b="1" u="none" strike="noStrike">
                <a:solidFill>
                  <a:srgbClr val="0F172A"/>
                </a:solidFill>
                <a:effectLst/>
                <a:uFillTx/>
                <a:latin typeface="Arial"/>
              </a:rPr>
              <a:t>17.22 ms GPU mean</a:t>
            </a:r>
            <a:endParaRPr lang="en-PH" sz="1500" b="0" u="none" strike="noStrike">
              <a:solidFill>
                <a:srgbClr val="000000"/>
              </a:solidFill>
              <a:effectLst/>
              <a:uFillTx/>
              <a:latin typeface="Arial"/>
            </a:endParaRPr>
          </a:p>
          <a:p>
            <a:pPr defTabSz="457200">
              <a:lnSpc>
                <a:spcPct val="96000"/>
              </a:lnSpc>
            </a:pPr>
            <a:r>
              <a:rPr lang="en-US" sz="1500" b="1" u="none" strike="noStrike">
                <a:solidFill>
                  <a:srgbClr val="0F172A"/>
                </a:solidFill>
                <a:effectLst/>
                <a:uFillTx/>
                <a:latin typeface="Arial"/>
              </a:rPr>
              <a:t>302.39 ms CPU mean</a:t>
            </a:r>
            <a:endParaRPr lang="en-PH" sz="1500" b="0" u="none" strike="noStrike">
              <a:solidFill>
                <a:srgbClr val="000000"/>
              </a:solidFill>
              <a:effectLst/>
              <a:uFillTx/>
              <a:latin typeface="Arial"/>
            </a:endParaRPr>
          </a:p>
        </p:txBody>
      </p:sp>
      <p:sp>
        <p:nvSpPr>
          <p:cNvPr id="667" name="TextBox 18"/>
          <p:cNvSpPr/>
          <p:nvPr/>
        </p:nvSpPr>
        <p:spPr>
          <a:xfrm>
            <a:off x="7699320" y="4773240"/>
            <a:ext cx="3729960" cy="1169640"/>
          </a:xfrm>
          <a:prstGeom prst="rect">
            <a:avLst/>
          </a:prstGeom>
          <a:noFill/>
          <a:ln w="0">
            <a:noFill/>
          </a:ln>
        </p:spPr>
        <p:style>
          <a:lnRef idx="0"/>
          <a:fillRef idx="0"/>
          <a:effectRef idx="0"/>
          <a:fontRef idx="minor"/>
        </p:style>
        <p:txBody>
          <a:bodyPr lIns="0" tIns="0" rIns="0" bIns="0" anchor="t">
            <a:spAutoFit/>
          </a:bodyPr>
          <a:p>
            <a:pPr defTabSz="457200">
              <a:lnSpc>
                <a:spcPct val="108000"/>
              </a:lnSpc>
            </a:pPr>
            <a:r>
              <a:rPr lang="en-US" sz="860" b="0" u="none" strike="noStrike">
                <a:solidFill>
                  <a:srgbClr val="475569"/>
                </a:solidFill>
                <a:effectLst/>
                <a:uFillTx/>
                <a:latin typeface="Arial"/>
              </a:rPr>
              <a:t>12 frames after warm-up; p95 18.93 ms GPU, 622.24 ms CPU. At the 12 FPS preview target (83 ms/frame), only the GPU has comfortable headroom.</a:t>
            </a:r>
            <a:endParaRPr lang="en-PH" sz="860" b="0" u="none" strike="noStrike">
              <a:solidFill>
                <a:srgbClr val="000000"/>
              </a:solidFill>
              <a:effectLst/>
              <a:uFillTx/>
              <a:latin typeface="Arial"/>
            </a:endParaRPr>
          </a:p>
        </p:txBody>
      </p:sp>
      <p:sp>
        <p:nvSpPr>
          <p:cNvPr id="668" name="TextBox 19"/>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Latency includes detector pre/post-processing, not camera capture or decode. CPU variance was high (172–992 ms).</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9"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670"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671"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05 · VERIFICATION</a:t>
            </a:r>
            <a:endParaRPr lang="en-PH" sz="880" b="0" u="none" strike="noStrike">
              <a:solidFill>
                <a:srgbClr val="000000"/>
              </a:solidFill>
              <a:effectLst/>
              <a:uFillTx/>
              <a:latin typeface="Arial"/>
            </a:endParaRPr>
          </a:p>
        </p:txBody>
      </p:sp>
      <p:sp>
        <p:nvSpPr>
          <p:cNvPr id="672"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Tests, visible defects and technical debt</a:t>
            </a:r>
            <a:endParaRPr lang="en-PH" sz="2450" b="0" u="none" strike="noStrike">
              <a:solidFill>
                <a:srgbClr val="000000"/>
              </a:solidFill>
              <a:effectLst/>
              <a:uFillTx/>
              <a:latin typeface="Arial"/>
            </a:endParaRPr>
          </a:p>
        </p:txBody>
      </p:sp>
      <p:sp>
        <p:nvSpPr>
          <p:cNvPr id="673"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531 of 553 tests pass. The 22 failures are concentrated in one post-scan workflow file and are not hidden behind an aggregate percentage.</a:t>
            </a:r>
            <a:endParaRPr lang="en-PH" sz="1080" b="0" u="none" strike="noStrike">
              <a:solidFill>
                <a:srgbClr val="000000"/>
              </a:solidFill>
              <a:effectLst/>
              <a:uFillTx/>
              <a:latin typeface="Arial"/>
            </a:endParaRPr>
          </a:p>
        </p:txBody>
      </p:sp>
      <p:sp>
        <p:nvSpPr>
          <p:cNvPr id="674"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675"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676"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34 / 35</a:t>
            </a:r>
            <a:endParaRPr lang="en-PH" sz="780" b="0" u="none" strike="noStrike">
              <a:solidFill>
                <a:srgbClr val="000000"/>
              </a:solidFill>
              <a:effectLst/>
              <a:uFillTx/>
              <a:latin typeface="Arial"/>
            </a:endParaRPr>
          </a:p>
        </p:txBody>
      </p:sp>
      <p:sp>
        <p:nvSpPr>
          <p:cNvPr id="677" name="Rounded Rectangle 9"/>
          <p:cNvSpPr/>
          <p:nvPr/>
        </p:nvSpPr>
        <p:spPr>
          <a:xfrm>
            <a:off x="567000" y="1444680"/>
            <a:ext cx="2331000" cy="1059840"/>
          </a:xfrm>
          <a:prstGeom prst="roundRect">
            <a:avLst>
              <a:gd name="adj" fmla="val 8000"/>
            </a:avLst>
          </a:prstGeom>
          <a:solidFill>
            <a:srgbClr val="DCFCE7"/>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8" name="Rectangle 10"/>
          <p:cNvSpPr/>
          <p:nvPr/>
        </p:nvSpPr>
        <p:spPr>
          <a:xfrm>
            <a:off x="567000" y="1554480"/>
            <a:ext cx="54000" cy="84060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679" name="TextBox 11"/>
          <p:cNvSpPr/>
          <p:nvPr/>
        </p:nvSpPr>
        <p:spPr>
          <a:xfrm>
            <a:off x="749880" y="1609200"/>
            <a:ext cx="201096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531</a:t>
            </a:r>
            <a:endParaRPr lang="en-PH" sz="2500" b="0" u="none" strike="noStrike">
              <a:solidFill>
                <a:srgbClr val="000000"/>
              </a:solidFill>
              <a:effectLst/>
              <a:uFillTx/>
              <a:latin typeface="Arial"/>
            </a:endParaRPr>
          </a:p>
        </p:txBody>
      </p:sp>
      <p:sp>
        <p:nvSpPr>
          <p:cNvPr id="680" name="TextBox 12"/>
          <p:cNvSpPr/>
          <p:nvPr/>
        </p:nvSpPr>
        <p:spPr>
          <a:xfrm>
            <a:off x="749880" y="2084760"/>
            <a:ext cx="201096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PASSED</a:t>
            </a:r>
            <a:endParaRPr lang="en-PH" sz="839" b="0" u="none" strike="noStrike">
              <a:solidFill>
                <a:srgbClr val="000000"/>
              </a:solidFill>
              <a:effectLst/>
              <a:uFillTx/>
              <a:latin typeface="Arial"/>
            </a:endParaRPr>
          </a:p>
        </p:txBody>
      </p:sp>
      <p:sp>
        <p:nvSpPr>
          <p:cNvPr id="681" name="TextBox 13"/>
          <p:cNvSpPr/>
          <p:nvPr/>
        </p:nvSpPr>
        <p:spPr>
          <a:xfrm>
            <a:off x="749880" y="2340720"/>
            <a:ext cx="2010960" cy="1274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183.66 s runtime</a:t>
            </a:r>
            <a:endParaRPr lang="en-PH" sz="860" b="0" u="none" strike="noStrike">
              <a:solidFill>
                <a:srgbClr val="000000"/>
              </a:solidFill>
              <a:effectLst/>
              <a:uFillTx/>
              <a:latin typeface="Arial"/>
            </a:endParaRPr>
          </a:p>
        </p:txBody>
      </p:sp>
      <p:sp>
        <p:nvSpPr>
          <p:cNvPr id="682" name="Rounded Rectangle 14"/>
          <p:cNvSpPr/>
          <p:nvPr/>
        </p:nvSpPr>
        <p:spPr>
          <a:xfrm>
            <a:off x="3035880" y="1444680"/>
            <a:ext cx="2331000" cy="1059840"/>
          </a:xfrm>
          <a:prstGeom prst="roundRect">
            <a:avLst>
              <a:gd name="adj" fmla="val 8000"/>
            </a:avLst>
          </a:prstGeom>
          <a:solidFill>
            <a:srgbClr val="FEE2E2"/>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3" name="Rectangle 15"/>
          <p:cNvSpPr/>
          <p:nvPr/>
        </p:nvSpPr>
        <p:spPr>
          <a:xfrm>
            <a:off x="3035880" y="1554480"/>
            <a:ext cx="54000" cy="840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684" name="TextBox 16"/>
          <p:cNvSpPr/>
          <p:nvPr/>
        </p:nvSpPr>
        <p:spPr>
          <a:xfrm>
            <a:off x="3218760" y="1609200"/>
            <a:ext cx="201096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22</a:t>
            </a:r>
            <a:endParaRPr lang="en-PH" sz="2500" b="0" u="none" strike="noStrike">
              <a:solidFill>
                <a:srgbClr val="000000"/>
              </a:solidFill>
              <a:effectLst/>
              <a:uFillTx/>
              <a:latin typeface="Arial"/>
            </a:endParaRPr>
          </a:p>
        </p:txBody>
      </p:sp>
      <p:sp>
        <p:nvSpPr>
          <p:cNvPr id="685" name="TextBox 17"/>
          <p:cNvSpPr/>
          <p:nvPr/>
        </p:nvSpPr>
        <p:spPr>
          <a:xfrm>
            <a:off x="3218760" y="2084760"/>
            <a:ext cx="201096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FAILED</a:t>
            </a:r>
            <a:endParaRPr lang="en-PH" sz="839" b="0" u="none" strike="noStrike">
              <a:solidFill>
                <a:srgbClr val="000000"/>
              </a:solidFill>
              <a:effectLst/>
              <a:uFillTx/>
              <a:latin typeface="Arial"/>
            </a:endParaRPr>
          </a:p>
        </p:txBody>
      </p:sp>
      <p:sp>
        <p:nvSpPr>
          <p:cNvPr id="686" name="TextBox 18"/>
          <p:cNvSpPr/>
          <p:nvPr/>
        </p:nvSpPr>
        <p:spPr>
          <a:xfrm>
            <a:off x="3218760" y="2340720"/>
            <a:ext cx="2010960" cy="1274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all in post-scan workflow</a:t>
            </a:r>
            <a:endParaRPr lang="en-PH" sz="860" b="0" u="none" strike="noStrike">
              <a:solidFill>
                <a:srgbClr val="000000"/>
              </a:solidFill>
              <a:effectLst/>
              <a:uFillTx/>
              <a:latin typeface="Arial"/>
            </a:endParaRPr>
          </a:p>
        </p:txBody>
      </p:sp>
      <p:sp>
        <p:nvSpPr>
          <p:cNvPr id="687" name="Rounded Rectangle 19"/>
          <p:cNvSpPr/>
          <p:nvPr/>
        </p:nvSpPr>
        <p:spPr>
          <a:xfrm>
            <a:off x="5504760" y="1444680"/>
            <a:ext cx="2331000" cy="1059840"/>
          </a:xfrm>
          <a:prstGeom prst="roundRect">
            <a:avLst>
              <a:gd name="adj" fmla="val 8000"/>
            </a:avLst>
          </a:prstGeom>
          <a:solidFill>
            <a:srgbClr val="FFF7ED"/>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8" name="Rectangle 20"/>
          <p:cNvSpPr/>
          <p:nvPr/>
        </p:nvSpPr>
        <p:spPr>
          <a:xfrm>
            <a:off x="5504760" y="1554480"/>
            <a:ext cx="54000" cy="84060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689" name="TextBox 21"/>
          <p:cNvSpPr/>
          <p:nvPr/>
        </p:nvSpPr>
        <p:spPr>
          <a:xfrm>
            <a:off x="5687640" y="1609200"/>
            <a:ext cx="2010960" cy="474840"/>
          </a:xfrm>
          <a:prstGeom prst="rect">
            <a:avLst/>
          </a:prstGeom>
          <a:noFill/>
          <a:ln w="0">
            <a:noFill/>
          </a:ln>
        </p:spPr>
        <p:style>
          <a:lnRef idx="0"/>
          <a:fillRef idx="0"/>
          <a:effectRef idx="0"/>
          <a:fontRef idx="minor"/>
        </p:style>
        <p:txBody>
          <a:bodyPr lIns="0" tIns="0" rIns="0" bIns="0" anchor="t">
            <a:spAutoFit/>
          </a:bodyPr>
          <a:p>
            <a:pPr defTabSz="457200">
              <a:lnSpc>
                <a:spcPct val="90000"/>
              </a:lnSpc>
            </a:pPr>
            <a:r>
              <a:rPr lang="en-US" sz="2500" b="1" u="none" strike="noStrike">
                <a:solidFill>
                  <a:srgbClr val="0F172A"/>
                </a:solidFill>
                <a:effectLst/>
                <a:uFillTx/>
                <a:latin typeface="Arial"/>
              </a:rPr>
              <a:t>553</a:t>
            </a:r>
            <a:endParaRPr lang="en-PH" sz="2500" b="0" u="none" strike="noStrike">
              <a:solidFill>
                <a:srgbClr val="000000"/>
              </a:solidFill>
              <a:effectLst/>
              <a:uFillTx/>
              <a:latin typeface="Arial"/>
            </a:endParaRPr>
          </a:p>
        </p:txBody>
      </p:sp>
      <p:sp>
        <p:nvSpPr>
          <p:cNvPr id="690" name="TextBox 22"/>
          <p:cNvSpPr/>
          <p:nvPr/>
        </p:nvSpPr>
        <p:spPr>
          <a:xfrm>
            <a:off x="5687640" y="2084760"/>
            <a:ext cx="201096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39" b="1" u="none" strike="noStrike">
                <a:solidFill>
                  <a:srgbClr val="AD4D05"/>
                </a:solidFill>
                <a:effectLst/>
                <a:uFillTx/>
                <a:latin typeface="Arial"/>
              </a:rPr>
              <a:t>COLLECTED</a:t>
            </a:r>
            <a:endParaRPr lang="en-PH" sz="839" b="0" u="none" strike="noStrike">
              <a:solidFill>
                <a:srgbClr val="000000"/>
              </a:solidFill>
              <a:effectLst/>
              <a:uFillTx/>
              <a:latin typeface="Arial"/>
            </a:endParaRPr>
          </a:p>
        </p:txBody>
      </p:sp>
      <p:sp>
        <p:nvSpPr>
          <p:cNvPr id="691" name="TextBox 23"/>
          <p:cNvSpPr/>
          <p:nvPr/>
        </p:nvSpPr>
        <p:spPr>
          <a:xfrm>
            <a:off x="5687640" y="2340720"/>
            <a:ext cx="2010960" cy="1274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60" b="0" u="none" strike="noStrike">
                <a:solidFill>
                  <a:srgbClr val="475569"/>
                </a:solidFill>
                <a:effectLst/>
                <a:uFillTx/>
                <a:latin typeface="Arial"/>
              </a:rPr>
              <a:t>pytest 9.1.1</a:t>
            </a:r>
            <a:endParaRPr lang="en-PH" sz="860" b="0" u="none" strike="noStrike">
              <a:solidFill>
                <a:srgbClr val="000000"/>
              </a:solidFill>
              <a:effectLst/>
              <a:uFillTx/>
              <a:latin typeface="Arial"/>
            </a:endParaRPr>
          </a:p>
        </p:txBody>
      </p:sp>
      <p:sp>
        <p:nvSpPr>
          <p:cNvPr id="692" name="Rectangle 24"/>
          <p:cNvSpPr/>
          <p:nvPr/>
        </p:nvSpPr>
        <p:spPr>
          <a:xfrm>
            <a:off x="8046720" y="1444680"/>
            <a:ext cx="3565440" cy="2230560"/>
          </a:xfrm>
          <a:prstGeom prst="rect">
            <a:avLst/>
          </a:prstGeom>
          <a:solidFill>
            <a:srgbClr val="FFFFFF"/>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693" name="Picture 25" descr="01_dashboard.png"/>
          <p:cNvPicPr/>
          <p:nvPr/>
        </p:nvPicPr>
        <p:blipFill>
          <a:blip r:embed="rId1"/>
          <a:stretch/>
        </p:blipFill>
        <p:spPr>
          <a:xfrm>
            <a:off x="8088840" y="1472040"/>
            <a:ext cx="3481200" cy="2175480"/>
          </a:xfrm>
          <a:prstGeom prst="rect">
            <a:avLst/>
          </a:prstGeom>
          <a:noFill/>
          <a:ln w="0">
            <a:noFill/>
          </a:ln>
        </p:spPr>
      </p:pic>
      <p:sp>
        <p:nvSpPr>
          <p:cNvPr id="694" name="TextBox 26"/>
          <p:cNvSpPr/>
          <p:nvPr/>
        </p:nvSpPr>
        <p:spPr>
          <a:xfrm>
            <a:off x="567000" y="2697480"/>
            <a:ext cx="7314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20" b="1" u="none" strike="noStrike">
                <a:solidFill>
                  <a:srgbClr val="AD4D05"/>
                </a:solidFill>
                <a:effectLst/>
                <a:uFillTx/>
                <a:latin typeface="Arial"/>
              </a:rPr>
              <a:t>Reproduced product defects</a:t>
            </a:r>
            <a:endParaRPr lang="en-PH" sz="1020" b="0" u="none" strike="noStrike">
              <a:solidFill>
                <a:srgbClr val="000000"/>
              </a:solidFill>
              <a:effectLst/>
              <a:uFillTx/>
              <a:latin typeface="Arial"/>
            </a:endParaRPr>
          </a:p>
        </p:txBody>
      </p:sp>
      <p:sp>
        <p:nvSpPr>
          <p:cNvPr id="695" name="TextBox 27"/>
          <p:cNvSpPr/>
          <p:nvPr/>
        </p:nvSpPr>
        <p:spPr>
          <a:xfrm>
            <a:off x="567000" y="2971800"/>
            <a:ext cx="7268760" cy="148068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00"/>
              </a:spcAft>
            </a:pPr>
            <a:r>
              <a:rPr lang="en-US" sz="910" b="1" u="none" strike="noStrike">
                <a:solidFill>
                  <a:srgbClr val="DC2626"/>
                </a:solidFill>
                <a:effectLst/>
                <a:uFillTx/>
                <a:latin typeface="Arial"/>
              </a:rPr>
              <a:t>•  </a:t>
            </a:r>
            <a:r>
              <a:rPr lang="en-US" sz="910" b="0" u="none" strike="noStrike">
                <a:solidFill>
                  <a:srgbClr val="0F172A"/>
                </a:solidFill>
                <a:effectLst/>
                <a:uFillTx/>
                <a:latin typeface="Arial"/>
              </a:rPr>
              <a:t>Dashboard table: </a:t>
            </a:r>
            <a:r>
              <a:rPr lang="en-US" sz="910" b="0" u="none" strike="noStrike">
                <a:solidFill>
                  <a:srgbClr val="475569"/>
                </a:solidFill>
                <a:effectLst/>
                <a:uFillTx/>
                <a:latin typeface="Arial"/>
              </a:rPr>
              <a:t>TypeError — set_cell() got an unexpected keyword argument 'family'.</a:t>
            </a:r>
            <a:endParaRPr lang="en-PH" sz="910" b="0" u="none" strike="noStrike">
              <a:solidFill>
                <a:srgbClr val="000000"/>
              </a:solidFill>
              <a:effectLst/>
              <a:uFillTx/>
              <a:latin typeface="Arial"/>
            </a:endParaRPr>
          </a:p>
          <a:p>
            <a:pPr defTabSz="457200">
              <a:lnSpc>
                <a:spcPct val="105000"/>
              </a:lnSpc>
              <a:spcAft>
                <a:spcPts val="400"/>
              </a:spcAft>
            </a:pPr>
            <a:r>
              <a:rPr lang="en-US" sz="910" b="1" u="none" strike="noStrike">
                <a:solidFill>
                  <a:srgbClr val="DC2626"/>
                </a:solidFill>
                <a:effectLst/>
                <a:uFillTx/>
                <a:latin typeface="Arial"/>
              </a:rPr>
              <a:t>•  </a:t>
            </a:r>
            <a:r>
              <a:rPr lang="en-US" sz="910" b="0" u="none" strike="noStrike">
                <a:solidFill>
                  <a:srgbClr val="0F172A"/>
                </a:solidFill>
                <a:effectLst/>
                <a:uFillTx/>
                <a:latin typeface="Arial"/>
              </a:rPr>
              <a:t>ID-card preview: </a:t>
            </a:r>
            <a:r>
              <a:rPr lang="en-US" sz="910" b="0" u="none" strike="noStrike">
                <a:solidFill>
                  <a:srgbClr val="475569"/>
                </a:solidFill>
                <a:effectLst/>
                <a:uFillTx/>
                <a:latin typeface="Arial"/>
              </a:rPr>
              <a:t>UnboundLocalError — QImage is referenced before assignment.</a:t>
            </a:r>
            <a:endParaRPr lang="en-PH" sz="910" b="0" u="none" strike="noStrike">
              <a:solidFill>
                <a:srgbClr val="000000"/>
              </a:solidFill>
              <a:effectLst/>
              <a:uFillTx/>
              <a:latin typeface="Arial"/>
            </a:endParaRPr>
          </a:p>
          <a:p>
            <a:pPr defTabSz="457200">
              <a:lnSpc>
                <a:spcPct val="105000"/>
              </a:lnSpc>
              <a:spcAft>
                <a:spcPts val="400"/>
              </a:spcAft>
            </a:pPr>
            <a:r>
              <a:rPr lang="en-US" sz="910" b="1" u="none" strike="noStrike">
                <a:solidFill>
                  <a:srgbClr val="DC2626"/>
                </a:solidFill>
                <a:effectLst/>
                <a:uFillTx/>
                <a:latin typeface="Arial"/>
              </a:rPr>
              <a:t>•  </a:t>
            </a:r>
            <a:r>
              <a:rPr lang="en-US" sz="910" b="0" u="none" strike="noStrike">
                <a:solidFill>
                  <a:srgbClr val="0F172A"/>
                </a:solidFill>
                <a:effectLst/>
                <a:uFillTx/>
                <a:latin typeface="Arial"/>
              </a:rPr>
              <a:t>Rendered card barcode: </a:t>
            </a:r>
            <a:r>
              <a:rPr lang="en-US" sz="910" b="0" u="none" strike="noStrike">
                <a:solidFill>
                  <a:srgbClr val="475569"/>
                </a:solidFill>
                <a:effectLst/>
                <a:uFillTx/>
                <a:latin typeface="Arial"/>
              </a:rPr>
              <a:t>re-decode returns nothing, so the service's own verification fails.</a:t>
            </a:r>
            <a:endParaRPr lang="en-PH" sz="910" b="0" u="none" strike="noStrike">
              <a:solidFill>
                <a:srgbClr val="000000"/>
              </a:solidFill>
              <a:effectLst/>
              <a:uFillTx/>
              <a:latin typeface="Arial"/>
            </a:endParaRPr>
          </a:p>
        </p:txBody>
      </p:sp>
      <p:sp>
        <p:nvSpPr>
          <p:cNvPr id="696" name="TextBox 28"/>
          <p:cNvSpPr/>
          <p:nvPr/>
        </p:nvSpPr>
        <p:spPr>
          <a:xfrm>
            <a:off x="567000" y="4553640"/>
            <a:ext cx="7314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20" b="1" u="none" strike="noStrike">
                <a:solidFill>
                  <a:srgbClr val="AD4D05"/>
                </a:solidFill>
                <a:effectLst/>
                <a:uFillTx/>
                <a:latin typeface="Arial"/>
              </a:rPr>
              <a:t>Test failures and debt</a:t>
            </a:r>
            <a:endParaRPr lang="en-PH" sz="1020" b="0" u="none" strike="noStrike">
              <a:solidFill>
                <a:srgbClr val="000000"/>
              </a:solidFill>
              <a:effectLst/>
              <a:uFillTx/>
              <a:latin typeface="Arial"/>
            </a:endParaRPr>
          </a:p>
        </p:txBody>
      </p:sp>
      <p:sp>
        <p:nvSpPr>
          <p:cNvPr id="697" name="TextBox 29"/>
          <p:cNvSpPr/>
          <p:nvPr/>
        </p:nvSpPr>
        <p:spPr>
          <a:xfrm>
            <a:off x="567000" y="4827960"/>
            <a:ext cx="7268760" cy="144396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00"/>
              </a:spcAft>
            </a:pPr>
            <a:r>
              <a:rPr lang="en-US" sz="910" b="1" u="none" strike="noStrike">
                <a:solidFill>
                  <a:srgbClr val="F97316"/>
                </a:solidFill>
                <a:effectLst/>
                <a:uFillTx/>
                <a:latin typeface="Arial"/>
              </a:rPr>
              <a:t>•  </a:t>
            </a:r>
            <a:r>
              <a:rPr lang="en-US" sz="910" b="0" u="none" strike="noStrike">
                <a:solidFill>
                  <a:srgbClr val="0F172A"/>
                </a:solidFill>
                <a:effectLst/>
                <a:uFillTx/>
                <a:latin typeface="Arial"/>
              </a:rPr>
              <a:t>22/22 failures </a:t>
            </a:r>
            <a:r>
              <a:rPr lang="en-US" sz="910" b="0" u="none" strike="noStrike">
                <a:solidFill>
                  <a:srgbClr val="475569"/>
                </a:solidFill>
                <a:effectLst/>
                <a:uFillTx/>
                <a:latin typeface="Arial"/>
              </a:rPr>
              <a:t>are in tests/test_scan_post_scan_workflow.py (panel state, history insert, latch, async records).</a:t>
            </a:r>
            <a:endParaRPr lang="en-PH" sz="910" b="0" u="none" strike="noStrike">
              <a:solidFill>
                <a:srgbClr val="000000"/>
              </a:solidFill>
              <a:effectLst/>
              <a:uFillTx/>
              <a:latin typeface="Arial"/>
            </a:endParaRPr>
          </a:p>
          <a:p>
            <a:pPr defTabSz="457200">
              <a:lnSpc>
                <a:spcPct val="105000"/>
              </a:lnSpc>
              <a:spcAft>
                <a:spcPts val="400"/>
              </a:spcAft>
            </a:pPr>
            <a:r>
              <a:rPr lang="en-US" sz="910" b="1" u="none" strike="noStrike">
                <a:solidFill>
                  <a:srgbClr val="F97316"/>
                </a:solidFill>
                <a:effectLst/>
                <a:uFillTx/>
                <a:latin typeface="Arial"/>
              </a:rPr>
              <a:t>•  </a:t>
            </a:r>
            <a:r>
              <a:rPr lang="en-US" sz="910" b="0" u="none" strike="noStrike">
                <a:solidFill>
                  <a:srgbClr val="0F172A"/>
                </a:solidFill>
                <a:effectLst/>
                <a:uFillTx/>
                <a:latin typeface="Arial"/>
              </a:rPr>
              <a:t>Training Center </a:t>
            </a:r>
            <a:r>
              <a:rPr lang="en-US" sz="910" b="0" u="none" strike="noStrike">
                <a:solidFill>
                  <a:srgbClr val="475569"/>
                </a:solidFill>
                <a:effectLst/>
                <a:uFillTx/>
                <a:latin typeface="Arial"/>
              </a:rPr>
              <a:t>shows 0 images while 2,551 files exist, because it reads dataset_images (0 rows).</a:t>
            </a:r>
            <a:endParaRPr lang="en-PH" sz="910" b="0" u="none" strike="noStrike">
              <a:solidFill>
                <a:srgbClr val="000000"/>
              </a:solidFill>
              <a:effectLst/>
              <a:uFillTx/>
              <a:latin typeface="Arial"/>
            </a:endParaRPr>
          </a:p>
          <a:p>
            <a:pPr defTabSz="457200">
              <a:lnSpc>
                <a:spcPct val="105000"/>
              </a:lnSpc>
              <a:spcAft>
                <a:spcPts val="400"/>
              </a:spcAft>
            </a:pPr>
            <a:r>
              <a:rPr lang="en-US" sz="910" b="1" u="none" strike="noStrike">
                <a:solidFill>
                  <a:srgbClr val="F97316"/>
                </a:solidFill>
                <a:effectLst/>
                <a:uFillTx/>
                <a:latin typeface="Arial"/>
              </a:rPr>
              <a:t>•  </a:t>
            </a:r>
            <a:r>
              <a:rPr lang="en-US" sz="910" b="0" u="none" strike="noStrike">
                <a:solidFill>
                  <a:srgbClr val="0F172A"/>
                </a:solidFill>
                <a:effectLst/>
                <a:uFillTx/>
                <a:latin typeface="Arial"/>
              </a:rPr>
              <a:t>Unrouted generator; </a:t>
            </a:r>
            <a:r>
              <a:rPr lang="en-US" sz="910" b="0" u="none" strike="noStrike">
                <a:solidFill>
                  <a:srgbClr val="475569"/>
                </a:solidFill>
                <a:effectLst/>
                <a:uFillTx/>
                <a:latin typeface="Arial"/>
              </a:rPr>
              <a:t>stub logout; no auth; core dataset lacks a test split.</a:t>
            </a:r>
            <a:endParaRPr lang="en-PH" sz="910" b="0" u="none" strike="noStrike">
              <a:solidFill>
                <a:srgbClr val="000000"/>
              </a:solidFill>
              <a:effectLst/>
              <a:uFillTx/>
              <a:latin typeface="Arial"/>
            </a:endParaRPr>
          </a:p>
        </p:txBody>
      </p:sp>
      <p:sp>
        <p:nvSpPr>
          <p:cNvPr id="698" name="TextBox 30"/>
          <p:cNvSpPr/>
          <p:nvPr/>
        </p:nvSpPr>
        <p:spPr>
          <a:xfrm>
            <a:off x="8046720" y="3785760"/>
            <a:ext cx="3565440" cy="233100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860" b="0" u="none" strike="noStrike">
                <a:solidFill>
                  <a:srgbClr val="475569"/>
                </a:solidFill>
                <a:effectLst/>
                <a:uFillTx/>
                <a:latin typeface="Arial"/>
              </a:rPr>
              <a:t>The dashboard screenshot at right is the real failure state: the UI labels a Python TypeError as “Cannot reach the database”, which is itself a misleading error contract.</a:t>
            </a:r>
            <a:endParaRPr lang="en-PH" sz="860" b="0" u="none" strike="noStrike">
              <a:solidFill>
                <a:srgbClr val="000000"/>
              </a:solidFill>
              <a:effectLst/>
              <a:uFillTx/>
              <a:latin typeface="Arial"/>
            </a:endParaRPr>
          </a:p>
          <a:p>
            <a:pPr defTabSz="457200">
              <a:lnSpc>
                <a:spcPct val="110000"/>
              </a:lnSpc>
            </a:pPr>
            <a:endParaRPr lang="en-PH" sz="860" b="0" u="none" strike="noStrike">
              <a:solidFill>
                <a:srgbClr val="000000"/>
              </a:solidFill>
              <a:effectLst/>
              <a:uFillTx/>
              <a:latin typeface="Arial"/>
            </a:endParaRPr>
          </a:p>
          <a:p>
            <a:pPr defTabSz="457200">
              <a:lnSpc>
                <a:spcPct val="110000"/>
              </a:lnSpc>
            </a:pPr>
            <a:r>
              <a:rPr lang="en-US" sz="860" b="0" u="none" strike="noStrike">
                <a:solidFill>
                  <a:srgbClr val="475569"/>
                </a:solidFill>
                <a:effectLst/>
                <a:uFillTx/>
                <a:latin typeface="Arial"/>
              </a:rPr>
              <a:t>None of the 531 passing tests exercises the ID-card decode-back check or the dashboard table.</a:t>
            </a:r>
            <a:endParaRPr lang="en-PH" sz="860" b="0" u="none" strike="noStrike">
              <a:solidFill>
                <a:srgbClr val="000000"/>
              </a:solidFill>
              <a:effectLst/>
              <a:uFillTx/>
              <a:latin typeface="Arial"/>
            </a:endParaRPr>
          </a:p>
        </p:txBody>
      </p:sp>
      <p:sp>
        <p:nvSpPr>
          <p:cNvPr id="699" name="TextBox 31"/>
          <p:cNvSpPr/>
          <p:nvPr/>
        </p:nvSpPr>
        <p:spPr>
          <a:xfrm>
            <a:off x="567000" y="6236280"/>
            <a:ext cx="110570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40" b="0" i="1" u="none" strike="noStrike">
                <a:solidFill>
                  <a:srgbClr val="64748B"/>
                </a:solidFill>
                <a:effectLst/>
                <a:uFillTx/>
                <a:latin typeface="Arial"/>
              </a:rPr>
              <a:t>Command: venv/bin/python -m pytest tests/ -q. Full log: presentation/tools/pytest_output.txt.</a:t>
            </a:r>
            <a:endParaRPr lang="en-PH" sz="74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0" name="Rectangle 1"/>
          <p:cNvSpPr/>
          <p:nvPr/>
        </p:nvSpPr>
        <p:spPr>
          <a:xfrm>
            <a:off x="0" y="0"/>
            <a:ext cx="12191040" cy="680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3760" rIns="90000" bIns="23760" anchor="ctr">
            <a:noAutofit/>
          </a:bodyPr>
          <a:p>
            <a:endParaRPr lang="en-US" sz="1800" b="0" u="none" strike="noStrike">
              <a:solidFill>
                <a:schemeClr val="lt1"/>
              </a:solidFill>
              <a:effectLst/>
              <a:uFillTx/>
              <a:latin typeface="Calibri"/>
            </a:endParaRPr>
          </a:p>
        </p:txBody>
      </p:sp>
      <p:sp>
        <p:nvSpPr>
          <p:cNvPr id="701" name="Rectangle 2"/>
          <p:cNvSpPr/>
          <p:nvPr/>
        </p:nvSpPr>
        <p:spPr>
          <a:xfrm>
            <a:off x="567000" y="274320"/>
            <a:ext cx="49680" cy="24624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800" b="0" u="none" strike="noStrike">
              <a:solidFill>
                <a:schemeClr val="lt1"/>
              </a:solidFill>
              <a:effectLst/>
              <a:uFillTx/>
              <a:latin typeface="Calibri"/>
            </a:endParaRPr>
          </a:p>
        </p:txBody>
      </p:sp>
      <p:sp>
        <p:nvSpPr>
          <p:cNvPr id="702" name="TextBox 3"/>
          <p:cNvSpPr/>
          <p:nvPr/>
        </p:nvSpPr>
        <p:spPr>
          <a:xfrm>
            <a:off x="685800" y="246960"/>
            <a:ext cx="96004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0" b="1" u="none" strike="noStrike">
                <a:solidFill>
                  <a:srgbClr val="AD4D05"/>
                </a:solidFill>
                <a:effectLst/>
                <a:uFillTx/>
                <a:latin typeface="Arial"/>
              </a:rPr>
              <a:t>05 · ROADMAP</a:t>
            </a:r>
            <a:endParaRPr lang="en-PH" sz="880" b="0" u="none" strike="noStrike">
              <a:solidFill>
                <a:srgbClr val="000000"/>
              </a:solidFill>
              <a:effectLst/>
              <a:uFillTx/>
              <a:latin typeface="Arial"/>
            </a:endParaRPr>
          </a:p>
        </p:txBody>
      </p:sp>
      <p:sp>
        <p:nvSpPr>
          <p:cNvPr id="703" name="TextBox 4"/>
          <p:cNvSpPr/>
          <p:nvPr/>
        </p:nvSpPr>
        <p:spPr>
          <a:xfrm>
            <a:off x="567000" y="484560"/>
            <a:ext cx="11063520" cy="566280"/>
          </a:xfrm>
          <a:prstGeom prst="rect">
            <a:avLst/>
          </a:prstGeom>
          <a:noFill/>
          <a:ln w="0">
            <a:noFill/>
          </a:ln>
        </p:spPr>
        <p:style>
          <a:lnRef idx="0"/>
          <a:fillRef idx="0"/>
          <a:effectRef idx="0"/>
          <a:fontRef idx="minor"/>
        </p:style>
        <p:txBody>
          <a:bodyPr lIns="0" tIns="0" rIns="0" bIns="0" anchor="t">
            <a:spAutoFit/>
          </a:bodyPr>
          <a:p>
            <a:pPr defTabSz="457200">
              <a:lnSpc>
                <a:spcPct val="92000"/>
              </a:lnSpc>
            </a:pPr>
            <a:r>
              <a:rPr lang="en-US" sz="2450" b="1" u="none" strike="noStrike">
                <a:solidFill>
                  <a:srgbClr val="0F172A"/>
                </a:solidFill>
                <a:effectLst/>
                <a:uFillTx/>
                <a:latin typeface="Arial"/>
              </a:rPr>
              <a:t>What to fix first, and what the system already proves</a:t>
            </a:r>
            <a:endParaRPr lang="en-PH" sz="2450" b="0" u="none" strike="noStrike">
              <a:solidFill>
                <a:srgbClr val="000000"/>
              </a:solidFill>
              <a:effectLst/>
              <a:uFillTx/>
              <a:latin typeface="Arial"/>
            </a:endParaRPr>
          </a:p>
        </p:txBody>
      </p:sp>
      <p:sp>
        <p:nvSpPr>
          <p:cNvPr id="704" name="TextBox 5"/>
          <p:cNvSpPr/>
          <p:nvPr/>
        </p:nvSpPr>
        <p:spPr>
          <a:xfrm>
            <a:off x="567000" y="1033200"/>
            <a:ext cx="1106352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0" u="none" strike="noStrike">
                <a:solidFill>
                  <a:srgbClr val="475569"/>
                </a:solidFill>
                <a:effectLst/>
                <a:uFillTx/>
                <a:latin typeface="Arial"/>
              </a:rPr>
              <a:t>The core is demonstrable today. The remaining work is bounded, testable and mostly UI-level.</a:t>
            </a:r>
            <a:endParaRPr lang="en-PH" sz="1080" b="0" u="none" strike="noStrike">
              <a:solidFill>
                <a:srgbClr val="000000"/>
              </a:solidFill>
              <a:effectLst/>
              <a:uFillTx/>
              <a:latin typeface="Arial"/>
            </a:endParaRPr>
          </a:p>
        </p:txBody>
      </p:sp>
      <p:sp>
        <p:nvSpPr>
          <p:cNvPr id="705" name="Rectangle 6"/>
          <p:cNvSpPr/>
          <p:nvPr/>
        </p:nvSpPr>
        <p:spPr>
          <a:xfrm>
            <a:off x="567000" y="6492240"/>
            <a:ext cx="1105704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706" name="TextBox 7"/>
          <p:cNvSpPr/>
          <p:nvPr/>
        </p:nvSpPr>
        <p:spPr>
          <a:xfrm>
            <a:off x="567000" y="6546960"/>
            <a:ext cx="7863120" cy="200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u="none" strike="noStrike">
                <a:solidFill>
                  <a:srgbClr val="64748B"/>
                </a:solidFill>
                <a:effectLst/>
                <a:uFillTx/>
                <a:latin typeface="Arial"/>
              </a:rPr>
              <a:t>WIT Barcode Student Information System  ·  Technical Presentation  ·  October 2026</a:t>
            </a:r>
            <a:endParaRPr lang="en-PH" sz="780" b="0" u="none" strike="noStrike">
              <a:solidFill>
                <a:srgbClr val="000000"/>
              </a:solidFill>
              <a:effectLst/>
              <a:uFillTx/>
              <a:latin typeface="Arial"/>
            </a:endParaRPr>
          </a:p>
        </p:txBody>
      </p:sp>
      <p:sp>
        <p:nvSpPr>
          <p:cNvPr id="707" name="TextBox 8"/>
          <p:cNvSpPr/>
          <p:nvPr/>
        </p:nvSpPr>
        <p:spPr>
          <a:xfrm>
            <a:off x="10436040" y="6546960"/>
            <a:ext cx="1188000" cy="200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780" b="0" u="none" strike="noStrike">
                <a:solidFill>
                  <a:srgbClr val="64748B"/>
                </a:solidFill>
                <a:effectLst/>
                <a:uFillTx/>
                <a:latin typeface="Arial"/>
              </a:rPr>
              <a:t>35 / 35</a:t>
            </a:r>
            <a:endParaRPr lang="en-PH" sz="780" b="0" u="none" strike="noStrike">
              <a:solidFill>
                <a:srgbClr val="000000"/>
              </a:solidFill>
              <a:effectLst/>
              <a:uFillTx/>
              <a:latin typeface="Arial"/>
            </a:endParaRPr>
          </a:p>
        </p:txBody>
      </p:sp>
      <p:sp>
        <p:nvSpPr>
          <p:cNvPr id="708" name="Rounded Rectangle 9"/>
          <p:cNvSpPr/>
          <p:nvPr/>
        </p:nvSpPr>
        <p:spPr>
          <a:xfrm>
            <a:off x="567000" y="1499760"/>
            <a:ext cx="3565440" cy="3309480"/>
          </a:xfrm>
          <a:prstGeom prst="roundRect">
            <a:avLst>
              <a:gd name="adj" fmla="val 8000"/>
            </a:avLst>
          </a:prstGeom>
          <a:solidFill>
            <a:srgbClr val="F8FAFC"/>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9" name="Rectangle 10"/>
          <p:cNvSpPr/>
          <p:nvPr/>
        </p:nvSpPr>
        <p:spPr>
          <a:xfrm>
            <a:off x="567000" y="1499760"/>
            <a:ext cx="3565440" cy="7236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710" name="TextBox 11"/>
          <p:cNvSpPr/>
          <p:nvPr/>
        </p:nvSpPr>
        <p:spPr>
          <a:xfrm>
            <a:off x="768240" y="1700640"/>
            <a:ext cx="316296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1" u="none" strike="noStrike">
                <a:solidFill>
                  <a:srgbClr val="0F172A"/>
                </a:solidFill>
                <a:effectLst/>
                <a:uFillTx/>
                <a:latin typeface="Arial"/>
              </a:rPr>
              <a:t>NOW · correctness</a:t>
            </a:r>
            <a:endParaRPr lang="en-PH" sz="1080" b="0" u="none" strike="noStrike">
              <a:solidFill>
                <a:srgbClr val="000000"/>
              </a:solidFill>
              <a:effectLst/>
              <a:uFillTx/>
              <a:latin typeface="Arial"/>
            </a:endParaRPr>
          </a:p>
        </p:txBody>
      </p:sp>
      <p:sp>
        <p:nvSpPr>
          <p:cNvPr id="711" name="TextBox 12"/>
          <p:cNvSpPr/>
          <p:nvPr/>
        </p:nvSpPr>
        <p:spPr>
          <a:xfrm>
            <a:off x="768240" y="2048400"/>
            <a:ext cx="3162960" cy="26143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99"/>
              </a:spcAft>
            </a:pPr>
            <a:r>
              <a:rPr lang="en-US" sz="889" b="1" u="none" strike="noStrike">
                <a:solidFill>
                  <a:srgbClr val="DC2626"/>
                </a:solidFill>
                <a:effectLst/>
                <a:uFillTx/>
                <a:latin typeface="Arial"/>
              </a:rPr>
              <a:t>•  </a:t>
            </a:r>
            <a:r>
              <a:rPr lang="en-US" sz="889" b="0" u="none" strike="noStrike">
                <a:solidFill>
                  <a:srgbClr val="475569"/>
                </a:solidFill>
                <a:effectLst/>
                <a:uFillTx/>
                <a:latin typeface="Arial"/>
              </a:rPr>
              <a:t>Fix dashboard set_cell(family=...) call</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DC2626"/>
                </a:solidFill>
                <a:effectLst/>
                <a:uFillTx/>
                <a:latin typeface="Arial"/>
              </a:rPr>
              <a:t>•  </a:t>
            </a:r>
            <a:r>
              <a:rPr lang="en-US" sz="889" b="0" u="none" strike="noStrike">
                <a:solidFill>
                  <a:srgbClr val="475569"/>
                </a:solidFill>
                <a:effectLst/>
                <a:uFillTx/>
                <a:latin typeface="Arial"/>
              </a:rPr>
              <a:t>Fix ID-card preview QImage initialisation</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DC2626"/>
                </a:solidFill>
                <a:effectLst/>
                <a:uFillTx/>
                <a:latin typeface="Arial"/>
              </a:rPr>
              <a:t>•  </a:t>
            </a:r>
            <a:r>
              <a:rPr lang="en-US" sz="889" b="0" u="none" strike="noStrike">
                <a:solidFill>
                  <a:srgbClr val="475569"/>
                </a:solidFill>
                <a:effectLst/>
                <a:uFillTx/>
                <a:latin typeface="Arial"/>
              </a:rPr>
              <a:t>Make the rendered card barcode decode at 300 DPI</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DC2626"/>
                </a:solidFill>
                <a:effectLst/>
                <a:uFillTx/>
                <a:latin typeface="Arial"/>
              </a:rPr>
              <a:t>•  </a:t>
            </a:r>
            <a:r>
              <a:rPr lang="en-US" sz="889" b="0" u="none" strike="noStrike">
                <a:solidFill>
                  <a:srgbClr val="475569"/>
                </a:solidFill>
                <a:effectLst/>
                <a:uFillTx/>
                <a:latin typeface="Arial"/>
              </a:rPr>
              <a:t>Reconcile or quarantine the 22 post-scan tests</a:t>
            </a:r>
            <a:endParaRPr lang="en-PH" sz="889" b="0" u="none" strike="noStrike">
              <a:solidFill>
                <a:srgbClr val="000000"/>
              </a:solidFill>
              <a:effectLst/>
              <a:uFillTx/>
              <a:latin typeface="Arial"/>
            </a:endParaRPr>
          </a:p>
        </p:txBody>
      </p:sp>
      <p:sp>
        <p:nvSpPr>
          <p:cNvPr id="712" name="Rounded Rectangle 13"/>
          <p:cNvSpPr/>
          <p:nvPr/>
        </p:nvSpPr>
        <p:spPr>
          <a:xfrm>
            <a:off x="4316040" y="1499760"/>
            <a:ext cx="3565440" cy="3309480"/>
          </a:xfrm>
          <a:prstGeom prst="roundRect">
            <a:avLst>
              <a:gd name="adj" fmla="val 8000"/>
            </a:avLst>
          </a:prstGeom>
          <a:solidFill>
            <a:srgbClr val="F8FAFC"/>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3" name="Rectangle 14"/>
          <p:cNvSpPr/>
          <p:nvPr/>
        </p:nvSpPr>
        <p:spPr>
          <a:xfrm>
            <a:off x="4316040" y="1499760"/>
            <a:ext cx="3565440" cy="72360"/>
          </a:xfrm>
          <a:prstGeom prst="rect">
            <a:avLst/>
          </a:prstGeom>
          <a:solidFill>
            <a:srgbClr val="F973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714" name="TextBox 15"/>
          <p:cNvSpPr/>
          <p:nvPr/>
        </p:nvSpPr>
        <p:spPr>
          <a:xfrm>
            <a:off x="4517280" y="1700640"/>
            <a:ext cx="316296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1" u="none" strike="noStrike">
                <a:solidFill>
                  <a:srgbClr val="0F172A"/>
                </a:solidFill>
                <a:effectLst/>
                <a:uFillTx/>
                <a:latin typeface="Arial"/>
              </a:rPr>
              <a:t>NEXT · completeness</a:t>
            </a:r>
            <a:endParaRPr lang="en-PH" sz="1080" b="0" u="none" strike="noStrike">
              <a:solidFill>
                <a:srgbClr val="000000"/>
              </a:solidFill>
              <a:effectLst/>
              <a:uFillTx/>
              <a:latin typeface="Arial"/>
            </a:endParaRPr>
          </a:p>
        </p:txBody>
      </p:sp>
      <p:sp>
        <p:nvSpPr>
          <p:cNvPr id="715" name="TextBox 16"/>
          <p:cNvSpPr/>
          <p:nvPr/>
        </p:nvSpPr>
        <p:spPr>
          <a:xfrm>
            <a:off x="4517280" y="2048400"/>
            <a:ext cx="3162960" cy="26143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99"/>
              </a:spcAft>
            </a:pPr>
            <a:r>
              <a:rPr lang="en-US" sz="889" b="1" u="none" strike="noStrike">
                <a:solidFill>
                  <a:srgbClr val="F97316"/>
                </a:solidFill>
                <a:effectLst/>
                <a:uFillTx/>
                <a:latin typeface="Arial"/>
              </a:rPr>
              <a:t>•  </a:t>
            </a:r>
            <a:r>
              <a:rPr lang="en-US" sz="889" b="0" u="none" strike="noStrike">
                <a:solidFill>
                  <a:srgbClr val="475569"/>
                </a:solidFill>
                <a:effectLst/>
                <a:uFillTx/>
                <a:latin typeface="Arial"/>
              </a:rPr>
              <a:t>Route BarcodeGeneratorPage in the sidebar</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F97316"/>
                </a:solidFill>
                <a:effectLst/>
                <a:uFillTx/>
                <a:latin typeface="Arial"/>
              </a:rPr>
              <a:t>•  </a:t>
            </a:r>
            <a:r>
              <a:rPr lang="en-US" sz="889" b="0" u="none" strike="noStrike">
                <a:solidFill>
                  <a:srgbClr val="475569"/>
                </a:solidFill>
                <a:effectLst/>
                <a:uFillTx/>
                <a:latin typeface="Arial"/>
              </a:rPr>
              <a:t>Replace logout stub with authentication</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F97316"/>
                </a:solidFill>
                <a:effectLst/>
                <a:uFillTx/>
                <a:latin typeface="Arial"/>
              </a:rPr>
              <a:t>•  </a:t>
            </a:r>
            <a:r>
              <a:rPr lang="en-US" sz="889" b="0" u="none" strike="noStrike">
                <a:solidFill>
                  <a:srgbClr val="475569"/>
                </a:solidFill>
                <a:effectLst/>
                <a:uFillTx/>
                <a:latin typeface="Arial"/>
              </a:rPr>
              <a:t>Wire Training Center to the filesystem or populate dataset_images</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F97316"/>
                </a:solidFill>
                <a:effectLst/>
                <a:uFillTx/>
                <a:latin typeface="Arial"/>
              </a:rPr>
              <a:t>•  </a:t>
            </a:r>
            <a:r>
              <a:rPr lang="en-US" sz="889" b="0" u="none" strike="noStrike">
                <a:solidFill>
                  <a:srgbClr val="475569"/>
                </a:solidFill>
                <a:effectLst/>
                <a:uFillTx/>
                <a:latin typeface="Arial"/>
              </a:rPr>
              <a:t>Add a real held-out test split before claiming generalisation</a:t>
            </a:r>
            <a:endParaRPr lang="en-PH" sz="889" b="0" u="none" strike="noStrike">
              <a:solidFill>
                <a:srgbClr val="000000"/>
              </a:solidFill>
              <a:effectLst/>
              <a:uFillTx/>
              <a:latin typeface="Arial"/>
            </a:endParaRPr>
          </a:p>
        </p:txBody>
      </p:sp>
      <p:sp>
        <p:nvSpPr>
          <p:cNvPr id="716" name="Rounded Rectangle 17"/>
          <p:cNvSpPr/>
          <p:nvPr/>
        </p:nvSpPr>
        <p:spPr>
          <a:xfrm>
            <a:off x="8065080" y="1499760"/>
            <a:ext cx="3565440" cy="3309480"/>
          </a:xfrm>
          <a:prstGeom prst="roundRect">
            <a:avLst>
              <a:gd name="adj" fmla="val 8000"/>
            </a:avLst>
          </a:prstGeom>
          <a:solidFill>
            <a:srgbClr val="F8FAFC"/>
          </a:solidFill>
          <a:ln w="1016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7" name="Rectangle 18"/>
          <p:cNvSpPr/>
          <p:nvPr/>
        </p:nvSpPr>
        <p:spPr>
          <a:xfrm>
            <a:off x="8065080" y="1499760"/>
            <a:ext cx="3565440" cy="7236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718" name="TextBox 19"/>
          <p:cNvSpPr/>
          <p:nvPr/>
        </p:nvSpPr>
        <p:spPr>
          <a:xfrm>
            <a:off x="8266320" y="1700640"/>
            <a:ext cx="316296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80" b="1" u="none" strike="noStrike">
                <a:solidFill>
                  <a:srgbClr val="0F172A"/>
                </a:solidFill>
                <a:effectLst/>
                <a:uFillTx/>
                <a:latin typeface="Arial"/>
              </a:rPr>
              <a:t>LATER · operations</a:t>
            </a:r>
            <a:endParaRPr lang="en-PH" sz="1080" b="0" u="none" strike="noStrike">
              <a:solidFill>
                <a:srgbClr val="000000"/>
              </a:solidFill>
              <a:effectLst/>
              <a:uFillTx/>
              <a:latin typeface="Arial"/>
            </a:endParaRPr>
          </a:p>
        </p:txBody>
      </p:sp>
      <p:sp>
        <p:nvSpPr>
          <p:cNvPr id="719" name="TextBox 20"/>
          <p:cNvSpPr/>
          <p:nvPr/>
        </p:nvSpPr>
        <p:spPr>
          <a:xfrm>
            <a:off x="8266320" y="2048400"/>
            <a:ext cx="3162960" cy="2614320"/>
          </a:xfrm>
          <a:prstGeom prst="rect">
            <a:avLst/>
          </a:prstGeom>
          <a:noFill/>
          <a:ln w="0">
            <a:noFill/>
          </a:ln>
        </p:spPr>
        <p:style>
          <a:lnRef idx="0"/>
          <a:fillRef idx="0"/>
          <a:effectRef idx="0"/>
          <a:fontRef idx="minor"/>
        </p:style>
        <p:txBody>
          <a:bodyPr lIns="0" tIns="0" rIns="0" bIns="0" anchor="t">
            <a:spAutoFit/>
          </a:bodyPr>
          <a:p>
            <a:pPr defTabSz="457200">
              <a:lnSpc>
                <a:spcPct val="105000"/>
              </a:lnSpc>
              <a:spcAft>
                <a:spcPts val="499"/>
              </a:spcAft>
            </a:pPr>
            <a:r>
              <a:rPr lang="en-US" sz="889" b="1" u="none" strike="noStrike">
                <a:solidFill>
                  <a:srgbClr val="2563EB"/>
                </a:solidFill>
                <a:effectLst/>
                <a:uFillTx/>
                <a:latin typeface="Arial"/>
              </a:rPr>
              <a:t>•  </a:t>
            </a:r>
            <a:r>
              <a:rPr lang="en-US" sz="889" b="0" u="none" strike="noStrike">
                <a:solidFill>
                  <a:srgbClr val="475569"/>
                </a:solidFill>
                <a:effectLst/>
                <a:uFillTx/>
                <a:latin typeface="Arial"/>
              </a:rPr>
              <a:t>Role-based access and audit user rows</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2563EB"/>
                </a:solidFill>
                <a:effectLst/>
                <a:uFillTx/>
                <a:latin typeface="Arial"/>
              </a:rPr>
              <a:t>•  </a:t>
            </a:r>
            <a:r>
              <a:rPr lang="en-US" sz="889" b="0" u="none" strike="noStrike">
                <a:solidFill>
                  <a:srgbClr val="475569"/>
                </a:solidFill>
                <a:effectLst/>
                <a:uFillTx/>
                <a:latin typeface="Arial"/>
              </a:rPr>
              <a:t>Packaged installer + migrations</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2563EB"/>
                </a:solidFill>
                <a:effectLst/>
                <a:uFillTx/>
                <a:latin typeface="Arial"/>
              </a:rPr>
              <a:t>•  </a:t>
            </a:r>
            <a:r>
              <a:rPr lang="en-US" sz="889" b="0" u="none" strike="noStrike">
                <a:solidFill>
                  <a:srgbClr val="475569"/>
                </a:solidFill>
                <a:effectLst/>
                <a:uFillTx/>
                <a:latin typeface="Arial"/>
              </a:rPr>
              <a:t>Camera/lighting field trial across distances</a:t>
            </a:r>
            <a:endParaRPr lang="en-PH" sz="889" b="0" u="none" strike="noStrike">
              <a:solidFill>
                <a:srgbClr val="000000"/>
              </a:solidFill>
              <a:effectLst/>
              <a:uFillTx/>
              <a:latin typeface="Arial"/>
            </a:endParaRPr>
          </a:p>
          <a:p>
            <a:pPr defTabSz="457200">
              <a:lnSpc>
                <a:spcPct val="105000"/>
              </a:lnSpc>
              <a:spcAft>
                <a:spcPts val="499"/>
              </a:spcAft>
            </a:pPr>
            <a:r>
              <a:rPr lang="en-US" sz="889" b="1" u="none" strike="noStrike">
                <a:solidFill>
                  <a:srgbClr val="2563EB"/>
                </a:solidFill>
                <a:effectLst/>
                <a:uFillTx/>
                <a:latin typeface="Arial"/>
              </a:rPr>
              <a:t>•  </a:t>
            </a:r>
            <a:r>
              <a:rPr lang="en-US" sz="889" b="0" u="none" strike="noStrike">
                <a:solidFill>
                  <a:srgbClr val="475569"/>
                </a:solidFill>
                <a:effectLst/>
                <a:uFillTx/>
                <a:latin typeface="Arial"/>
              </a:rPr>
              <a:t>Backup, retention and privacy review</a:t>
            </a:r>
            <a:endParaRPr lang="en-PH" sz="889" b="0" u="none" strike="noStrike">
              <a:solidFill>
                <a:srgbClr val="000000"/>
              </a:solidFill>
              <a:effectLst/>
              <a:uFillTx/>
              <a:latin typeface="Arial"/>
            </a:endParaRPr>
          </a:p>
        </p:txBody>
      </p:sp>
      <p:sp>
        <p:nvSpPr>
          <p:cNvPr id="720" name="Rounded Rectangle 21"/>
          <p:cNvSpPr/>
          <p:nvPr/>
        </p:nvSpPr>
        <p:spPr>
          <a:xfrm>
            <a:off x="567000" y="5010840"/>
            <a:ext cx="11017800" cy="1096560"/>
          </a:xfrm>
          <a:prstGeom prst="roundRect">
            <a:avLst>
              <a:gd name="adj" fmla="val 8000"/>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1" name="TextBox 22"/>
          <p:cNvSpPr/>
          <p:nvPr/>
        </p:nvSpPr>
        <p:spPr>
          <a:xfrm>
            <a:off x="822960" y="5157360"/>
            <a:ext cx="10514880" cy="822240"/>
          </a:xfrm>
          <a:prstGeom prst="rect">
            <a:avLst/>
          </a:prstGeom>
          <a:noFill/>
          <a:ln w="0">
            <a:noFill/>
          </a:ln>
        </p:spPr>
        <p:style>
          <a:lnRef idx="0"/>
          <a:fillRef idx="0"/>
          <a:effectRef idx="0"/>
          <a:fontRef idx="minor"/>
        </p:style>
        <p:txBody>
          <a:bodyPr lIns="0" tIns="0" rIns="0" bIns="0" anchor="t">
            <a:spAutoFit/>
          </a:bodyPr>
          <a:p>
            <a:pPr defTabSz="457200">
              <a:lnSpc>
                <a:spcPct val="106000"/>
              </a:lnSpc>
            </a:pPr>
            <a:r>
              <a:rPr lang="en-US" sz="1260" b="1" u="none" strike="noStrike">
                <a:solidFill>
                  <a:srgbClr val="FFFFFF"/>
                </a:solidFill>
                <a:effectLst/>
                <a:uFillTx/>
                <a:latin typeface="Arial"/>
              </a:rPr>
              <a:t>The defensible claim: a local, inspectable student-information system that turns a physical card into a verified database identity and then into enrollment, fees and documents — with its failures written down.</a:t>
            </a:r>
            <a:endParaRPr lang="en-PH" sz="1260" b="0" u="none" strike="noStrike">
              <a:solidFill>
                <a:srgbClr val="000000"/>
              </a:solidFill>
              <a:effectLst/>
              <a:uFillTx/>
              <a:latin typeface="Arial"/>
            </a:endParaRPr>
          </a:p>
        </p:txBody>
      </p:sp>
      <p:sp>
        <p:nvSpPr>
          <p:cNvPr id="722" name="TextBox 23"/>
          <p:cNvSpPr/>
          <p:nvPr/>
        </p:nvSpPr>
        <p:spPr>
          <a:xfrm>
            <a:off x="567000" y="6254640"/>
            <a:ext cx="81374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780" b="0" i="1" u="none" strike="noStrike">
                <a:solidFill>
                  <a:srgbClr val="64748B"/>
                </a:solidFill>
                <a:effectLst/>
                <a:uFillTx/>
                <a:latin typeface="Arial"/>
              </a:rPr>
              <a:t>Source reports: WIT_Project_Analysis_Report.md · WIT_Dataset_Analysis_Report.md · WIT_Presentation_References.md</a:t>
            </a:r>
            <a:endParaRPr lang="en-PH" sz="7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TotalTime>
  <Application>LibreOffice/26.2.6.3$Linux_X86_64 LibreOffice_project/620$Build-3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en-PH</dc:language>
  <cp:lastModifiedBy/>
  <dcterms:modified xsi:type="dcterms:W3CDTF">2026-10-20T19:12:19Z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